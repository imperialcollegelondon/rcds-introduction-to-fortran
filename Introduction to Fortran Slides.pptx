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2"/>
  </p:notesMasterIdLst>
  <p:sldIdLst>
    <p:sldId id="324" r:id="rId2"/>
    <p:sldId id="334" r:id="rId3"/>
    <p:sldId id="361" r:id="rId4"/>
    <p:sldId id="362" r:id="rId5"/>
    <p:sldId id="363" r:id="rId6"/>
    <p:sldId id="364" r:id="rId7"/>
    <p:sldId id="365" r:id="rId8"/>
    <p:sldId id="366" r:id="rId9"/>
    <p:sldId id="367" r:id="rId10"/>
    <p:sldId id="368" r:id="rId11"/>
    <p:sldId id="369" r:id="rId12"/>
    <p:sldId id="370" r:id="rId13"/>
    <p:sldId id="371" r:id="rId14"/>
    <p:sldId id="372" r:id="rId15"/>
    <p:sldId id="373" r:id="rId16"/>
    <p:sldId id="374" r:id="rId17"/>
    <p:sldId id="375" r:id="rId18"/>
    <p:sldId id="376" r:id="rId19"/>
    <p:sldId id="377" r:id="rId20"/>
    <p:sldId id="378" r:id="rId21"/>
    <p:sldId id="379" r:id="rId22"/>
    <p:sldId id="405" r:id="rId23"/>
    <p:sldId id="380" r:id="rId24"/>
    <p:sldId id="381" r:id="rId25"/>
    <p:sldId id="382" r:id="rId26"/>
    <p:sldId id="383" r:id="rId27"/>
    <p:sldId id="384" r:id="rId28"/>
    <p:sldId id="385" r:id="rId29"/>
    <p:sldId id="386" r:id="rId30"/>
    <p:sldId id="387" r:id="rId31"/>
    <p:sldId id="388" r:id="rId32"/>
    <p:sldId id="389" r:id="rId33"/>
    <p:sldId id="390" r:id="rId34"/>
    <p:sldId id="391" r:id="rId35"/>
    <p:sldId id="392" r:id="rId36"/>
    <p:sldId id="393" r:id="rId37"/>
    <p:sldId id="394" r:id="rId38"/>
    <p:sldId id="395" r:id="rId39"/>
    <p:sldId id="396" r:id="rId40"/>
    <p:sldId id="397" r:id="rId41"/>
    <p:sldId id="398" r:id="rId42"/>
    <p:sldId id="399" r:id="rId43"/>
    <p:sldId id="400" r:id="rId44"/>
    <p:sldId id="401" r:id="rId45"/>
    <p:sldId id="402" r:id="rId46"/>
    <p:sldId id="403" r:id="rId47"/>
    <p:sldId id="404" r:id="rId48"/>
    <p:sldId id="407" r:id="rId49"/>
    <p:sldId id="359" r:id="rId50"/>
    <p:sldId id="279" r:id="rId51"/>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AB08F3-3D16-47BC-AE64-DE1B4A779B76}" v="7" dt="2026-10-09T09:14:59.514"/>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52" autoAdjust="0"/>
    <p:restoredTop sz="71436" autoAdjust="0"/>
  </p:normalViewPr>
  <p:slideViewPr>
    <p:cSldViewPr snapToGrid="0" showGuides="1">
      <p:cViewPr varScale="1">
        <p:scale>
          <a:sx n="53" d="100"/>
          <a:sy n="53" d="100"/>
        </p:scale>
        <p:origin x="1324" y="36"/>
      </p:cViewPr>
      <p:guideLst>
        <p:guide orient="horz" pos="2160"/>
        <p:guide pos="3840"/>
      </p:guideLst>
    </p:cSldViewPr>
  </p:slideViewPr>
  <p:outlineViewPr>
    <p:cViewPr>
      <p:scale>
        <a:sx n="33" d="100"/>
        <a:sy n="33" d="100"/>
      </p:scale>
      <p:origin x="0" y="-41396"/>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11" d="100"/>
          <a:sy n="111" d="100"/>
        </p:scale>
        <p:origin x="1312" y="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ling, Chris" userId="6dcf99c9-2ba5-410a-8445-0893a3d1421f" providerId="ADAL" clId="{0564427D-CD1D-4B33-9C97-2A8069F97102}"/>
    <pc:docChg chg="custSel modSld">
      <pc:chgData name="Cooling, Chris" userId="6dcf99c9-2ba5-410a-8445-0893a3d1421f" providerId="ADAL" clId="{0564427D-CD1D-4B33-9C97-2A8069F97102}" dt="2026-10-09T09:19:03.065" v="31" actId="20577"/>
      <pc:docMkLst>
        <pc:docMk/>
      </pc:docMkLst>
      <pc:sldChg chg="addSp delSp modSp mod">
        <pc:chgData name="Cooling, Chris" userId="6dcf99c9-2ba5-410a-8445-0893a3d1421f" providerId="ADAL" clId="{0564427D-CD1D-4B33-9C97-2A8069F97102}" dt="2026-10-09T09:19:03.065" v="31" actId="20577"/>
        <pc:sldMkLst>
          <pc:docMk/>
          <pc:sldMk cId="1507190070" sldId="359"/>
        </pc:sldMkLst>
        <pc:spChg chg="mod">
          <ac:chgData name="Cooling, Chris" userId="6dcf99c9-2ba5-410a-8445-0893a3d1421f" providerId="ADAL" clId="{0564427D-CD1D-4B33-9C97-2A8069F97102}" dt="2026-10-09T09:19:03.065" v="31" actId="20577"/>
          <ac:spMkLst>
            <pc:docMk/>
            <pc:sldMk cId="1507190070" sldId="359"/>
            <ac:spMk id="6" creationId="{F67B57BE-29B8-B7BA-15CB-930F83F6EB26}"/>
          </ac:spMkLst>
        </pc:spChg>
        <pc:picChg chg="add mod">
          <ac:chgData name="Cooling, Chris" userId="6dcf99c9-2ba5-410a-8445-0893a3d1421f" providerId="ADAL" clId="{0564427D-CD1D-4B33-9C97-2A8069F97102}" dt="2026-10-09T09:13:54.090" v="22" actId="1076"/>
          <ac:picMkLst>
            <pc:docMk/>
            <pc:sldMk cId="1507190070" sldId="359"/>
            <ac:picMk id="5" creationId="{2C2BBD9F-54B5-D899-83F0-132D22E62BED}"/>
          </ac:picMkLst>
        </pc:picChg>
        <pc:picChg chg="del">
          <ac:chgData name="Cooling, Chris" userId="6dcf99c9-2ba5-410a-8445-0893a3d1421f" providerId="ADAL" clId="{0564427D-CD1D-4B33-9C97-2A8069F97102}" dt="2026-10-09T09:13:45.006" v="17" actId="478"/>
          <ac:picMkLst>
            <pc:docMk/>
            <pc:sldMk cId="1507190070" sldId="359"/>
            <ac:picMk id="10" creationId="{AEABC408-700F-4CEB-9570-F86C4BB6F36F}"/>
          </ac:picMkLst>
        </pc:picChg>
        <pc:picChg chg="add del">
          <ac:chgData name="Cooling, Chris" userId="6dcf99c9-2ba5-410a-8445-0893a3d1421f" providerId="ADAL" clId="{0564427D-CD1D-4B33-9C97-2A8069F97102}" dt="2026-10-09T09:14:17.150" v="24" actId="478"/>
          <ac:picMkLst>
            <pc:docMk/>
            <pc:sldMk cId="1507190070" sldId="359"/>
            <ac:picMk id="11" creationId="{C6D08196-A89D-C773-7E8A-C884DA7FD35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onlinegdb.co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valgrind.org/"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1</a:t>
            </a:fld>
            <a:endParaRPr lang="en-US"/>
          </a:p>
        </p:txBody>
      </p:sp>
    </p:spTree>
    <p:extLst>
      <p:ext uri="{BB962C8B-B14F-4D97-AF65-F5344CB8AC3E}">
        <p14:creationId xmlns:p14="http://schemas.microsoft.com/office/powerpoint/2010/main" val="253437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a:t>
            </a:fld>
            <a:endParaRPr lang="en-US"/>
          </a:p>
        </p:txBody>
      </p:sp>
    </p:spTree>
    <p:extLst>
      <p:ext uri="{BB962C8B-B14F-4D97-AF65-F5344CB8AC3E}">
        <p14:creationId xmlns:p14="http://schemas.microsoft.com/office/powerpoint/2010/main" val="317630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its heart, coding is the act of writing instructions for a computer to perform. Normally, this done in order to achieve a particular goal. The resulting set </a:t>
            </a:r>
            <a:r>
              <a:rPr lang="en-GB" dirty="0" err="1"/>
              <a:t>fo</a:t>
            </a:r>
            <a:r>
              <a:rPr lang="en-GB" dirty="0"/>
              <a:t> instructions is called a program. Computers are very adept at carrying out large numbers of calculations very quickly and this makes the production and use of code very useful for the automation of laborious calculations. This might include simulation of a physical system, the analysis of data or the real-time control of complex systems.</a:t>
            </a:r>
          </a:p>
          <a:p>
            <a:endParaRPr lang="en-GB" dirty="0"/>
          </a:p>
          <a:p>
            <a:r>
              <a:rPr lang="en-GB" dirty="0"/>
              <a:t>As a program produced by a piece of code may be used over and over again, it can be designed to be reapplied to a number of related cases.</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a:t>
            </a:fld>
            <a:endParaRPr lang="en-US"/>
          </a:p>
        </p:txBody>
      </p:sp>
    </p:spTree>
    <p:extLst>
      <p:ext uri="{BB962C8B-B14F-4D97-AF65-F5344CB8AC3E}">
        <p14:creationId xmlns:p14="http://schemas.microsoft.com/office/powerpoint/2010/main" val="3978598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develop a code, the first step is to work out the algorithm you want to use to achieve your desired outcome. This means you need to work out what steps will be carried out and in what order. This is a tricky skill to master and only comes with practice.</a:t>
            </a:r>
          </a:p>
          <a:p>
            <a:endParaRPr lang="en-GB" dirty="0"/>
          </a:p>
          <a:p>
            <a:r>
              <a:rPr lang="en-GB" dirty="0"/>
              <a:t>The next step is to translate the algorithm into a set of instructions written in a human-readable source code file. This is the file you write when you code.</a:t>
            </a:r>
          </a:p>
          <a:p>
            <a:r>
              <a:rPr lang="en-GB" dirty="0"/>
              <a:t>The final step is to instruct the computer to carry out the instructions.</a:t>
            </a:r>
          </a:p>
          <a:p>
            <a:endParaRPr lang="en-GB" dirty="0"/>
          </a:p>
          <a:p>
            <a:r>
              <a:rPr lang="en-GB" dirty="0"/>
              <a:t>The exact manner of how you achieve each of these three steps is dependent on the computer language you ae using. Different languages have different features and properties and this can affect the tools available to carry out a task, or the efficiency of those tools. This can mean you might use a different algorithm in different coding languages. The source code you write will look very different dependent on the language you use as the syntax for achieve even identical simple commands might vary significantly. The process you go through to cause your computer to execute the code will also vary from language to language. Some languages (including Fortran) require passing through a special program called a “compiler” before they can be executed. More on this later.</a:t>
            </a:r>
          </a:p>
          <a:p>
            <a:endParaRPr lang="en-GB" dirty="0"/>
          </a:p>
          <a:p>
            <a:r>
              <a:rPr lang="en-GB" dirty="0"/>
              <a:t>Some languages have features which are particularly well-suited to some types of problem and this might affect the language you chose to use.</a:t>
            </a:r>
          </a:p>
          <a:p>
            <a:endParaRPr lang="en-GB" dirty="0"/>
          </a:p>
          <a:p>
            <a:r>
              <a:rPr lang="en-GB" dirty="0"/>
              <a:t>One piece of good news is that once you’ve learned how to do the first step efficiently in any language, the process of learning how to do the second and third steps in a new language gets significantly easier.</a:t>
            </a:r>
          </a:p>
        </p:txBody>
      </p:sp>
      <p:sp>
        <p:nvSpPr>
          <p:cNvPr id="4" name="Slide Number Placeholder 3"/>
          <p:cNvSpPr>
            <a:spLocks noGrp="1"/>
          </p:cNvSpPr>
          <p:nvPr>
            <p:ph type="sldNum" sz="quarter" idx="5"/>
          </p:nvPr>
        </p:nvSpPr>
        <p:spPr/>
        <p:txBody>
          <a:bodyPr/>
          <a:lstStyle/>
          <a:p>
            <a:fld id="{877663E2-27CE-4C79-91D3-7F5C4262D57F}" type="slidenum">
              <a:rPr lang="en-US" smtClean="0"/>
              <a:t>5</a:t>
            </a:fld>
            <a:endParaRPr lang="en-US"/>
          </a:p>
        </p:txBody>
      </p:sp>
    </p:spTree>
    <p:extLst>
      <p:ext uri="{BB962C8B-B14F-4D97-AF65-F5344CB8AC3E}">
        <p14:creationId xmlns:p14="http://schemas.microsoft.com/office/powerpoint/2010/main" val="107485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you look up Fortran on Wikipedia you will see it is described as “general-purpose compiled programming language”. To break this down, “general-purpose” relates to the fact that Fortran is not specialised to any specific application (in contrast to languages such as R, which is specialised for statistics) and, instead, provides basic building blocks that could be sued for any application. The word “compiled” relates to the fact that Fortran source code is usually read by a program called a “compiler” which interprets it and creates an executable. An executable is a program (often with a .exe extension) which is written in machine-code, which is a low-level and efficient language. You will not normally interact with the code on this level. Finally, “programming language” means it’s an agreed-upon and defined mapping between a string of characters in a source file to a set of actions carried out by the computer.</a:t>
            </a:r>
          </a:p>
          <a:p>
            <a:endParaRPr lang="en-GB" dirty="0"/>
          </a:p>
          <a:p>
            <a:r>
              <a:rPr lang="en-GB" dirty="0"/>
              <a:t>For Fortran, this agreed-upon and defined mapping is defined in a series of Fortran Standards. These standard behaviours are defined by an Standard Committee. Many compilers will describe themselves as being compliant with a particular Fortran Standard, meaning that they contain all the functionality of that standard and should produce the same results as any other compiler compliant with that Fortran Standard.</a:t>
            </a:r>
          </a:p>
          <a:p>
            <a:endParaRPr lang="en-GB" dirty="0"/>
          </a:p>
          <a:p>
            <a:r>
              <a:rPr lang="en-GB" dirty="0"/>
              <a:t>Fortran dates back to development by IBM in the 1950s for scientific and engineering applications. It has been updated many times since then with the release of new Fortran Standards, which has increased its functionality and kept its features similar to that of other younger languages. It’s common to make fun of Fortran for its age, but these constant updates means the language is not as out of date as many of its detractors may think.</a:t>
            </a:r>
          </a:p>
          <a:p>
            <a:endParaRPr lang="en-GB" dirty="0"/>
          </a:p>
          <a:p>
            <a:r>
              <a:rPr lang="en-GB" dirty="0"/>
              <a:t>Fortran is a lower level language than many other modern languages, meaning you have to be more specific in what the compute. This is helpful in the sense that you can tell the compiler more specifically what the code will be doing and so it can optimise it more aggressively and produce a more efficient code. It can also make the code easier to read as the source code is more specific. However, it also means you often have to enter more lines of codes to get the same effect.</a:t>
            </a:r>
          </a:p>
          <a:p>
            <a:endParaRPr lang="en-GB" dirty="0"/>
          </a:p>
          <a:p>
            <a:r>
              <a:rPr lang="en-GB" dirty="0"/>
              <a:t>Fortran is a very efficient code in terms of how fast a given piece of code will be executed on a computer. This is partially due to the fact it is a slightly lower level code than its compatriots and partially because it’s compiled before use. This means it’s very well suited to areas which involve large numbers of calculation such as weather prediction.</a:t>
            </a:r>
          </a:p>
          <a:p>
            <a:endParaRPr lang="en-GB" dirty="0"/>
          </a:p>
          <a:p>
            <a:r>
              <a:rPr lang="en-GB" dirty="0"/>
              <a:t>Many higher-level codes such as Python contain functionality which actually calls lower-level codes such as Fortran or C routines, which helps these codes close the gap somewhat it terms of performance but, even so, it is difficult to approach the raw speed of pure Fortran.</a:t>
            </a:r>
          </a:p>
          <a:p>
            <a:endParaRPr lang="en-GB" dirty="0"/>
          </a:p>
          <a:p>
            <a:r>
              <a:rPr lang="en-GB" dirty="0"/>
              <a:t>If you’re producing a computationally intensive code, Fortran is likely to be a viable choice of programming language. If you’re producing a code where performance is less important, you may be better off choosing a higher-level language which is a little more user-friendly, eve if that’s at the expense of some speed.</a:t>
            </a:r>
          </a:p>
          <a:p>
            <a:endParaRPr lang="en-GB" dirty="0"/>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6</a:t>
            </a:fld>
            <a:endParaRPr lang="en-US"/>
          </a:p>
        </p:txBody>
      </p:sp>
    </p:spTree>
    <p:extLst>
      <p:ext uri="{BB962C8B-B14F-4D97-AF65-F5344CB8AC3E}">
        <p14:creationId xmlns:p14="http://schemas.microsoft.com/office/powerpoint/2010/main" val="2272868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role of the compiler is to take your human-</a:t>
            </a:r>
            <a:r>
              <a:rPr lang="en-GB" dirty="0" err="1"/>
              <a:t>readbale</a:t>
            </a:r>
            <a:r>
              <a:rPr lang="en-GB" dirty="0"/>
              <a:t> source code, which will normally be written in “.f90” or “.F90” files and convert it into a set of machine code instructions stored in an executable, which normally has an “.exe” extension. This is the version of the code which is actually run. Sometimes, a “.o” file is create, which is an intermediate step to a “.exe” file.</a:t>
            </a:r>
            <a:br>
              <a:rPr lang="en-GB" dirty="0"/>
            </a:br>
            <a:br>
              <a:rPr lang="en-GB" dirty="0"/>
            </a:br>
            <a:r>
              <a:rPr lang="en-GB" dirty="0"/>
              <a:t>For context, it’s worth knowing that there exists a level of instructions which sits between source code and machine code – assembly language instructions, which are largely language agnostic and relate to individual actions performed by the computer. Assembly language is what most code was written in before the advent of Fortran. It’s more readable than machine code, but you still won’t have to deal with it in normal use. Some compilers might perform an intermediate compilation to assembly language before making the final compilation to machine code. This is so related compilers can take source code from a number of languages and interpret it into assembly instructions, and then use the same procedure to convert from assembly language to machine code.</a:t>
            </a:r>
          </a:p>
        </p:txBody>
      </p:sp>
      <p:sp>
        <p:nvSpPr>
          <p:cNvPr id="4" name="Slide Number Placeholder 3"/>
          <p:cNvSpPr>
            <a:spLocks noGrp="1"/>
          </p:cNvSpPr>
          <p:nvPr>
            <p:ph type="sldNum" sz="quarter" idx="5"/>
          </p:nvPr>
        </p:nvSpPr>
        <p:spPr/>
        <p:txBody>
          <a:bodyPr/>
          <a:lstStyle/>
          <a:p>
            <a:fld id="{877663E2-27CE-4C79-91D3-7F5C4262D57F}" type="slidenum">
              <a:rPr lang="en-US" smtClean="0"/>
              <a:t>7</a:t>
            </a:fld>
            <a:endParaRPr lang="en-US"/>
          </a:p>
        </p:txBody>
      </p:sp>
    </p:spTree>
    <p:extLst>
      <p:ext uri="{BB962C8B-B14F-4D97-AF65-F5344CB8AC3E}">
        <p14:creationId xmlns:p14="http://schemas.microsoft.com/office/powerpoint/2010/main" val="402331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you run a compiler on your source code, one of the first things it will do is check the code for syntax errors, such as opening a set of parentheses, but not closing them. If your code is not syntactically valid, the compilation will halt and you’ll receive one or more error messages. For this reason alone, it is worth compiling your code often while developing it, even if you have no intention to run it – it’s much easier to be faced with one or two syntax error at a time than dozens.</a:t>
            </a:r>
            <a:br>
              <a:rPr lang="en-GB" dirty="0"/>
            </a:br>
            <a:br>
              <a:rPr lang="en-GB" dirty="0"/>
            </a:br>
            <a:r>
              <a:rPr lang="en-GB" dirty="0"/>
              <a:t>Another important thing the compiler does is to optimise your code. For many compilers, it’s possible to determine the level of optimisation a compiler will perform. However aggressive the optimisation of the compiler, it should always produce identical answers. An example of optimisation could be that it may be more efficient to add a number to itself than to multiply it by 2, as a addition is a less costly operation than multiplication in terms of computing time. So a compiler may replace a “2*a” with “</a:t>
            </a:r>
            <a:r>
              <a:rPr lang="en-GB" dirty="0" err="1"/>
              <a:t>a+a</a:t>
            </a:r>
            <a:r>
              <a:rPr lang="en-GB" dirty="0"/>
              <a:t>”. This is largely done out of your sight and you don’t need to worry about it at all until you start writing code you want to optimise. Some optimisations might be specific to the hardware the computer is compiled on, taking advantage of specific properties of chips in your machine, but most is hardware agnostic.</a:t>
            </a:r>
          </a:p>
          <a:p>
            <a:endParaRPr lang="en-GB" dirty="0"/>
          </a:p>
          <a:p>
            <a:r>
              <a:rPr lang="en-GB" dirty="0"/>
              <a:t>The most important thing a compiler does is create machine code in the form of an object file or executable file, as discussed in the previous slide.</a:t>
            </a:r>
          </a:p>
          <a:p>
            <a:endParaRPr lang="en-GB" dirty="0"/>
          </a:p>
          <a:p>
            <a:r>
              <a:rPr lang="en-GB" dirty="0"/>
              <a:t>A compiler does not reveal anything about run-time errors. For instance, if you set a=0 and then calculate 1/a, the compiler will not be able to tell you that something an error will be raised at this point. This is because the compiler has no way of knowing what values different variables will have when the code is run, as this may change as you run the code with different inputs. This also means that, in general, the compiler will not execute your code or perform any calculations itself. You will need to execute the resultant executable to get your results.</a:t>
            </a:r>
          </a:p>
        </p:txBody>
      </p:sp>
      <p:sp>
        <p:nvSpPr>
          <p:cNvPr id="4" name="Slide Number Placeholder 3"/>
          <p:cNvSpPr>
            <a:spLocks noGrp="1"/>
          </p:cNvSpPr>
          <p:nvPr>
            <p:ph type="sldNum" sz="quarter" idx="5"/>
          </p:nvPr>
        </p:nvSpPr>
        <p:spPr/>
        <p:txBody>
          <a:bodyPr/>
          <a:lstStyle/>
          <a:p>
            <a:fld id="{877663E2-27CE-4C79-91D3-7F5C4262D57F}" type="slidenum">
              <a:rPr lang="en-US" smtClean="0"/>
              <a:t>8</a:t>
            </a:fld>
            <a:endParaRPr lang="en-US"/>
          </a:p>
        </p:txBody>
      </p:sp>
    </p:spTree>
    <p:extLst>
      <p:ext uri="{BB962C8B-B14F-4D97-AF65-F5344CB8AC3E}">
        <p14:creationId xmlns:p14="http://schemas.microsoft.com/office/powerpoint/2010/main" val="1003527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most common compiler you might come across is the </a:t>
            </a:r>
            <a:r>
              <a:rPr lang="en-GB" dirty="0" err="1"/>
              <a:t>gfortran</a:t>
            </a:r>
            <a:r>
              <a:rPr lang="en-GB" dirty="0"/>
              <a:t> compiler, which is part of the GNU project. It’s fairly complete, free and available on many operation systems. This is probably the easiest place to begin.</a:t>
            </a:r>
          </a:p>
          <a:p>
            <a:endParaRPr lang="en-GB" dirty="0"/>
          </a:p>
          <a:p>
            <a:r>
              <a:rPr lang="en-GB" dirty="0"/>
              <a:t>You may also encounter the PGI and </a:t>
            </a:r>
            <a:r>
              <a:rPr lang="en-GB" dirty="0" err="1"/>
              <a:t>Absoft</a:t>
            </a:r>
            <a:r>
              <a:rPr lang="en-GB" dirty="0"/>
              <a:t> compilers. The PGI compiler has a free community version and a paid-for version.</a:t>
            </a:r>
          </a:p>
          <a:p>
            <a:endParaRPr lang="en-GB" dirty="0"/>
          </a:p>
          <a:p>
            <a:r>
              <a:rPr lang="en-GB" dirty="0"/>
              <a:t>Intel’s </a:t>
            </a:r>
            <a:r>
              <a:rPr lang="en-GB" dirty="0" err="1"/>
              <a:t>ifort</a:t>
            </a:r>
            <a:r>
              <a:rPr lang="en-GB" dirty="0"/>
              <a:t> compiler is a paid for compiler that is perhaps the most professional and well-supported compiler. It has a number of features that can be used to speed up code.</a:t>
            </a:r>
          </a:p>
          <a:p>
            <a:endParaRPr lang="en-GB" dirty="0"/>
          </a:p>
          <a:p>
            <a:r>
              <a:rPr lang="en-GB" dirty="0"/>
              <a:t>MinGW is a port of the GNU compiler collection designed to produce windows applications,</a:t>
            </a:r>
          </a:p>
          <a:p>
            <a:endParaRPr lang="en-GB" dirty="0"/>
          </a:p>
          <a:p>
            <a:r>
              <a:rPr lang="en-GB" dirty="0"/>
              <a:t>It’s my experience that getting a compiler working on Windows is more difficult than getting it working on Linux or Apple machines, but it is possible. As installation instructions vary with OS and compiler, it’s not a goal of this course to get a Fortran compiler installed on your system. If you have a compiler installed, you are most welcome to use it. If not, you may use an online development environment: </a:t>
            </a:r>
            <a:r>
              <a:rPr lang="en-GB" dirty="0">
                <a:hlinkClick r:id="rId3"/>
              </a:rPr>
              <a:t>https://www.onlinegdb.com/</a:t>
            </a:r>
            <a:r>
              <a:rPr lang="en-GB" dirty="0"/>
              <a:t> Select “Fortran” in the language drop-down menu on the top-right.</a:t>
            </a:r>
          </a:p>
        </p:txBody>
      </p:sp>
      <p:sp>
        <p:nvSpPr>
          <p:cNvPr id="4" name="Slide Number Placeholder 3"/>
          <p:cNvSpPr>
            <a:spLocks noGrp="1"/>
          </p:cNvSpPr>
          <p:nvPr>
            <p:ph type="sldNum" sz="quarter" idx="5"/>
          </p:nvPr>
        </p:nvSpPr>
        <p:spPr/>
        <p:txBody>
          <a:bodyPr/>
          <a:lstStyle/>
          <a:p>
            <a:fld id="{877663E2-27CE-4C79-91D3-7F5C4262D57F}" type="slidenum">
              <a:rPr lang="en-US" smtClean="0"/>
              <a:t>9</a:t>
            </a:fld>
            <a:endParaRPr lang="en-US"/>
          </a:p>
        </p:txBody>
      </p:sp>
    </p:spTree>
    <p:extLst>
      <p:ext uri="{BB962C8B-B14F-4D97-AF65-F5344CB8AC3E}">
        <p14:creationId xmlns:p14="http://schemas.microsoft.com/office/powerpoint/2010/main" val="740473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you want to compile a single file in Fortran, this may be achieved by opening a terminal in the directory of the source file you want to compile and entering the command above. Here, “</a:t>
            </a:r>
            <a:r>
              <a:rPr lang="en-GB" dirty="0" err="1"/>
              <a:t>gfortran</a:t>
            </a:r>
            <a:r>
              <a:rPr lang="en-GB" dirty="0"/>
              <a:t>” invokes the </a:t>
            </a:r>
            <a:r>
              <a:rPr lang="en-GB" dirty="0" err="1"/>
              <a:t>gfortran</a:t>
            </a:r>
            <a:r>
              <a:rPr lang="en-GB" dirty="0"/>
              <a:t> program, -o tells it to compile to an executable, the “</a:t>
            </a:r>
            <a:r>
              <a:rPr lang="en-GB" dirty="0" err="1"/>
              <a:t>executable_name</a:t>
            </a:r>
            <a:r>
              <a:rPr lang="en-GB" dirty="0"/>
              <a:t>” is the name you have chosen for your executable and finally you specify your source file. This will create an executable named “</a:t>
            </a:r>
            <a:r>
              <a:rPr lang="en-GB" dirty="0" err="1"/>
              <a:t>executable_name</a:t>
            </a:r>
            <a:r>
              <a:rPr lang="en-GB" dirty="0"/>
              <a:t>” which you may then run.</a:t>
            </a:r>
          </a:p>
          <a:p>
            <a:endParaRPr lang="en-GB" dirty="0"/>
          </a:p>
          <a:p>
            <a:r>
              <a:rPr lang="en-GB" dirty="0"/>
              <a:t>It’s possible to automate the compilation of large numbers of source files using a </a:t>
            </a:r>
            <a:r>
              <a:rPr lang="en-GB" dirty="0" err="1"/>
              <a:t>makefile</a:t>
            </a:r>
            <a:r>
              <a:rPr lang="en-GB" dirty="0"/>
              <a:t>, but that’s beyond the scope of this course.</a:t>
            </a:r>
            <a:br>
              <a:rPr lang="en-GB" dirty="0"/>
            </a:br>
            <a:br>
              <a:rPr lang="en-GB" dirty="0"/>
            </a:br>
            <a:r>
              <a:rPr lang="en-GB" dirty="0"/>
              <a:t>Break for Section 1 of Task Sheet</a:t>
            </a:r>
          </a:p>
        </p:txBody>
      </p:sp>
      <p:sp>
        <p:nvSpPr>
          <p:cNvPr id="4" name="Slide Number Placeholder 3"/>
          <p:cNvSpPr>
            <a:spLocks noGrp="1"/>
          </p:cNvSpPr>
          <p:nvPr>
            <p:ph type="sldNum" sz="quarter" idx="5"/>
          </p:nvPr>
        </p:nvSpPr>
        <p:spPr/>
        <p:txBody>
          <a:bodyPr/>
          <a:lstStyle/>
          <a:p>
            <a:fld id="{877663E2-27CE-4C79-91D3-7F5C4262D57F}" type="slidenum">
              <a:rPr lang="en-US" smtClean="0"/>
              <a:t>10</a:t>
            </a:fld>
            <a:endParaRPr lang="en-US"/>
          </a:p>
        </p:txBody>
      </p:sp>
    </p:spTree>
    <p:extLst>
      <p:ext uri="{BB962C8B-B14F-4D97-AF65-F5344CB8AC3E}">
        <p14:creationId xmlns:p14="http://schemas.microsoft.com/office/powerpoint/2010/main" val="4184230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compilers allow the usage of flags, which change the behaviour of the compiler. Each compiler will have its own selection of flags, so flags that work for one compiler will probably not work for another. You can include many flags in a single command to the compiler and their order is usually unimportant. Flags can ask the compiler to give extra warnings (such as for unused variables or code which is syntactically correct but may cause a runtime error), activates external libraries, or instructs the compiler to be more or less aggressive when optimising code.</a:t>
            </a:r>
          </a:p>
          <a:p>
            <a:endParaRPr lang="en-GB" dirty="0"/>
          </a:p>
          <a:p>
            <a:r>
              <a:rPr lang="en-GB" dirty="0"/>
              <a:t>The diagram in the slide shows a sample command to the </a:t>
            </a:r>
            <a:r>
              <a:rPr lang="en-GB" dirty="0" err="1"/>
              <a:t>gfortran</a:t>
            </a:r>
            <a:r>
              <a:rPr lang="en-GB" dirty="0"/>
              <a:t> compiler with a few flags.</a:t>
            </a:r>
          </a:p>
        </p:txBody>
      </p:sp>
      <p:sp>
        <p:nvSpPr>
          <p:cNvPr id="4" name="Slide Number Placeholder 3"/>
          <p:cNvSpPr>
            <a:spLocks noGrp="1"/>
          </p:cNvSpPr>
          <p:nvPr>
            <p:ph type="sldNum" sz="quarter" idx="5"/>
          </p:nvPr>
        </p:nvSpPr>
        <p:spPr/>
        <p:txBody>
          <a:bodyPr/>
          <a:lstStyle/>
          <a:p>
            <a:fld id="{877663E2-27CE-4C79-91D3-7F5C4262D57F}" type="slidenum">
              <a:rPr lang="en-US" smtClean="0"/>
              <a:t>11</a:t>
            </a:fld>
            <a:endParaRPr lang="en-US"/>
          </a:p>
        </p:txBody>
      </p:sp>
    </p:spTree>
    <p:extLst>
      <p:ext uri="{BB962C8B-B14F-4D97-AF65-F5344CB8AC3E}">
        <p14:creationId xmlns:p14="http://schemas.microsoft.com/office/powerpoint/2010/main" val="2904683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minimum required for a Fortran program are the statements “program” and “end program” statements. The “program” statement must be followed a name for your program. The “end program” statement may be followed by the same program name but doesn’t strictly need to be.</a:t>
            </a:r>
          </a:p>
          <a:p>
            <a:endParaRPr lang="en-GB" dirty="0"/>
          </a:p>
          <a:p>
            <a:r>
              <a:rPr lang="en-GB" dirty="0"/>
              <a:t>An empty program isn’t much fun, however. We would run it another nothing would happen. So, we’ve also included a simple “print” statement. This is done using the syntax “print*, “ and is followed by whatever you want to print. Here we’ve enclosed the phrase “Hello world” in quotation marks. This means the print statement will print the phrase “Hello world” to the standard output. This is to the terminal using to run the executable by default.</a:t>
            </a:r>
            <a:br>
              <a:rPr lang="en-GB" dirty="0"/>
            </a:br>
            <a:br>
              <a:rPr lang="en-GB" dirty="0"/>
            </a:br>
            <a:r>
              <a:rPr lang="en-GB" dirty="0"/>
              <a:t>There’s couple of things to note here, particularly if you’re coming from another computing language. Firstly, Fortran syntax is case insensitive. Here, “program” and “end program” are written in lower case, but they may be written in upper case in some style conventions. As Fortran is entirely case-insensitive, you can use upper or lower case, and both will have the same effect.</a:t>
            </a:r>
          </a:p>
          <a:p>
            <a:endParaRPr lang="en-GB" dirty="0"/>
          </a:p>
          <a:p>
            <a:r>
              <a:rPr lang="en-GB" dirty="0"/>
              <a:t>Secondly, Fortran entirely ignores indentation. An entirely un-indented program. However, indentation can still be very useful to show visually which code is within different constructs. Here, we’ve indented the body of our program to show it falls between the “program” and “end program” statements.</a:t>
            </a:r>
          </a:p>
          <a:p>
            <a:endParaRPr lang="en-GB" dirty="0"/>
          </a:p>
          <a:p>
            <a:r>
              <a:rPr lang="en-GB" dirty="0"/>
              <a:t>Thirdly, any characters on a line after an exclamation mark will be ignored by the compiler. These are comments. Comments are very useful for annotating your code. They allow you to describe what your code is doing, which is very useful if you ever pass your code to someone else or come back to your code after not working on it for a while and may help you unpick logical problems with your code by making the function of it more obvious.</a:t>
            </a:r>
          </a:p>
        </p:txBody>
      </p:sp>
      <p:sp>
        <p:nvSpPr>
          <p:cNvPr id="4" name="Slide Number Placeholder 3"/>
          <p:cNvSpPr>
            <a:spLocks noGrp="1"/>
          </p:cNvSpPr>
          <p:nvPr>
            <p:ph type="sldNum" sz="quarter" idx="5"/>
          </p:nvPr>
        </p:nvSpPr>
        <p:spPr/>
        <p:txBody>
          <a:bodyPr/>
          <a:lstStyle/>
          <a:p>
            <a:fld id="{877663E2-27CE-4C79-91D3-7F5C4262D57F}" type="slidenum">
              <a:rPr lang="en-US" smtClean="0"/>
              <a:t>12</a:t>
            </a:fld>
            <a:endParaRPr lang="en-US"/>
          </a:p>
        </p:txBody>
      </p:sp>
    </p:spTree>
    <p:extLst>
      <p:ext uri="{BB962C8B-B14F-4D97-AF65-F5344CB8AC3E}">
        <p14:creationId xmlns:p14="http://schemas.microsoft.com/office/powerpoint/2010/main" val="3712072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Variables are key in any programming languages. They allowed calculated values to be stored and re-used in future calculations. A variable has a “variable name” which allows it to be referenced or assigned.</a:t>
            </a:r>
            <a:br>
              <a:rPr lang="en-GB" dirty="0"/>
            </a:br>
            <a:br>
              <a:rPr lang="en-GB" dirty="0"/>
            </a:br>
            <a:r>
              <a:rPr lang="en-GB" dirty="0"/>
              <a:t>Fortran is unlike some popular languages such as Python in the sense that variables must be declared before they are used. This means you must tell Fortran what variables will exist within a routine and what type they have. Trying to put values of a different type into a variable will often result in an error.</a:t>
            </a:r>
          </a:p>
        </p:txBody>
      </p:sp>
      <p:sp>
        <p:nvSpPr>
          <p:cNvPr id="4" name="Slide Number Placeholder 3"/>
          <p:cNvSpPr>
            <a:spLocks noGrp="1"/>
          </p:cNvSpPr>
          <p:nvPr>
            <p:ph type="sldNum" sz="quarter" idx="5"/>
          </p:nvPr>
        </p:nvSpPr>
        <p:spPr/>
        <p:txBody>
          <a:bodyPr/>
          <a:lstStyle/>
          <a:p>
            <a:fld id="{877663E2-27CE-4C79-91D3-7F5C4262D57F}" type="slidenum">
              <a:rPr lang="en-US" smtClean="0"/>
              <a:t>13</a:t>
            </a:fld>
            <a:endParaRPr lang="en-US"/>
          </a:p>
        </p:txBody>
      </p:sp>
    </p:spTree>
    <p:extLst>
      <p:ext uri="{BB962C8B-B14F-4D97-AF65-F5344CB8AC3E}">
        <p14:creationId xmlns:p14="http://schemas.microsoft.com/office/powerpoint/2010/main" val="1246382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Variables must be declared before the main body of the program. When a variable is declared, it means it is recorded that variable exists and, for simple variables such as the ones above, it will be allocated a location in the memory to contain its value. To declare a variable, the type of the variable being declared is written, followed by double colons. The spacing used above isn’t mandatory, although it does improve readability. The double colons are followed by the name of variables of that type that you wish to declare. You can declare multiple values on a line, separating them with commas, or only a single variable. You can use many declaration statements including repetitions of the same type.</a:t>
            </a:r>
          </a:p>
          <a:p>
            <a:endParaRPr lang="en-GB" dirty="0"/>
          </a:p>
          <a:p>
            <a:r>
              <a:rPr lang="en-GB" dirty="0"/>
              <a:t>Here, we’ve defined variables of three types. Integers are values which are whole numbers. Floats are numbers with a decimal point and numbers after the decimal point, such as 2.2. Characters are lists of characters (similar to strings in other languages). When specifying a character, you must also specify the number of characters in the variable.</a:t>
            </a:r>
            <a:br>
              <a:rPr lang="en-GB" dirty="0"/>
            </a:br>
            <a:br>
              <a:rPr lang="en-GB" dirty="0"/>
            </a:br>
            <a:r>
              <a:rPr lang="en-GB" dirty="0"/>
              <a:t>Once variables have been declared, they may be assigned to. We’ll talk more about this later, but it essentially means given a value. Between the declaration of a variable and it being assigned to for the first time, the value of the variable is unspecified. Some compilers may set the initial value to zero when it is declared. Other compilers may allocate the variable some memory, but not examine or change the value stored in the memory. This can essentially lead to variables containing random information when they’re first declared. In short – you can’t assume anything about the value of a variable before it’s been assigned to.</a:t>
            </a:r>
          </a:p>
          <a:p>
            <a:endParaRPr lang="en-GB" dirty="0"/>
          </a:p>
          <a:p>
            <a:r>
              <a:rPr lang="en-GB" dirty="0"/>
              <a:t>Check Variables/single_variables.f90 for an example.</a:t>
            </a:r>
          </a:p>
        </p:txBody>
      </p:sp>
      <p:sp>
        <p:nvSpPr>
          <p:cNvPr id="4" name="Slide Number Placeholder 3"/>
          <p:cNvSpPr>
            <a:spLocks noGrp="1"/>
          </p:cNvSpPr>
          <p:nvPr>
            <p:ph type="sldNum" sz="quarter" idx="5"/>
          </p:nvPr>
        </p:nvSpPr>
        <p:spPr/>
        <p:txBody>
          <a:bodyPr/>
          <a:lstStyle/>
          <a:p>
            <a:fld id="{877663E2-27CE-4C79-91D3-7F5C4262D57F}" type="slidenum">
              <a:rPr lang="en-US" smtClean="0"/>
              <a:t>14</a:t>
            </a:fld>
            <a:endParaRPr lang="en-US"/>
          </a:p>
        </p:txBody>
      </p:sp>
    </p:spTree>
    <p:extLst>
      <p:ext uri="{BB962C8B-B14F-4D97-AF65-F5344CB8AC3E}">
        <p14:creationId xmlns:p14="http://schemas.microsoft.com/office/powerpoint/2010/main" val="2538565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Variable names in Fortran have certain requirements. These mainly exist so the compiler can recognise them as variable names in the script and to avoid them getting confused with operators and other constructs. The limit of variable name length is a hangover from the days when memory was expensive and had to be saved whenever possible.</a:t>
            </a:r>
          </a:p>
          <a:p>
            <a:endParaRPr lang="en-GB" dirty="0"/>
          </a:p>
          <a:p>
            <a:r>
              <a:rPr lang="en-GB" dirty="0"/>
              <a:t>Fortran also has some other weird behaviours when it comes to variable names. By default, a variable can be used without it being declared. If it begins with an </a:t>
            </a:r>
            <a:r>
              <a:rPr lang="en-GB" dirty="0" err="1"/>
              <a:t>i</a:t>
            </a:r>
            <a:r>
              <a:rPr lang="en-GB" dirty="0"/>
              <a:t>, j, k, l, m or n it would implicitly be given the type of integer and if it begins with other characters it will be a real. This is overridden by any explicit declarations. This feature exists to reduce the number of lines of code that were needed back when code was expensive and laborious to write. However, it’s now a feature whose downsides outweigh its upsides. It means that, if you mis-type a variable name your code may still run but with values assigned to a variable you’ve created accidentally. Fortunately, this feature can easily be turned off by typing ”implicit none” at the top of your routine. This means only explicitly declared variables will exist.</a:t>
            </a:r>
          </a:p>
        </p:txBody>
      </p:sp>
      <p:sp>
        <p:nvSpPr>
          <p:cNvPr id="4" name="Slide Number Placeholder 3"/>
          <p:cNvSpPr>
            <a:spLocks noGrp="1"/>
          </p:cNvSpPr>
          <p:nvPr>
            <p:ph type="sldNum" sz="quarter" idx="5"/>
          </p:nvPr>
        </p:nvSpPr>
        <p:spPr/>
        <p:txBody>
          <a:bodyPr/>
          <a:lstStyle/>
          <a:p>
            <a:fld id="{877663E2-27CE-4C79-91D3-7F5C4262D57F}" type="slidenum">
              <a:rPr lang="en-US" smtClean="0"/>
              <a:t>15</a:t>
            </a:fld>
            <a:endParaRPr lang="en-US"/>
          </a:p>
        </p:txBody>
      </p:sp>
    </p:spTree>
    <p:extLst>
      <p:ext uri="{BB962C8B-B14F-4D97-AF65-F5344CB8AC3E}">
        <p14:creationId xmlns:p14="http://schemas.microsoft.com/office/powerpoint/2010/main" val="2505189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We’ve been using the assignment operator for a while now. But now it’s time to look a bit more closely at what it actually does.</a:t>
            </a:r>
          </a:p>
          <a:p>
            <a:endParaRPr lang="en-GB" dirty="0"/>
          </a:p>
          <a:p>
            <a:r>
              <a:rPr lang="en-GB" dirty="0"/>
              <a:t>The assignment operator is fundamentally different from an equals sign in an algebraic equation, despite using the same character. When an assignment operator is used, the value of the expression to the right of it is evaluated and this value is assigned to the variable whose name appears to the left of it.</a:t>
            </a:r>
          </a:p>
          <a:p>
            <a:endParaRPr lang="en-GB" dirty="0"/>
          </a:p>
          <a:p>
            <a:r>
              <a:rPr lang="en-GB" dirty="0"/>
              <a:t>This means the statement “3=x” would be invalid, even though it’s valid algebra – whatever the value of x is, it can’t be assigned to the value of 3 as it is not a variable.  However, the statement x=</a:t>
            </a:r>
            <a:r>
              <a:rPr lang="en-GB" dirty="0" err="1"/>
              <a:t>x+x</a:t>
            </a:r>
            <a:r>
              <a:rPr lang="en-GB" dirty="0"/>
              <a:t> is valid for all numerical values of x and will double the value of x.</a:t>
            </a:r>
          </a:p>
        </p:txBody>
      </p:sp>
      <p:sp>
        <p:nvSpPr>
          <p:cNvPr id="4" name="Slide Number Placeholder 3"/>
          <p:cNvSpPr>
            <a:spLocks noGrp="1"/>
          </p:cNvSpPr>
          <p:nvPr>
            <p:ph type="sldNum" sz="quarter" idx="5"/>
          </p:nvPr>
        </p:nvSpPr>
        <p:spPr/>
        <p:txBody>
          <a:bodyPr/>
          <a:lstStyle/>
          <a:p>
            <a:fld id="{877663E2-27CE-4C79-91D3-7F5C4262D57F}" type="slidenum">
              <a:rPr lang="en-US" smtClean="0"/>
              <a:t>16</a:t>
            </a:fld>
            <a:endParaRPr lang="en-US"/>
          </a:p>
        </p:txBody>
      </p:sp>
    </p:spTree>
    <p:extLst>
      <p:ext uri="{BB962C8B-B14F-4D97-AF65-F5344CB8AC3E}">
        <p14:creationId xmlns:p14="http://schemas.microsoft.com/office/powerpoint/2010/main" val="2680392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over describes some basic mathematical operators in Fortran. These will be the building blocks of any numerical computing in Fortran.</a:t>
            </a:r>
          </a:p>
          <a:p>
            <a:endParaRPr lang="en-GB" dirty="0"/>
          </a:p>
          <a:p>
            <a:r>
              <a:rPr lang="en-GB" dirty="0"/>
              <a:t>See Variables/mathematical_operators.f90 for examples</a:t>
            </a:r>
          </a:p>
          <a:p>
            <a:endParaRPr lang="en-GB" dirty="0"/>
          </a:p>
          <a:p>
            <a:r>
              <a:rPr lang="en-GB" dirty="0"/>
              <a:t>Break for Section 3.1 of the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17</a:t>
            </a:fld>
            <a:endParaRPr lang="en-US"/>
          </a:p>
        </p:txBody>
      </p:sp>
    </p:spTree>
    <p:extLst>
      <p:ext uri="{BB962C8B-B14F-4D97-AF65-F5344CB8AC3E}">
        <p14:creationId xmlns:p14="http://schemas.microsoft.com/office/powerpoint/2010/main" val="562031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Expressions in Fortran can contain more than one operator. When this is the case, the operators will be evaluated in an order following the PEDMAS order of operations. The table, from top to bottom shows the order in which operators will be carried out. Code within parentheses will be executed first, and addition and subtraction operators will be executed last.</a:t>
            </a:r>
          </a:p>
          <a:p>
            <a:endParaRPr lang="en-GB" dirty="0"/>
          </a:p>
          <a:p>
            <a:r>
              <a:rPr lang="en-GB" dirty="0"/>
              <a:t>Break for Section 3.2 of the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18</a:t>
            </a:fld>
            <a:endParaRPr lang="en-US"/>
          </a:p>
        </p:txBody>
      </p:sp>
    </p:spTree>
    <p:extLst>
      <p:ext uri="{BB962C8B-B14F-4D97-AF65-F5344CB8AC3E}">
        <p14:creationId xmlns:p14="http://schemas.microsoft.com/office/powerpoint/2010/main" val="1993439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Fortran also contains functions to perform more complicated mathematical operations. These are available by default in Fortran and do not need to be imported as they might need to be in some other languages.</a:t>
            </a:r>
          </a:p>
          <a:p>
            <a:endParaRPr lang="en-GB" dirty="0"/>
          </a:p>
          <a:p>
            <a:r>
              <a:rPr lang="en-GB" dirty="0"/>
              <a:t>Check Variables/mathematical_operators2.f90 for an example.</a:t>
            </a:r>
          </a:p>
        </p:txBody>
      </p:sp>
      <p:sp>
        <p:nvSpPr>
          <p:cNvPr id="4" name="Slide Number Placeholder 3"/>
          <p:cNvSpPr>
            <a:spLocks noGrp="1"/>
          </p:cNvSpPr>
          <p:nvPr>
            <p:ph type="sldNum" sz="quarter" idx="5"/>
          </p:nvPr>
        </p:nvSpPr>
        <p:spPr/>
        <p:txBody>
          <a:bodyPr/>
          <a:lstStyle/>
          <a:p>
            <a:fld id="{877663E2-27CE-4C79-91D3-7F5C4262D57F}" type="slidenum">
              <a:rPr lang="en-US" smtClean="0"/>
              <a:t>19</a:t>
            </a:fld>
            <a:endParaRPr lang="en-US"/>
          </a:p>
        </p:txBody>
      </p:sp>
    </p:spTree>
    <p:extLst>
      <p:ext uri="{BB962C8B-B14F-4D97-AF65-F5344CB8AC3E}">
        <p14:creationId xmlns:p14="http://schemas.microsoft.com/office/powerpoint/2010/main" val="3079846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array is a data type which contains a number of pieces of data of the same type which are labelled with sequential indices . For instance, you may a one-dimensional array of integers or a four-dimensional array of reals which are indexed by four indices and might represent a fourth-order tensor. This is not limited to numerical data types and you may have arrays of characters, </a:t>
            </a:r>
            <a:r>
              <a:rPr lang="en-GB" dirty="0" err="1"/>
              <a:t>logicals</a:t>
            </a:r>
            <a:r>
              <a:rPr lang="en-GB" dirty="0"/>
              <a:t>, etc.</a:t>
            </a:r>
          </a:p>
          <a:p>
            <a:endParaRPr lang="en-GB" dirty="0"/>
          </a:p>
          <a:p>
            <a:r>
              <a:rPr lang="en-GB" dirty="0"/>
              <a:t>Fortran is very good with arrays. Vanilla versions of many modern languages do not include arrays in the way that Fortran does, which includes multiple dimensions, included array operations and computational speed.</a:t>
            </a:r>
          </a:p>
          <a:p>
            <a:endParaRPr lang="en-GB" dirty="0"/>
          </a:p>
          <a:p>
            <a:r>
              <a:rPr lang="en-GB" dirty="0"/>
              <a:t>However, Fortran arrays have some limitations compared to other popular languages. The size of an array must be specified at some stage and you cannot simply append or insert values in a way that would change the size of the array as with lists or vectors in some other languages. You cannot have a jagged array in Fortran (i.e. where different rows of a 2d array have a different number of columns for example).</a:t>
            </a:r>
          </a:p>
        </p:txBody>
      </p:sp>
      <p:sp>
        <p:nvSpPr>
          <p:cNvPr id="4" name="Slide Number Placeholder 3"/>
          <p:cNvSpPr>
            <a:spLocks noGrp="1"/>
          </p:cNvSpPr>
          <p:nvPr>
            <p:ph type="sldNum" sz="quarter" idx="5"/>
          </p:nvPr>
        </p:nvSpPr>
        <p:spPr/>
        <p:txBody>
          <a:bodyPr/>
          <a:lstStyle/>
          <a:p>
            <a:fld id="{877663E2-27CE-4C79-91D3-7F5C4262D57F}" type="slidenum">
              <a:rPr lang="en-US" smtClean="0"/>
              <a:t>20</a:t>
            </a:fld>
            <a:endParaRPr lang="en-US"/>
          </a:p>
        </p:txBody>
      </p:sp>
    </p:spTree>
    <p:extLst>
      <p:ext uri="{BB962C8B-B14F-4D97-AF65-F5344CB8AC3E}">
        <p14:creationId xmlns:p14="http://schemas.microsoft.com/office/powerpoint/2010/main" val="2191876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array is a variable which contains a number of pieces of data of the same type. For instance, the array in the slide is named “</a:t>
            </a:r>
            <a:r>
              <a:rPr lang="en-GB" dirty="0" err="1"/>
              <a:t>my_array</a:t>
            </a:r>
            <a:r>
              <a:rPr lang="en-GB" dirty="0"/>
              <a:t>” and contains 6 integers. These values have the “indices” 1-6. An index a supplementary piece of information which defined where a variable is within an array. Note the indices are numbered from 1 in Fortran, in contrast to some other languages.</a:t>
            </a:r>
          </a:p>
          <a:p>
            <a:endParaRPr lang="en-GB" dirty="0"/>
          </a:p>
          <a:p>
            <a:r>
              <a:rPr lang="en-GB" dirty="0"/>
              <a:t>To declare an array, there are a couple of options. The first is to write (for an array of integers) “integer, dimension(N) :: </a:t>
            </a:r>
            <a:r>
              <a:rPr lang="en-GB" dirty="0" err="1"/>
              <a:t>array_name</a:t>
            </a:r>
            <a:r>
              <a:rPr lang="en-GB" dirty="0"/>
              <a:t>” and replace “N” with the number of items in the array. You may also write “integer :: </a:t>
            </a:r>
            <a:r>
              <a:rPr lang="en-GB" dirty="0" err="1"/>
              <a:t>array_name</a:t>
            </a:r>
            <a:r>
              <a:rPr lang="en-GB" dirty="0"/>
              <a:t>(N)”.</a:t>
            </a:r>
          </a:p>
          <a:p>
            <a:endParaRPr lang="en-GB" dirty="0"/>
          </a:p>
          <a:p>
            <a:r>
              <a:rPr lang="en-GB" dirty="0"/>
              <a:t>To access individual items in an array, you may write “</a:t>
            </a:r>
            <a:r>
              <a:rPr lang="en-GB" dirty="0" err="1"/>
              <a:t>array_name</a:t>
            </a:r>
            <a:r>
              <a:rPr lang="en-GB" dirty="0"/>
              <a:t>(N)” to access the Nth item in the array. You can use this to set or retrieve a value for use in a calculation. You can set each value in an array to the same value by entering “</a:t>
            </a:r>
            <a:r>
              <a:rPr lang="en-GB" dirty="0" err="1"/>
              <a:t>array_name</a:t>
            </a:r>
            <a:r>
              <a:rPr lang="en-GB" dirty="0"/>
              <a:t>=1”, for example.</a:t>
            </a:r>
            <a:br>
              <a:rPr lang="en-GB" dirty="0"/>
            </a:br>
            <a:br>
              <a:rPr lang="en-GB" dirty="0"/>
            </a:br>
            <a:r>
              <a:rPr lang="en-GB" dirty="0"/>
              <a:t>It’s also possible to set the values of part of the array only using the syntax “</a:t>
            </a:r>
            <a:r>
              <a:rPr lang="en-GB" dirty="0" err="1"/>
              <a:t>array_name</a:t>
            </a:r>
            <a:r>
              <a:rPr lang="en-GB" dirty="0"/>
              <a:t>(</a:t>
            </a:r>
            <a:r>
              <a:rPr lang="en-GB" dirty="0" err="1"/>
              <a:t>start_index:stop_index</a:t>
            </a:r>
            <a:r>
              <a:rPr lang="en-GB" dirty="0"/>
              <a:t>)=1”. This will set the items of the array with indices between </a:t>
            </a:r>
            <a:r>
              <a:rPr lang="en-GB" dirty="0" err="1"/>
              <a:t>start_index</a:t>
            </a:r>
            <a:r>
              <a:rPr lang="en-GB" dirty="0"/>
              <a:t> and </a:t>
            </a:r>
            <a:r>
              <a:rPr lang="en-GB" dirty="0" err="1"/>
              <a:t>stop_index</a:t>
            </a:r>
            <a:r>
              <a:rPr lang="en-GB" dirty="0"/>
              <a:t> (inclusive) to the specified value. It’s also possible to create a new array (or reference part of the array) by entering “</a:t>
            </a:r>
            <a:r>
              <a:rPr lang="en-GB" dirty="0" err="1"/>
              <a:t>new_array</a:t>
            </a:r>
            <a:r>
              <a:rPr lang="en-GB" dirty="0"/>
              <a:t>=</a:t>
            </a:r>
            <a:r>
              <a:rPr lang="en-GB" dirty="0" err="1"/>
              <a:t>array_name</a:t>
            </a:r>
            <a:r>
              <a:rPr lang="en-GB" dirty="0"/>
              <a:t>(</a:t>
            </a:r>
            <a:r>
              <a:rPr lang="en-GB" dirty="0" err="1"/>
              <a:t>start_index:stop_index</a:t>
            </a:r>
            <a:r>
              <a:rPr lang="en-GB" dirty="0"/>
              <a:t>)”. Note that </a:t>
            </a:r>
            <a:r>
              <a:rPr lang="en-GB" dirty="0" err="1"/>
              <a:t>new_array</a:t>
            </a:r>
            <a:r>
              <a:rPr lang="en-GB" dirty="0"/>
              <a:t> will still need to be declared and have the right number of items to hold the values in the specified range of the “</a:t>
            </a:r>
            <a:r>
              <a:rPr lang="en-GB" dirty="0" err="1"/>
              <a:t>array_name</a:t>
            </a:r>
            <a:r>
              <a:rPr lang="en-GB" dirty="0"/>
              <a:t>”.</a:t>
            </a:r>
          </a:p>
          <a:p>
            <a:endParaRPr lang="en-GB" dirty="0"/>
          </a:p>
          <a:p>
            <a:r>
              <a:rPr lang="en-GB" dirty="0"/>
              <a:t>It’s also possible to create an array on-the-fly by using the syntax (/x1, x2…</a:t>
            </a:r>
            <a:r>
              <a:rPr lang="en-GB" dirty="0" err="1"/>
              <a:t>xn</a:t>
            </a:r>
            <a:r>
              <a:rPr lang="en-GB" dirty="0"/>
              <a:t>/). This may be used to assign the values of an array or part of an array or to be used in array operations.</a:t>
            </a:r>
          </a:p>
          <a:p>
            <a:endParaRPr lang="en-GB" dirty="0"/>
          </a:p>
          <a:p>
            <a:r>
              <a:rPr lang="en-GB" dirty="0"/>
              <a:t>Check Variables/arrays1d.f90 for an example.</a:t>
            </a:r>
          </a:p>
        </p:txBody>
      </p:sp>
      <p:sp>
        <p:nvSpPr>
          <p:cNvPr id="4" name="Slide Number Placeholder 3"/>
          <p:cNvSpPr>
            <a:spLocks noGrp="1"/>
          </p:cNvSpPr>
          <p:nvPr>
            <p:ph type="sldNum" sz="quarter" idx="5"/>
          </p:nvPr>
        </p:nvSpPr>
        <p:spPr/>
        <p:txBody>
          <a:bodyPr/>
          <a:lstStyle/>
          <a:p>
            <a:fld id="{877663E2-27CE-4C79-91D3-7F5C4262D57F}" type="slidenum">
              <a:rPr lang="en-US" smtClean="0"/>
              <a:t>21</a:t>
            </a:fld>
            <a:endParaRPr lang="en-US"/>
          </a:p>
        </p:txBody>
      </p:sp>
    </p:spTree>
    <p:extLst>
      <p:ext uri="{BB962C8B-B14F-4D97-AF65-F5344CB8AC3E}">
        <p14:creationId xmlns:p14="http://schemas.microsoft.com/office/powerpoint/2010/main" val="1206592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It’s possible to define an array containing multiple dimensions. In this example, we have used a two-dimensional matrix, but the principle can be applied to higher dimensional arrays without limit.</a:t>
            </a:r>
          </a:p>
          <a:p>
            <a:endParaRPr lang="en-GB" dirty="0"/>
          </a:p>
          <a:p>
            <a:r>
              <a:rPr lang="en-GB" dirty="0"/>
              <a:t>The lengths of the array in each dimension may be specified inside the parentheses following the “dimension” statement divided by commas. The length does not need to be the same in each dimension. The number of dimensions is defined by the number of values in parentheses.</a:t>
            </a:r>
          </a:p>
          <a:p>
            <a:endParaRPr lang="en-GB" dirty="0"/>
          </a:p>
          <a:p>
            <a:r>
              <a:rPr lang="en-GB" dirty="0"/>
              <a:t>When accessing a single value of a multi-dimensional array, the indices in parentheses are separated by commas. The first index refers to the location in the first dimension , the second to the position in the second dimension and so on. For instance, in the array above, array1(1,2) is the value 1.</a:t>
            </a:r>
          </a:p>
          <a:p>
            <a:endParaRPr lang="en-GB" dirty="0"/>
          </a:p>
          <a:p>
            <a:r>
              <a:rPr lang="en-GB" dirty="0"/>
              <a:t>You can also assign entire sections of an array at a time, as with a 1D array. In the final command in the slide, we assign to the section of the array with row and column indices of 2 or greater. This is indicated by the lack of a “</a:t>
            </a:r>
            <a:r>
              <a:rPr lang="en-GB" dirty="0" err="1"/>
              <a:t>stop_index</a:t>
            </a:r>
            <a:r>
              <a:rPr lang="en-GB" dirty="0"/>
              <a:t>” in the index specification (i.e. “2:”). The values we assign to it are half the values of array1 with a row index of 2 or more and a column index of 3 or less. Note that, both of these sections of the array contain 2 rows and 3 columns and that the value on the right is calculated from array1 before any assignment is made to that variable.</a:t>
            </a:r>
          </a:p>
          <a:p>
            <a:endParaRPr lang="en-GB" dirty="0"/>
          </a:p>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Check Variables/arrays2d.f90 for an example.</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22</a:t>
            </a:fld>
            <a:endParaRPr lang="en-US"/>
          </a:p>
        </p:txBody>
      </p:sp>
    </p:spTree>
    <p:extLst>
      <p:ext uri="{BB962C8B-B14F-4D97-AF65-F5344CB8AC3E}">
        <p14:creationId xmlns:p14="http://schemas.microsoft.com/office/powerpoint/2010/main" val="933250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mathematical operators can be applied to arrays the same as scalar variables. The result is calculated “element-wise” – that is it is as if the operator has been applied independently to value </a:t>
            </a:r>
            <a:r>
              <a:rPr lang="en-GB" dirty="0" err="1"/>
              <a:t>i</a:t>
            </a:r>
            <a:r>
              <a:rPr lang="en-GB" dirty="0"/>
              <a:t> in each array sequentially and the result put into index </a:t>
            </a:r>
            <a:r>
              <a:rPr lang="en-GB" dirty="0" err="1"/>
              <a:t>i</a:t>
            </a:r>
            <a:r>
              <a:rPr lang="en-GB" dirty="0"/>
              <a:t> of the resultant array. This requires the arrays operated on to be the same shape (i.e. the same number of dimensions and the same extent in each dimension).</a:t>
            </a:r>
          </a:p>
          <a:p>
            <a:endParaRPr lang="en-GB" dirty="0"/>
          </a:p>
          <a:p>
            <a:r>
              <a:rPr lang="en-GB" dirty="0"/>
              <a:t>Also of interest are the </a:t>
            </a:r>
            <a:r>
              <a:rPr lang="en-GB" dirty="0" err="1"/>
              <a:t>dot_produt</a:t>
            </a:r>
            <a:r>
              <a:rPr lang="en-GB" dirty="0"/>
              <a:t> and </a:t>
            </a:r>
            <a:r>
              <a:rPr lang="en-GB" dirty="0" err="1"/>
              <a:t>matmul</a:t>
            </a:r>
            <a:r>
              <a:rPr lang="en-GB" dirty="0"/>
              <a:t> functions. The first takes two dimension 1 scalars of the same length and calculates the dot-product of them (i.e. the sum of the products of the value pairs). The second takes a matrix (2d array) and a vector (1d array). The value returned is a 1d array containing the vector formed by multiplying the vector with the matrix. The matrix’s size in the second dimension must be equal to the size of the vector (as is required for matrix multiplication).</a:t>
            </a:r>
          </a:p>
          <a:p>
            <a:endParaRPr lang="en-GB" dirty="0"/>
          </a:p>
          <a:p>
            <a:r>
              <a:rPr lang="en-GB" dirty="0" err="1"/>
              <a:t>Minval</a:t>
            </a:r>
            <a:r>
              <a:rPr lang="en-GB" dirty="0"/>
              <a:t> and </a:t>
            </a:r>
            <a:r>
              <a:rPr lang="en-GB" dirty="0" err="1"/>
              <a:t>maxval</a:t>
            </a:r>
            <a:r>
              <a:rPr lang="en-GB" dirty="0"/>
              <a:t> provide the minimum and maximum value in an array respectively. </a:t>
            </a:r>
            <a:r>
              <a:rPr lang="en-GB" dirty="0" err="1"/>
              <a:t>Minloc</a:t>
            </a:r>
            <a:r>
              <a:rPr lang="en-GB" dirty="0"/>
              <a:t> and </a:t>
            </a:r>
            <a:r>
              <a:rPr lang="en-GB" dirty="0" err="1"/>
              <a:t>maxlox</a:t>
            </a:r>
            <a:r>
              <a:rPr lang="en-GB" dirty="0"/>
              <a:t> returns the location of the minimum of an array and a location of the maximum of an array respectively. These locations are returned as a 1d array with as many entries as there are dimensions in the array. The values will be the indices of array a which relate to the value with the smallest or largest value in a respectively.</a:t>
            </a:r>
          </a:p>
          <a:p>
            <a:endParaRPr lang="en-GB" dirty="0"/>
          </a:p>
          <a:p>
            <a:r>
              <a:rPr lang="en-GB" dirty="0"/>
              <a:t>The sum function returns a scalar value equal to the sum of all items in the array.</a:t>
            </a:r>
          </a:p>
          <a:p>
            <a:endParaRPr lang="en-GB" dirty="0"/>
          </a:p>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Check Variables/arrays_operators.f90 for an example.</a:t>
            </a:r>
          </a:p>
          <a:p>
            <a:endParaRPr lang="en-GB" dirty="0"/>
          </a:p>
          <a:p>
            <a:r>
              <a:rPr lang="en-GB" dirty="0"/>
              <a:t>Break for Section 3.3 of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23</a:t>
            </a:fld>
            <a:endParaRPr lang="en-US"/>
          </a:p>
        </p:txBody>
      </p:sp>
    </p:spTree>
    <p:extLst>
      <p:ext uri="{BB962C8B-B14F-4D97-AF65-F5344CB8AC3E}">
        <p14:creationId xmlns:p14="http://schemas.microsoft.com/office/powerpoint/2010/main" val="2280490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declaring an array, it’s not always necessary to specify its length. This is very useful when writing code which must handle different numbers of values. This is done by declaring the array to be “allocatable”. You may later specify the size of the array using the “allocate” command.</a:t>
            </a:r>
          </a:p>
          <a:p>
            <a:endParaRPr lang="en-GB" dirty="0"/>
          </a:p>
          <a:p>
            <a:r>
              <a:rPr lang="en-GB" dirty="0"/>
              <a:t>Before the array is allocated, it has no been allocated addresses in the memory of your machine to store values. This means an unallocated array may not have values assigned to entries in it or have entries within it accessed. This is because it has no entries to assign to or read from.</a:t>
            </a:r>
          </a:p>
          <a:p>
            <a:endParaRPr lang="en-GB" dirty="0"/>
          </a:p>
          <a:p>
            <a:r>
              <a:rPr lang="en-GB" dirty="0"/>
              <a:t>However, it is possible to assign to an unallocated array with another array of the same dimension. This allocates the array being assigned to and copies the values of the other array into it.</a:t>
            </a:r>
          </a:p>
          <a:p>
            <a:endParaRPr lang="en-GB" dirty="0"/>
          </a:p>
          <a:p>
            <a:pPr marL="0" marR="0" lvl="0" indent="0" algn="l" defTabSz="914353" rtl="0" eaLnBrk="1" fontAlgn="auto" latinLnBrk="0" hangingPunct="1">
              <a:lnSpc>
                <a:spcPct val="100000"/>
              </a:lnSpc>
              <a:spcBef>
                <a:spcPts val="0"/>
              </a:spcBef>
              <a:spcAft>
                <a:spcPts val="0"/>
              </a:spcAft>
              <a:buClrTx/>
              <a:buSzTx/>
              <a:buFontTx/>
              <a:buNone/>
              <a:tabLst/>
              <a:defRPr/>
            </a:pPr>
            <a:r>
              <a:rPr lang="en-GB" dirty="0"/>
              <a:t>Check Variables/allocatable_arrays.f90 for an example.</a:t>
            </a:r>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24</a:t>
            </a:fld>
            <a:endParaRPr lang="en-US"/>
          </a:p>
        </p:txBody>
      </p:sp>
    </p:spTree>
    <p:extLst>
      <p:ext uri="{BB962C8B-B14F-4D97-AF65-F5344CB8AC3E}">
        <p14:creationId xmlns:p14="http://schemas.microsoft.com/office/powerpoint/2010/main" val="1115623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Logicals</a:t>
            </a:r>
            <a:r>
              <a:rPr lang="en-GB" dirty="0"/>
              <a:t> are another type of variable in Fortran. They may have only two values – true and false. Just as mathematical </a:t>
            </a:r>
            <a:r>
              <a:rPr lang="en-GB" dirty="0" err="1"/>
              <a:t>opertors</a:t>
            </a:r>
            <a:r>
              <a:rPr lang="en-GB" dirty="0"/>
              <a:t> may be used on numerical types, Boolean operators may be used on logical types and </a:t>
            </a:r>
            <a:r>
              <a:rPr lang="en-GB" dirty="0" err="1"/>
              <a:t>logicals</a:t>
            </a:r>
            <a:r>
              <a:rPr lang="en-GB" dirty="0"/>
              <a:t> may the result of comparison operators. </a:t>
            </a:r>
            <a:r>
              <a:rPr lang="en-GB" dirty="0" err="1"/>
              <a:t>Logicals</a:t>
            </a:r>
            <a:r>
              <a:rPr lang="en-GB" dirty="0"/>
              <a:t> are commonly used to control the flow of a program using “if” statements. All of these will be covered in upcoming slides.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declare a logical, the word “logical” is put in the declaration statement before the double colons. You may create arrays of </a:t>
            </a:r>
            <a:r>
              <a:rPr lang="en-GB" dirty="0" err="1"/>
              <a:t>logicals</a:t>
            </a:r>
            <a:r>
              <a:rPr lang="en-GB" dirty="0"/>
              <a:t> if you wish. You can assign a value to a logical variable by putting “.true.” or “.false.” after the assignment operator.</a:t>
            </a:r>
          </a:p>
        </p:txBody>
      </p:sp>
      <p:sp>
        <p:nvSpPr>
          <p:cNvPr id="4" name="Slide Number Placeholder 3"/>
          <p:cNvSpPr>
            <a:spLocks noGrp="1"/>
          </p:cNvSpPr>
          <p:nvPr>
            <p:ph type="sldNum" sz="quarter" idx="5"/>
          </p:nvPr>
        </p:nvSpPr>
        <p:spPr/>
        <p:txBody>
          <a:bodyPr/>
          <a:lstStyle/>
          <a:p>
            <a:fld id="{877663E2-27CE-4C79-91D3-7F5C4262D57F}" type="slidenum">
              <a:rPr lang="en-US" smtClean="0"/>
              <a:t>25</a:t>
            </a:fld>
            <a:endParaRPr lang="en-US"/>
          </a:p>
        </p:txBody>
      </p:sp>
    </p:spTree>
    <p:extLst>
      <p:ext uri="{BB962C8B-B14F-4D97-AF65-F5344CB8AC3E}">
        <p14:creationId xmlns:p14="http://schemas.microsoft.com/office/powerpoint/2010/main" val="1470343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Boolean operators operate on one or more </a:t>
            </a:r>
            <a:r>
              <a:rPr lang="en-GB" dirty="0" err="1"/>
              <a:t>logicals</a:t>
            </a:r>
            <a:r>
              <a:rPr lang="en-GB" dirty="0"/>
              <a:t> and return a logical.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“.not.” returns the opposite value to the following logical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is placed between two </a:t>
            </a:r>
            <a:r>
              <a:rPr lang="en-GB" dirty="0" err="1"/>
              <a:t>logicals</a:t>
            </a:r>
            <a:r>
              <a:rPr lang="en-GB" dirty="0"/>
              <a:t> and returns .true. if both are .true. and false otherwise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 is placed between two </a:t>
            </a:r>
            <a:r>
              <a:rPr lang="en-GB" dirty="0" err="1"/>
              <a:t>logicals</a:t>
            </a:r>
            <a:r>
              <a:rPr lang="en-GB" dirty="0"/>
              <a:t> and returns .true. if either or both are true and false otherwise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Multiple Boolean operators can be combined. It’s generally clearest to use parentheses to show the order operations are to be performed in.</a:t>
            </a:r>
          </a:p>
        </p:txBody>
      </p:sp>
      <p:sp>
        <p:nvSpPr>
          <p:cNvPr id="4" name="Slide Number Placeholder 3"/>
          <p:cNvSpPr>
            <a:spLocks noGrp="1"/>
          </p:cNvSpPr>
          <p:nvPr>
            <p:ph type="sldNum" sz="quarter" idx="5"/>
          </p:nvPr>
        </p:nvSpPr>
        <p:spPr/>
        <p:txBody>
          <a:bodyPr/>
          <a:lstStyle/>
          <a:p>
            <a:fld id="{877663E2-27CE-4C79-91D3-7F5C4262D57F}" type="slidenum">
              <a:rPr lang="en-US" smtClean="0"/>
              <a:t>26</a:t>
            </a:fld>
            <a:endParaRPr lang="en-US"/>
          </a:p>
        </p:txBody>
      </p:sp>
    </p:spTree>
    <p:extLst>
      <p:ext uri="{BB962C8B-B14F-4D97-AF65-F5344CB8AC3E}">
        <p14:creationId xmlns:p14="http://schemas.microsoft.com/office/powerpoint/2010/main" val="1514712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Comparison operators compare two variables and return a logical. The logical returned depends on the value of the values being compared and the operator 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equality operator checks if the expressions either side of it have the same value. If they are, .true. is returned, otherwise .false. is returned.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“greater than” operator tests if the expression on the left is greater than the expression on the right. If it is, .true. is returned, otherwise, .false. is. There is also a “less than” operator.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“less than or equal to” operator checks if the expression on the left is less than or equal to the expression on the right. If it is, .true. is returned, otherwise, .false. is returned.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“not equal” operator checks if the expressions to the left and right have different values. If so, .true. is returned, otherwise .false. is returned.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a:t>
            </a:r>
            <a:r>
              <a:rPr lang="en-GB" dirty="0" err="1"/>
              <a:t>eqv</a:t>
            </a:r>
            <a:r>
              <a:rPr lang="en-GB" dirty="0"/>
              <a:t>.” operator is similar to the equality operator, except it operates on </a:t>
            </a:r>
            <a:r>
              <a:rPr lang="en-GB" dirty="0" err="1"/>
              <a:t>logicals</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“.neqv.2 operator is similar to not equal operator, except it operates on </a:t>
            </a:r>
            <a:r>
              <a:rPr lang="en-GB" dirty="0" err="1"/>
              <a:t>logicals</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Conditionals/comparisons.f90 for examples.</a:t>
            </a:r>
          </a:p>
        </p:txBody>
      </p:sp>
      <p:sp>
        <p:nvSpPr>
          <p:cNvPr id="4" name="Slide Number Placeholder 3"/>
          <p:cNvSpPr>
            <a:spLocks noGrp="1"/>
          </p:cNvSpPr>
          <p:nvPr>
            <p:ph type="sldNum" sz="quarter" idx="5"/>
          </p:nvPr>
        </p:nvSpPr>
        <p:spPr/>
        <p:txBody>
          <a:bodyPr/>
          <a:lstStyle/>
          <a:p>
            <a:fld id="{877663E2-27CE-4C79-91D3-7F5C4262D57F}" type="slidenum">
              <a:rPr lang="en-US" smtClean="0"/>
              <a:t>27</a:t>
            </a:fld>
            <a:endParaRPr lang="en-US"/>
          </a:p>
        </p:txBody>
      </p:sp>
    </p:spTree>
    <p:extLst>
      <p:ext uri="{BB962C8B-B14F-4D97-AF65-F5344CB8AC3E}">
        <p14:creationId xmlns:p14="http://schemas.microsoft.com/office/powerpoint/2010/main" val="1468135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Like all programming languages, real numbers are actually approximations to their actual values. This is because a finite number of bits of memory are used to represent real numbers, but there are an infinite number of possible real numbers. Thus, it follows that not all real numbers can be represented exactly.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means that, depending on the route of a calculation, two reals which you might expect to have the same value actually do not have the same value exactly. Thus, using the “==“ operator may not give you the answer you expect. This behaviour may vary from compiler to compiler if they use different strategies to deal with the limited precision of reals.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It’s possible to define a real to have a higher “precision”, essentially giving more bits of memory to the representation of a real. This will sometimes reduce this problem but does not eliminate it. We won’t dwell on the details of this, but an example is given in the demonstration.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Conditionals/precision.f90 for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28</a:t>
            </a:fld>
            <a:endParaRPr lang="en-US"/>
          </a:p>
        </p:txBody>
      </p:sp>
    </p:spTree>
    <p:extLst>
      <p:ext uri="{BB962C8B-B14F-4D97-AF65-F5344CB8AC3E}">
        <p14:creationId xmlns:p14="http://schemas.microsoft.com/office/powerpoint/2010/main" val="3730493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Conditionals use the value of logical expressions, which are evaluated when the executable is run, to determine which operations will occur.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is vital for controlling a more complex code, where the same section of source file may be called multiple times (more on this later) with different values which make different operations appropriate.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most common conditional construct is the </a:t>
            </a:r>
            <a:r>
              <a:rPr lang="en-GB" sz="1200" dirty="0"/>
              <a:t>“if”, “else if”, “else” construct which we’ll look at on the next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29</a:t>
            </a:fld>
            <a:endParaRPr lang="en-US"/>
          </a:p>
        </p:txBody>
      </p:sp>
    </p:spTree>
    <p:extLst>
      <p:ext uri="{BB962C8B-B14F-4D97-AF65-F5344CB8AC3E}">
        <p14:creationId xmlns:p14="http://schemas.microsoft.com/office/powerpoint/2010/main" val="22481671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Within an “if” block there will always be one “if” statement. There may zero or more “else if” statements and zero or one “else” statements. The block is finished with an “end if” statement.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Each statement contains an expression within parentheses, followed a “then” statement. That expression may be a single variable, a comparison operator, or any other expression which evaluates to a logical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that expression is true then the code which follows it will be executed and all other “else if” and “else” statements will be ignored. If an “else” statement is included, there is no expression in parentheses – if none of the logical expressions associated with previous “if” or “else if” statements were true, the code following the “else” statement will be executed.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means that at most one set of code will be executed within an “if” block. Following the “if” block, the code will carrying on executing normally.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It’s common practice (but not required) to indent the code to be executed if the appropriate statement in the “if” block is triggered. This makes it easier to see the structure of the “if” block at a glance.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Conditionals/conditionals.f90 for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Break for Section 4 of the problem 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30</a:t>
            </a:fld>
            <a:endParaRPr lang="en-US"/>
          </a:p>
        </p:txBody>
      </p:sp>
    </p:spTree>
    <p:extLst>
      <p:ext uri="{BB962C8B-B14F-4D97-AF65-F5344CB8AC3E}">
        <p14:creationId xmlns:p14="http://schemas.microsoft.com/office/powerpoint/2010/main" val="2908041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31</a:t>
            </a:fld>
            <a:endParaRPr lang="en-US"/>
          </a:p>
        </p:txBody>
      </p:sp>
    </p:spTree>
    <p:extLst>
      <p:ext uri="{BB962C8B-B14F-4D97-AF65-F5344CB8AC3E}">
        <p14:creationId xmlns:p14="http://schemas.microsoft.com/office/powerpoint/2010/main" val="3746156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Do loop use a loop counter (which must be an integer), which changes by a specified “step” each iteration of the loop. It begins at an initial value and finishes once the counter exceeds a specified final value. During each iteration of the loop, all code between the “do” and “end do” statements will be executed.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“step” may be specified in the same line as the “do” statement but may excluded. If it isn’t included, it will take a default value of 1. If a negative step is given, the counter will decrease each iteration of the loop.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the “step” value is positive, the lop will stop when the counter is larger than the final value. If “step” is negative, the loop will stop when the counter is smaller than the final value. This means that it’s possible for no iterations of a loop to be conducted if the initial value is greater than the final value and the step is positive, or if the initial value is less than the final value and the step is negative.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Loops/do_loops.f90 for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32</a:t>
            </a:fld>
            <a:endParaRPr lang="en-US"/>
          </a:p>
        </p:txBody>
      </p:sp>
    </p:spTree>
    <p:extLst>
      <p:ext uri="{BB962C8B-B14F-4D97-AF65-F5344CB8AC3E}">
        <p14:creationId xmlns:p14="http://schemas.microsoft.com/office/powerpoint/2010/main" val="3472134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Do while loops are similar to do loops in the sense that a piece of code to be repeated is sandwiched between a “do” statement which defines the loop and an end do statement. However,  a do while loop is more useful when you don’t know in advance how many iterations of the loop you want to complete, but you do know the condition you want the loop to terminate for.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achieve this, a logical expression is placed within parentheses. This will be evaluated at the start of each iteration. If the expression is true, the iteration will continue. If it’s false, the iteration won’t be performed and the code will continue from after the “end do” statement.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means, if the expression in parentheses following “do while” is never false, the loop will continue to be executed forever. As a result, care must be taken that this doesn’t occur.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loop in this case will produce an identical result to the loop in the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Loops/do_while_loops.f90 for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Break for Section 5 of the problem 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33</a:t>
            </a:fld>
            <a:endParaRPr lang="en-US"/>
          </a:p>
        </p:txBody>
      </p:sp>
    </p:spTree>
    <p:extLst>
      <p:ext uri="{BB962C8B-B14F-4D97-AF65-F5344CB8AC3E}">
        <p14:creationId xmlns:p14="http://schemas.microsoft.com/office/powerpoint/2010/main" val="2225499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definition of functions and subroutines is where your code really begins to be flexible and powerful. Both these constructs allow you to define pieces of code which can be called repeatedly from different parts of your code. This is very powerful as it allows a piece of code to be written which achieves a particular small task. This can then be used in other subroutines and functions which performed slightly larger and more complex tasks and so on and so on, until your code completes the entire task you want it to perform. This allows a large and complex task to be broken down into small and manageable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Functions and subroutines may be called with different values, passed in as “arguments”. Functions will return a value whilst subroutines do not. This will become clear with some examples.</a:t>
            </a:r>
          </a:p>
        </p:txBody>
      </p:sp>
      <p:sp>
        <p:nvSpPr>
          <p:cNvPr id="4" name="Slide Number Placeholder 3"/>
          <p:cNvSpPr>
            <a:spLocks noGrp="1"/>
          </p:cNvSpPr>
          <p:nvPr>
            <p:ph type="sldNum" sz="quarter" idx="5"/>
          </p:nvPr>
        </p:nvSpPr>
        <p:spPr/>
        <p:txBody>
          <a:bodyPr/>
          <a:lstStyle/>
          <a:p>
            <a:fld id="{877663E2-27CE-4C79-91D3-7F5C4262D57F}" type="slidenum">
              <a:rPr lang="en-US" smtClean="0"/>
              <a:t>34</a:t>
            </a:fld>
            <a:endParaRPr lang="en-US"/>
          </a:p>
        </p:txBody>
      </p:sp>
    </p:spTree>
    <p:extLst>
      <p:ext uri="{BB962C8B-B14F-4D97-AF65-F5344CB8AC3E}">
        <p14:creationId xmlns:p14="http://schemas.microsoft.com/office/powerpoint/2010/main" val="12577286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subroutine must be defined following a “contains” statement within your code. The “contains” statement can be put in a few places. To begin with, we’ll consider when it occurs in between the “program…” and “end program…” statements. This serves to divide the code of your program which will be executed sequentially (above “contains”) and the definition of functions, subroutines,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Subroutines may contain the declaration of variables to be used within that subroutine. Each time the function is called, a new variable with that name will be created and will exist for the duration of the call to that subroutine. The variable will cease to exist when the subroutine finishes. Variables declared in a subroutine are only accessible from within the code contained in that subroutine and are not accessible from the piece of code which called the subroutine or from any functions or subroutines called from within the subroutine.</a:t>
            </a:r>
          </a:p>
        </p:txBody>
      </p:sp>
      <p:sp>
        <p:nvSpPr>
          <p:cNvPr id="4" name="Slide Number Placeholder 3"/>
          <p:cNvSpPr>
            <a:spLocks noGrp="1"/>
          </p:cNvSpPr>
          <p:nvPr>
            <p:ph type="sldNum" sz="quarter" idx="5"/>
          </p:nvPr>
        </p:nvSpPr>
        <p:spPr/>
        <p:txBody>
          <a:bodyPr/>
          <a:lstStyle/>
          <a:p>
            <a:fld id="{877663E2-27CE-4C79-91D3-7F5C4262D57F}" type="slidenum">
              <a:rPr lang="en-US" smtClean="0"/>
              <a:t>35</a:t>
            </a:fld>
            <a:endParaRPr lang="en-US"/>
          </a:p>
        </p:txBody>
      </p:sp>
    </p:spTree>
    <p:extLst>
      <p:ext uri="{BB962C8B-B14F-4D97-AF65-F5344CB8AC3E}">
        <p14:creationId xmlns:p14="http://schemas.microsoft.com/office/powerpoint/2010/main" val="1900964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word “subroutine” signals the start of a subroutine definition. This is followed by the name of the subroutine (which has the same restrictions as a variable name). This is then followed by a set of parentheses which contain a number of “arguments” separated by commas. A subroutine may have no arguments, a small number or many. Arguments are variables which will be used in the execution of the subroutine and whose values are provided by the code which calls the subroutine and whose values will be passed back to the calling code when the subroutine is complete.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Next, any variables used in the subroutine are declared (including any arguments). These variable names are only relevant within the subroutine itself and cannot be accessed from outside the subroutine. They may be the same variable names as variables elsewhere in the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Next, any operations to be carried out by the subroutine are defined. These will be carried out in order as they would be elsewhere in a Fortran program.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end of a subroutine is marked with the “end subroutine” statement. This may optionally be followed by the name of the subroutine. It’s god practice to include the name of the subroutine here as, when defining multiple long subroutines, it makes the code easier to read.</a:t>
            </a:r>
          </a:p>
        </p:txBody>
      </p:sp>
      <p:sp>
        <p:nvSpPr>
          <p:cNvPr id="4" name="Slide Number Placeholder 3"/>
          <p:cNvSpPr>
            <a:spLocks noGrp="1"/>
          </p:cNvSpPr>
          <p:nvPr>
            <p:ph type="sldNum" sz="quarter" idx="5"/>
          </p:nvPr>
        </p:nvSpPr>
        <p:spPr/>
        <p:txBody>
          <a:bodyPr/>
          <a:lstStyle/>
          <a:p>
            <a:fld id="{877663E2-27CE-4C79-91D3-7F5C4262D57F}" type="slidenum">
              <a:rPr lang="en-US" smtClean="0"/>
              <a:t>36</a:t>
            </a:fld>
            <a:endParaRPr lang="en-US"/>
          </a:p>
        </p:txBody>
      </p:sp>
    </p:spTree>
    <p:extLst>
      <p:ext uri="{BB962C8B-B14F-4D97-AF65-F5344CB8AC3E}">
        <p14:creationId xmlns:p14="http://schemas.microsoft.com/office/powerpoint/2010/main" val="34183786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subroutine is called by using the “call” statement followed by the name of the subroutine. The names of the variables whose values are to be used in the call to the subroutine. The variables used here may have the same or different names to the names of the arguments as defined in subroutine declaration.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Once the call to the subroutine has been completed, the values of the variables in the argument list will take the value of the corresponding argument in the subroutine at the end of the subroutine call.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Subroutines/subroutines.f90 for an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Break for Section 6 of Problem 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37</a:t>
            </a:fld>
            <a:endParaRPr lang="en-US"/>
          </a:p>
        </p:txBody>
      </p:sp>
    </p:spTree>
    <p:extLst>
      <p:ext uri="{BB962C8B-B14F-4D97-AF65-F5344CB8AC3E}">
        <p14:creationId xmlns:p14="http://schemas.microsoft.com/office/powerpoint/2010/main" val="2609618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function must be defined following a “contains” statement within your code. The “contains” statement can be put in a few places. To begin with, we’ll consider when it occurs in between the “program…” and “end program…” statements. This serves to divide the code of your program which will be executed sequentially (above “contains”) and the definition of functions, subroutines,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Functions may contain the declaration of variables to be used within that function. Each time the function is called, a new variable with that name will be created and will exist for the duration of the call to that function. The variable will cease to exist when the function finishes. Variables declared in a function are only accessible from within the code contained in that function and are not accessible from the piece of code which called the function or from any functions or subroutines called from within the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Functions have a type and will “return” a value of that type.</a:t>
            </a:r>
          </a:p>
        </p:txBody>
      </p:sp>
      <p:sp>
        <p:nvSpPr>
          <p:cNvPr id="4" name="Slide Number Placeholder 3"/>
          <p:cNvSpPr>
            <a:spLocks noGrp="1"/>
          </p:cNvSpPr>
          <p:nvPr>
            <p:ph type="sldNum" sz="quarter" idx="5"/>
          </p:nvPr>
        </p:nvSpPr>
        <p:spPr/>
        <p:txBody>
          <a:bodyPr/>
          <a:lstStyle/>
          <a:p>
            <a:fld id="{877663E2-27CE-4C79-91D3-7F5C4262D57F}" type="slidenum">
              <a:rPr lang="en-US" smtClean="0"/>
              <a:t>38</a:t>
            </a:fld>
            <a:endParaRPr lang="en-US"/>
          </a:p>
        </p:txBody>
      </p:sp>
    </p:spTree>
    <p:extLst>
      <p:ext uri="{BB962C8B-B14F-4D97-AF65-F5344CB8AC3E}">
        <p14:creationId xmlns:p14="http://schemas.microsoft.com/office/powerpoint/2010/main" val="3830154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two functions will produce the same result but demonstrate two different ways of specifying a function. They have some things in common. Both use the word “function” to begin the specification of the function and finish with the “end function” statement. Both of these statements are followed by the name of the function. The “end function” statement does not necessarily need to be followed by the function name, but it is good practice to so as it makes your code more readable.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Following the specification of the function name, a list of variable names separated by commas are contained within parentheses. This is the list of arguments that the function takes and will be given values when the function is called (more on that later). Next any variables which will be used in the function are declared. The declared variables must include all arguments from the argument list. Following the declaration of variables, any calculations to be performed in the function are written.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the first function definition, the word “real” preceding the word “function” specifies that the function will return a real value. This allows assignment to the name of the function (in this case “function_name1”). The value of this variable at the end of the function will be the value returned by the call to the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the second example, the word “real” is not placed before the word “function”. Instead, the statement “result(evaluation)” is placed after the argument list. This specifies that the value of the variable named “evaluation” at the end of the function will be returned. This also means that a variable named “evaluation” must be declared and that the function’s return type will be specified by the type of the variable “evaluation”. Any variable name could be used here, I have chosen “evaluation” because its descriptive within the scope of the function.</a:t>
            </a:r>
          </a:p>
        </p:txBody>
      </p:sp>
      <p:sp>
        <p:nvSpPr>
          <p:cNvPr id="4" name="Slide Number Placeholder 3"/>
          <p:cNvSpPr>
            <a:spLocks noGrp="1"/>
          </p:cNvSpPr>
          <p:nvPr>
            <p:ph type="sldNum" sz="quarter" idx="5"/>
          </p:nvPr>
        </p:nvSpPr>
        <p:spPr/>
        <p:txBody>
          <a:bodyPr/>
          <a:lstStyle/>
          <a:p>
            <a:fld id="{877663E2-27CE-4C79-91D3-7F5C4262D57F}" type="slidenum">
              <a:rPr lang="en-US" smtClean="0"/>
              <a:t>39</a:t>
            </a:fld>
            <a:endParaRPr lang="en-US"/>
          </a:p>
        </p:txBody>
      </p:sp>
    </p:spTree>
    <p:extLst>
      <p:ext uri="{BB962C8B-B14F-4D97-AF65-F5344CB8AC3E}">
        <p14:creationId xmlns:p14="http://schemas.microsoft.com/office/powerpoint/2010/main" val="618406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a function is called, it may be placed in the same place in a statement as another variable of that type may be placed. This is done by writing the name of the function and then, in parentheses, the values which the corresponding arguments in the argument list of the function will take during this call to the function. These may be values specified explicitly, the names of variables or statements which will be evaluated when the function is called. The specification of the arguments are separated by commas and each must have the same type as the argument that they are being passed to in the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call to the function may be placed anywhere a variable name of the same type may be placed. It may be printed to the screen, assigned to a variable or used as part of a calculation. It may be even be placed in the argument list of a call to a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Functions/functions.f90 for an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Break for Section 7 of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40</a:t>
            </a:fld>
            <a:endParaRPr lang="en-US"/>
          </a:p>
        </p:txBody>
      </p:sp>
    </p:spTree>
    <p:extLst>
      <p:ext uri="{BB962C8B-B14F-4D97-AF65-F5344CB8AC3E}">
        <p14:creationId xmlns:p14="http://schemas.microsoft.com/office/powerpoint/2010/main" val="1253590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function in Fortran can be defined to be “recursive”, meaning it is able to call itself. In this example, we have written a recursive function to calculate the factorial of a number. It does this by checking if the value is 0 or 1 (and so the factorial of the value is 1) and, if so, returning that value. If the value is larger, it calls itself to calculate the factorial of a value one lower than the current value, and multiplies it by the current value before returning the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Functions/recursive_functions.f90 for an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41</a:t>
            </a:fld>
            <a:endParaRPr lang="en-US"/>
          </a:p>
        </p:txBody>
      </p:sp>
    </p:spTree>
    <p:extLst>
      <p:ext uri="{BB962C8B-B14F-4D97-AF65-F5344CB8AC3E}">
        <p14:creationId xmlns:p14="http://schemas.microsoft.com/office/powerpoint/2010/main" val="10908166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using an array as an argument for a function or subroutine, it’s not necessary to specify the size of the array. By using one or more colons separated by commas in the dimension statement, it’s possible to specify the dimension, but not the size of an array argument. The function can then be called with an array of the appropriate size used as the argument.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Functions/deferred_size_arguments.f90 for an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42</a:t>
            </a:fld>
            <a:endParaRPr lang="en-US"/>
          </a:p>
        </p:txBody>
      </p:sp>
    </p:spTree>
    <p:extLst>
      <p:ext uri="{BB962C8B-B14F-4D97-AF65-F5344CB8AC3E}">
        <p14:creationId xmlns:p14="http://schemas.microsoft.com/office/powerpoint/2010/main" val="29656857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definition of a module begins with the word “module” and is followed by the name of the module. Following this are the declaration of so-called “global” variables. These variables are accessible from anywhere within this module (such as in functions or subroutines) or from any module which “uses” this module (more on that in the next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Next, comes the “contains” keyword. Following, any number of functions and/or subroutines may be defined. The end of the module specification is marked by the phrase “end module” and (optionally) the module name.</a:t>
            </a:r>
          </a:p>
        </p:txBody>
      </p:sp>
      <p:sp>
        <p:nvSpPr>
          <p:cNvPr id="4" name="Slide Number Placeholder 3"/>
          <p:cNvSpPr>
            <a:spLocks noGrp="1"/>
          </p:cNvSpPr>
          <p:nvPr>
            <p:ph type="sldNum" sz="quarter" idx="5"/>
          </p:nvPr>
        </p:nvSpPr>
        <p:spPr/>
        <p:txBody>
          <a:bodyPr/>
          <a:lstStyle/>
          <a:p>
            <a:fld id="{877663E2-27CE-4C79-91D3-7F5C4262D57F}" type="slidenum">
              <a:rPr lang="en-US" smtClean="0"/>
              <a:t>43</a:t>
            </a:fld>
            <a:endParaRPr lang="en-US"/>
          </a:p>
        </p:txBody>
      </p:sp>
    </p:spTree>
    <p:extLst>
      <p:ext uri="{BB962C8B-B14F-4D97-AF65-F5344CB8AC3E}">
        <p14:creationId xmlns:p14="http://schemas.microsoft.com/office/powerpoint/2010/main" val="25761729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make the content of a module usable elsewhere in code, it must be “used” from the place you wish to use it from. This is done by writing “use” and then the name of the module you wish to use. This can be in another module, or from in the main program. The “use” statement must come before any “implicit none” statement or variable declarations.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allows the module or program using the module to access any of the global variables declared or subroutines and functions defined in the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the directory “Importing Modules” for an example.</a:t>
            </a:r>
          </a:p>
        </p:txBody>
      </p:sp>
      <p:sp>
        <p:nvSpPr>
          <p:cNvPr id="4" name="Slide Number Placeholder 3"/>
          <p:cNvSpPr>
            <a:spLocks noGrp="1"/>
          </p:cNvSpPr>
          <p:nvPr>
            <p:ph type="sldNum" sz="quarter" idx="5"/>
          </p:nvPr>
        </p:nvSpPr>
        <p:spPr/>
        <p:txBody>
          <a:bodyPr/>
          <a:lstStyle/>
          <a:p>
            <a:fld id="{877663E2-27CE-4C79-91D3-7F5C4262D57F}" type="slidenum">
              <a:rPr lang="en-US" smtClean="0"/>
              <a:t>44</a:t>
            </a:fld>
            <a:endParaRPr lang="en-US"/>
          </a:p>
        </p:txBody>
      </p:sp>
    </p:spTree>
    <p:extLst>
      <p:ext uri="{BB962C8B-B14F-4D97-AF65-F5344CB8AC3E}">
        <p14:creationId xmlns:p14="http://schemas.microsoft.com/office/powerpoint/2010/main" val="41026665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Module A uses Module B and Module B uses Module C, the contents of Module C will also be available from Module A. In this case, importing Module C from Module A will not cause a problem, but won’t have any effect.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Module A uses Module B, Module B cannot use module A, either directly, or through a chain of modules using one another. This means careful planning can be required in complex projects to make sure the subroutines and functions are placed within appropriate modules which use each other in an appropriate pattern.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Break for Section 8 of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45</a:t>
            </a:fld>
            <a:endParaRPr lang="en-US"/>
          </a:p>
        </p:txBody>
      </p:sp>
    </p:spTree>
    <p:extLst>
      <p:ext uri="{BB962C8B-B14F-4D97-AF65-F5344CB8AC3E}">
        <p14:creationId xmlns:p14="http://schemas.microsoft.com/office/powerpoint/2010/main" val="1601626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two main types of error in Fortran (as in most compiled languages).</a:t>
            </a:r>
          </a:p>
          <a:p>
            <a:endParaRPr lang="en-GB" dirty="0"/>
          </a:p>
          <a:p>
            <a:r>
              <a:rPr lang="en-GB" dirty="0"/>
              <a:t>The first is a compilation error. This is where you have written something that is syntactically invalid and the problem is found when the compiler examines the source code. For instance, using an undeclared variable or starting a “do” loop but not using an “end do” would be examples of compilation errors because the compiler can work out the syntax is wrong from simply looking at the source code. Every compiler is slightly different and so compilation errors will be phrased differently by different compilers. In addition, some compilers may have more advanced logic and so may be able to spot different problems. Compilers may also provide warnings for things which aren’t technically wrong, but may be mistake the programmer has made, such as declaring a variable but never using it. Which warnings compilers display by default will vary from compiler to compiler and may be further toggled with compiler flags.</a:t>
            </a:r>
          </a:p>
          <a:p>
            <a:endParaRPr lang="en-GB" dirty="0"/>
          </a:p>
          <a:p>
            <a:r>
              <a:rPr lang="en-GB" dirty="0"/>
              <a:t>Run-time errors occur when the syntax of a code is correct, but there are problems when the code is run due to the values of particular variables. As the compiler doesn’t run the code, it cannot spot these problems. They can only be found by running the code, often with different variables and in different contexts in the case of a subroutine or function. A common run-time error is a “</a:t>
            </a:r>
            <a:r>
              <a:rPr lang="en-GB" dirty="0" err="1"/>
              <a:t>segfault</a:t>
            </a:r>
            <a:r>
              <a:rPr lang="en-GB" dirty="0"/>
              <a:t>”, which commonly occurs when you try to read from or to a piece of memory which isn’t allocated. For example, reading from an unallocated array, or writing to the fourth element of an array with three entries. This type of </a:t>
            </a:r>
            <a:r>
              <a:rPr lang="en-GB" dirty="0" err="1"/>
              <a:t>errordoes</a:t>
            </a:r>
            <a:r>
              <a:rPr lang="en-GB" dirty="0"/>
              <a:t> not always give a useful error message and so can be tricky to track down. In the worst cases, may not even be picked up on as the code runs and may simply cause “wrong” results. For many compilers, extra compilation options will put in explicit checks for such errors and will also be able to provide more useful error messages. An example would be the “-</a:t>
            </a:r>
            <a:r>
              <a:rPr lang="en-GB" dirty="0" err="1"/>
              <a:t>fcheck</a:t>
            </a:r>
            <a:r>
              <a:rPr lang="en-GB" dirty="0"/>
              <a:t>=bounds” option for </a:t>
            </a:r>
            <a:r>
              <a:rPr lang="en-GB" dirty="0" err="1"/>
              <a:t>gfortran</a:t>
            </a:r>
            <a:r>
              <a:rPr lang="en-GB" dirty="0"/>
              <a:t> would check for accessing an element of an array beyond the bounds of the array. There are also specialised tools such as </a:t>
            </a:r>
            <a:r>
              <a:rPr lang="en-GB" dirty="0" err="1"/>
              <a:t>valgrind</a:t>
            </a:r>
            <a:r>
              <a:rPr lang="en-GB" dirty="0"/>
              <a:t> </a:t>
            </a:r>
            <a:r>
              <a:rPr lang="en-GB" dirty="0">
                <a:hlinkClick r:id="rId3"/>
              </a:rPr>
              <a:t>https://valgrind.org/</a:t>
            </a:r>
            <a:r>
              <a:rPr lang="en-GB" dirty="0"/>
              <a:t> which perform detailed and helpful checks of many run-time errors. However, using debugging flags or external tools such as </a:t>
            </a:r>
            <a:r>
              <a:rPr lang="en-GB" dirty="0" err="1"/>
              <a:t>valgrind</a:t>
            </a:r>
            <a:r>
              <a:rPr lang="en-GB" dirty="0"/>
              <a:t> will slow down your code a lot. As a result, these tools are best used in the development phase of your project.</a:t>
            </a:r>
          </a:p>
          <a:p>
            <a:endParaRPr lang="en-GB" dirty="0"/>
          </a:p>
          <a:p>
            <a:r>
              <a:rPr lang="en-GB" dirty="0"/>
              <a:t>See the files Errors/run_time_errors1.f90, Errors/run_time_errors2.f90, and Errors/run_time_errors3.f90 for examples</a:t>
            </a:r>
          </a:p>
          <a:p>
            <a:endParaRPr lang="en-GB" dirty="0"/>
          </a:p>
          <a:p>
            <a:r>
              <a:rPr lang="en-GB" dirty="0"/>
              <a:t>Break for Section 9 of Problem Sheet</a:t>
            </a:r>
          </a:p>
        </p:txBody>
      </p:sp>
      <p:sp>
        <p:nvSpPr>
          <p:cNvPr id="4" name="Slide Number Placeholder 3"/>
          <p:cNvSpPr>
            <a:spLocks noGrp="1"/>
          </p:cNvSpPr>
          <p:nvPr>
            <p:ph type="sldNum" sz="quarter" idx="5"/>
          </p:nvPr>
        </p:nvSpPr>
        <p:spPr/>
        <p:txBody>
          <a:bodyPr/>
          <a:lstStyle/>
          <a:p>
            <a:fld id="{877663E2-27CE-4C79-91D3-7F5C4262D57F}" type="slidenum">
              <a:rPr lang="en-US" smtClean="0"/>
              <a:t>46</a:t>
            </a:fld>
            <a:endParaRPr lang="en-US"/>
          </a:p>
        </p:txBody>
      </p:sp>
    </p:spTree>
    <p:extLst>
      <p:ext uri="{BB962C8B-B14F-4D97-AF65-F5344CB8AC3E}">
        <p14:creationId xmlns:p14="http://schemas.microsoft.com/office/powerpoint/2010/main" val="21794491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Check Gotchas/gotchas.f90 for example of behaviour you might </a:t>
            </a:r>
            <a:r>
              <a:rPr lang="en-GB"/>
              <a:t>not expect.</a:t>
            </a: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47</a:t>
            </a:fld>
            <a:endParaRPr lang="en-US"/>
          </a:p>
        </p:txBody>
      </p:sp>
    </p:spTree>
    <p:extLst>
      <p:ext uri="{BB962C8B-B14F-4D97-AF65-F5344CB8AC3E}">
        <p14:creationId xmlns:p14="http://schemas.microsoft.com/office/powerpoint/2010/main" val="38130752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Check Gotchas/gotchas.f90 for example of behaviour you might </a:t>
            </a:r>
            <a:r>
              <a:rPr lang="en-GB"/>
              <a:t>not expect.</a:t>
            </a:r>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48</a:t>
            </a:fld>
            <a:endParaRPr lang="en-US"/>
          </a:p>
        </p:txBody>
      </p:sp>
    </p:spTree>
    <p:extLst>
      <p:ext uri="{BB962C8B-B14F-4D97-AF65-F5344CB8AC3E}">
        <p14:creationId xmlns:p14="http://schemas.microsoft.com/office/powerpoint/2010/main" val="33978403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877663E2-27CE-4C79-91D3-7F5C4262D57F}" type="slidenum">
              <a:rPr lang="en-US" smtClean="0"/>
              <a:t>49</a:t>
            </a:fld>
            <a:endParaRPr lang="en-US"/>
          </a:p>
        </p:txBody>
      </p:sp>
    </p:spTree>
    <p:extLst>
      <p:ext uri="{BB962C8B-B14F-4D97-AF65-F5344CB8AC3E}">
        <p14:creationId xmlns:p14="http://schemas.microsoft.com/office/powerpoint/2010/main" val="328910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3" name="Picture 2" descr="A group of women looking at a computer&#10;&#10;Description automatically generated">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45953376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49035571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19689454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8E19E-7C51-2D2C-254E-F363C418DE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30271" y="2417400"/>
            <a:ext cx="5765729" cy="1847942"/>
          </a:xfrm>
        </p:spPr>
        <p:txBody>
          <a:bodyPr anchor="b"/>
          <a:lstStyle>
            <a:lvl1pPr algn="l">
              <a:lnSpc>
                <a:spcPct val="80000"/>
              </a:lnSpc>
              <a:defRPr sz="5000">
                <a:solidFill>
                  <a:srgbClr val="98FB98"/>
                </a:solidFill>
              </a:defRPr>
            </a:lvl1pPr>
          </a:lstStyle>
          <a:p>
            <a:r>
              <a:rPr lang="en-GB" dirty="0"/>
              <a:t>Click to edit Master title style</a:t>
            </a:r>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30271" y="4448111"/>
            <a:ext cx="5765729" cy="1113560"/>
          </a:xfrm>
        </p:spPr>
        <p:txBody>
          <a:bodyPr/>
          <a:lstStyle>
            <a:lvl1pPr marL="0" indent="0" algn="l">
              <a:buNone/>
              <a:defRPr sz="2500">
                <a:solidFill>
                  <a:srgbClr val="98FB98"/>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7846486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77A567A4-7E6C-4258-A739-CDFE096FE298}"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rgbClr val="232333"/>
                </a:solidFill>
              </a:defRPr>
            </a:lvl1pPr>
            <a:lvl2pPr>
              <a:defRPr>
                <a:solidFill>
                  <a:srgbClr val="232333"/>
                </a:solidFill>
              </a:defRPr>
            </a:lvl2pPr>
            <a:lvl3pPr>
              <a:buClr>
                <a:srgbClr val="00FF7F"/>
              </a:buClr>
              <a:defRPr>
                <a:solidFill>
                  <a:srgbClr val="232333"/>
                </a:solidFill>
              </a:defRPr>
            </a:lvl3pPr>
            <a:lvl4pPr>
              <a:buClr>
                <a:srgbClr val="00FF7F"/>
              </a:buClr>
              <a:defRPr>
                <a:solidFill>
                  <a:srgbClr val="232333"/>
                </a:solidFill>
              </a:defRPr>
            </a:lvl4pPr>
            <a:lvl5pPr>
              <a:buClr>
                <a:srgbClr val="00FF7F"/>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EF267122-F2A0-493F-9503-B91EAC92A4A8}"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buClr>
                <a:srgbClr val="00FF7F"/>
              </a:buClr>
              <a:defRPr>
                <a:solidFill>
                  <a:srgbClr val="232333"/>
                </a:solidFill>
              </a:defRPr>
            </a:lvl1pPr>
            <a:lvl2pPr>
              <a:buClr>
                <a:srgbClr val="00FF7F"/>
              </a:buClr>
              <a:defRPr>
                <a:solidFill>
                  <a:srgbClr val="232333"/>
                </a:solidFill>
              </a:defRPr>
            </a:lvl2pPr>
            <a:lvl3pPr>
              <a:buClr>
                <a:srgbClr val="00FF7F"/>
              </a:buClr>
              <a:defRPr>
                <a:solidFill>
                  <a:srgbClr val="232333"/>
                </a:solidFill>
              </a:defRPr>
            </a:lvl3pPr>
            <a:lvl4pPr>
              <a:buClr>
                <a:srgbClr val="00FF7F"/>
              </a:buClr>
              <a:defRPr>
                <a:solidFill>
                  <a:srgbClr val="232333"/>
                </a:solidFill>
              </a:defRPr>
            </a:lvl4pPr>
            <a:lvl5pPr>
              <a:buClr>
                <a:srgbClr val="00FF7F"/>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98FB9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solidFill>
                  <a:srgbClr val="232333"/>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54C04FEB-BD28-43EB-99B6-C402968411E5}"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buClr>
                <a:srgbClr val="232333"/>
              </a:buClr>
              <a:defRPr>
                <a:solidFill>
                  <a:srgbClr val="232333"/>
                </a:solidFill>
              </a:defRPr>
            </a:lvl1pPr>
            <a:lvl2pPr>
              <a:buClr>
                <a:srgbClr val="232333"/>
              </a:buClr>
              <a:defRPr>
                <a:solidFill>
                  <a:srgbClr val="232333"/>
                </a:solidFill>
              </a:defRPr>
            </a:lvl2pPr>
            <a:lvl3pPr>
              <a:buClr>
                <a:srgbClr val="232333"/>
              </a:buClr>
              <a:defRPr>
                <a:solidFill>
                  <a:srgbClr val="232333"/>
                </a:solidFill>
              </a:defRPr>
            </a:lvl3pPr>
            <a:lvl4pPr>
              <a:buClr>
                <a:srgbClr val="232333"/>
              </a:buClr>
              <a:defRPr>
                <a:solidFill>
                  <a:srgbClr val="232333"/>
                </a:solidFill>
              </a:defRPr>
            </a:lvl4pPr>
            <a:lvl5pPr>
              <a:buClr>
                <a:srgbClr val="232333"/>
              </a:buClr>
              <a:defRPr>
                <a:solidFill>
                  <a:srgbClr val="232333"/>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rgbClr val="0064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fld id="{3FCFA596-EF70-43F5-9709-8482BAFAA7E0}" type="datetime1">
              <a:rPr lang="en-GB" smtClean="0"/>
              <a:t>09/10/2026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r>
              <a:rPr lang="en-GB"/>
              <a:t>Introduction to Fortran</a:t>
            </a:r>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32DA68FE-35E0-4C63-B55D-7E4144F39E69}"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Introduction to Fortran</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ACAE6301-47B1-4E38-A42E-FF88C8E2547E}"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Introduction to Fortran</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lvl3pPr>
              <a:buClr>
                <a:srgbClr val="006400"/>
              </a:buClr>
              <a:defRPr/>
            </a:lvl3pPr>
            <a:lvl4pPr>
              <a:buClr>
                <a:srgbClr val="006400"/>
              </a:buClr>
              <a:defRPr/>
            </a:lvl4pPr>
            <a:lvl5pPr>
              <a:buClr>
                <a:srgbClr val="006400"/>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60CE9BE8-7102-4F25-9608-875CE36DCE2C}" type="datetime1">
              <a:rPr lang="en-GB" smtClean="0"/>
              <a:t>09/10/2026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Introduction to Fortran</a:t>
            </a:r>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7FFE0D53-2649-4A6A-B728-0624D2A8C82F}"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Introduction to Fortran</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FF7F"/>
              </a:buClr>
              <a:defRPr/>
            </a:lvl3pPr>
            <a:lvl4pPr>
              <a:buClr>
                <a:srgbClr val="00FF7F"/>
              </a:buClr>
              <a:defRPr/>
            </a:lvl4pPr>
            <a:lvl5pPr>
              <a:buClr>
                <a:srgbClr val="00FF7F"/>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1E0F9E6D-467C-4E97-B6D3-4AEC11D733E3}"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Introduction to Fortran</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lvl3pPr>
              <a:buClr>
                <a:srgbClr val="006400"/>
              </a:buClr>
              <a:defRPr/>
            </a:lvl3pPr>
            <a:lvl4pPr>
              <a:buClr>
                <a:srgbClr val="006400"/>
              </a:buClr>
              <a:defRPr/>
            </a:lvl4pPr>
            <a:lvl5pPr>
              <a:buClr>
                <a:srgbClr val="006400"/>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6B814A64-A4A4-4D05-8C32-14D248CB5579}" type="datetime1">
              <a:rPr lang="en-GB" smtClean="0"/>
              <a:t>09/10/2026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Introduction to Fortran</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EF7AD603-E356-462E-8CD3-ACD880ADAC9C}"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F2FA34D9-5BC3-49E0-8995-8830C5E40F86}"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EA8A7FF5-6086-41FA-A1AC-70237306CE6F}"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B357A878-FC9F-4066-9AC7-68B8CF7A61B8}"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4723A53D-0705-4632-B587-1143AC72FBD3}"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rgbClr val="00FF7F"/>
              </a:buClr>
              <a:defRPr sz="1800"/>
            </a:lvl3pPr>
            <a:lvl4pPr rtl="0">
              <a:buClr>
                <a:srgbClr val="00FF7F"/>
              </a:buClr>
              <a:defRPr sz="1800"/>
            </a:lvl4pPr>
            <a:lvl5pPr rtl="0">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6816C2BA-1BDF-4758-AF67-EF9ECF794495}" type="datetime1">
              <a:rPr lang="en-GB" smtClean="0"/>
              <a:t>09/10/2026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buClr>
                <a:srgbClr val="006400"/>
              </a:buClr>
              <a:defRPr sz="1800"/>
            </a:lvl3pPr>
            <a:lvl4pPr rtl="0">
              <a:buClr>
                <a:srgbClr val="006400"/>
              </a:buClr>
              <a:defRPr sz="1800"/>
            </a:lvl4pPr>
            <a:lvl5pPr rtl="0">
              <a:buClr>
                <a:srgbClr val="006400"/>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buClr>
                <a:schemeClr val="accent6"/>
              </a:buClr>
              <a:defRPr sz="1800"/>
            </a:lvl3pPr>
            <a:lvl4pPr rtl="0">
              <a:buClr>
                <a:schemeClr val="accent6"/>
              </a:buClr>
              <a:defRPr sz="1800"/>
            </a:lvl4pPr>
            <a:lvl5pPr rtl="0">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buClr>
                <a:schemeClr val="accent6"/>
              </a:buClr>
              <a:defRPr sz="1800"/>
            </a:lvl3pPr>
            <a:lvl4pPr rtl="0">
              <a:buClr>
                <a:schemeClr val="accent6"/>
              </a:buClr>
              <a:defRPr sz="1800"/>
            </a:lvl4pPr>
            <a:lvl5pPr rtl="0">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5D5850D4-55A6-48B3-8EBA-06F44CE8ACE0}"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8BAE2621-AABD-4469-B26D-59098756F71C}"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98FB98">
            <a:alpha val="3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0877AD66-B699-406C-98B6-C6D40B69B665}" type="datetime1">
              <a:rPr lang="en-GB" smtClean="0"/>
              <a:t>09/10/2026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rgbClr val="98FB9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tx1"/>
                </a:solidFill>
              </a:defRPr>
            </a:lvl1pPr>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tx1"/>
                </a:solidFill>
              </a:defRPr>
            </a:lvl1pPr>
          </a:lstStyle>
          <a:p>
            <a:fld id="{1CBCC50E-5DC9-48F1-BD30-63FFB77F2CB5}" type="datetime1">
              <a:rPr lang="en-GB" smtClean="0"/>
              <a:t>09/10/2026</a:t>
            </a:fld>
            <a:endParaRPr lang="en-GB" dirty="0"/>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C0140273-5355-4941-A561-FEB1BF7807AA}"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221018807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FC4D92B1-2CEF-4B06-9391-EDDEEBE2192F}"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descr="A black and white image of two people&#10;&#10;Description automatically generated">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830" y="2321073"/>
            <a:ext cx="1786722" cy="1786722"/>
          </a:xfrm>
          <a:prstGeom prst="rect">
            <a:avLst/>
          </a:prstGeom>
        </p:spPr>
      </p:pic>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4A451508-E484-4BE6-BA12-C15123FC5E22}"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4619173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A68544DF-6A57-4FD8-AE5D-8F7A6A16674B}"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69077928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0163C9A6-2A3C-4EFB-AB7A-782D179938E9}"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341554246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5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51BD37BB-1143-4AD6-A6DE-870C5009A408}"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1861595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6_Section Header Blue">
    <p:bg>
      <p:bgPr>
        <a:solidFill>
          <a:srgbClr val="00FF7F"/>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tx1"/>
                </a:solidFill>
              </a:defRPr>
            </a:lvl1pPr>
          </a:lstStyle>
          <a:p>
            <a:fld id="{4E3F2BB6-F59A-4765-9282-DEDF930A58E5}" type="datetime1">
              <a:rPr lang="en-GB" smtClean="0"/>
              <a:t>09/10/2026</a:t>
            </a:fld>
            <a:endParaRPr lang="en-GB" dirty="0"/>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tx1"/>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tx1"/>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tx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hasCustomPrompt="1"/>
          </p:nvPr>
        </p:nvSpPr>
        <p:spPr>
          <a:xfrm>
            <a:off x="3032718" y="2505029"/>
            <a:ext cx="6700238" cy="2162664"/>
          </a:xfrm>
        </p:spPr>
        <p:txBody>
          <a:bodyPr anchor="t"/>
          <a:lstStyle>
            <a:lvl1pPr algn="l">
              <a:lnSpc>
                <a:spcPct val="80000"/>
              </a:lnSpc>
              <a:defRPr sz="5000">
                <a:solidFill>
                  <a:schemeClr val="tx1"/>
                </a:solidFill>
              </a:defRPr>
            </a:lvl1pPr>
          </a:lstStyle>
          <a:p>
            <a:r>
              <a:rPr lang="en-GB" dirty="0"/>
              <a:t>01</a:t>
            </a:r>
            <a:br>
              <a:rPr lang="en-GB" dirty="0"/>
            </a:br>
            <a:r>
              <a:rPr lang="en-GB" dirty="0"/>
              <a:t>Click to edit title style</a:t>
            </a:r>
          </a:p>
        </p:txBody>
      </p:sp>
      <p:pic>
        <p:nvPicPr>
          <p:cNvPr id="3" name="Picture 2">
            <a:extLst>
              <a:ext uri="{FF2B5EF4-FFF2-40B4-BE49-F238E27FC236}">
                <a16:creationId xmlns:a16="http://schemas.microsoft.com/office/drawing/2014/main" id="{F5A059B7-F8C4-DDAC-8831-8DEB45705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88830" y="2321073"/>
            <a:ext cx="1786722" cy="1786722"/>
          </a:xfrm>
          <a:prstGeom prst="rect">
            <a:avLst/>
          </a:prstGeom>
        </p:spPr>
      </p:pic>
    </p:spTree>
    <p:extLst>
      <p:ext uri="{BB962C8B-B14F-4D97-AF65-F5344CB8AC3E}">
        <p14:creationId xmlns:p14="http://schemas.microsoft.com/office/powerpoint/2010/main" val="161524026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267B220-D710-480A-9F0E-1B99697D4B76}"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lvl1pPr>
              <a:defRPr>
                <a:solidFill>
                  <a:schemeClr val="accent6"/>
                </a:solidFill>
              </a:defRPr>
            </a:lvl1pPr>
          </a:lstStyle>
          <a:p>
            <a:r>
              <a:rPr lang="en-GB" dirty="0"/>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463F635F-85CE-48F5-B29E-A69BA01F5913}"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3C09A8BF-1C0C-47E0-81BF-29E8EC8A04C0}"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tx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dirty="0"/>
              <a:t>Click to edit Master subtitle style</a:t>
            </a:r>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75705C4E-C301-49FE-817A-C72B8467D22C}"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D7F5417-1340-4936-893F-33FDA83AB755}"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875051"/>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8C2EAA56-45D2-4B0C-BE18-733F5D3F41E1}"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F8627E84-3412-4D77-8163-04EB81761086}"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928214"/>
          </a:xfrm>
        </p:spPr>
        <p:txBody>
          <a:bodyPr/>
          <a:lstStyle/>
          <a:p>
            <a:r>
              <a:rPr lang="en-GB" dirty="0"/>
              <a:t>Click to edit Master title style</a:t>
            </a:r>
            <a:endParaRPr lang="en-US" dirty="0"/>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07C0731-B05A-4708-851B-89F1301C65B4}"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1999"/>
            <a:ext cx="3600000" cy="1010017"/>
          </a:xfrm>
        </p:spPr>
        <p:txBody>
          <a:bodyPr/>
          <a:lstStyle/>
          <a:p>
            <a:r>
              <a:rPr lang="en-GB" dirty="0"/>
              <a:t>Click to edit Master title style</a:t>
            </a:r>
            <a:endParaRPr lang="en-US" dirty="0"/>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C2109FA-7EAB-446C-9425-99916FBF51F8}"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404CCB9A-3E6F-4E9E-9D03-9DE0FE512382}"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FBF7CCFE-73F6-489F-BB2C-970D664306E2}"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0CEBB5BF-8840-4120-8906-E582A74DA247}"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buClr>
                <a:schemeClr val="accent6"/>
              </a:buClr>
              <a:defRPr sz="1800"/>
            </a:lvl3pPr>
            <a:lvl4pPr>
              <a:buClr>
                <a:schemeClr val="accent6"/>
              </a:buClr>
              <a:defRPr sz="1800"/>
            </a:lvl4pPr>
            <a:lvl5pPr>
              <a:buClr>
                <a:schemeClr val="accent6"/>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A543189-0BC2-4A91-8403-4CC6A26329C2}"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4AD4B7D3-E1EC-48CA-BB38-F3BB3372FA79}"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FF7F"/>
              </a:buClr>
              <a:defRPr sz="1800"/>
            </a:lvl3pPr>
            <a:lvl4pPr>
              <a:buClr>
                <a:srgbClr val="00FF7F"/>
              </a:buClr>
              <a:defRPr sz="1800"/>
            </a:lvl4pPr>
            <a:lvl5pPr>
              <a:buClr>
                <a:srgbClr val="00FF7F"/>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DA41761-0263-40E9-8B43-FE05F2F266E9}" type="datetime1">
              <a:rPr lang="en-GB" smtClean="0"/>
              <a:t>09/10/2026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buClr>
                <a:srgbClr val="006400"/>
              </a:buClr>
              <a:defRPr sz="1800"/>
            </a:lvl3pPr>
            <a:lvl4pPr>
              <a:buClr>
                <a:srgbClr val="006400"/>
              </a:buClr>
              <a:defRPr sz="1800"/>
            </a:lvl4pPr>
            <a:lvl5pPr>
              <a:buClr>
                <a:srgbClr val="006400"/>
              </a:buCl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3FABE1CC-504A-41EA-8A0D-C0C11C5DAE8D}"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0B7FF3BA-8A3A-4FF6-8E38-6F0EF3689765}"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98FB98">
            <a:alpha val="30000"/>
          </a:srgb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1C4C0C84-A4AC-4F4E-85D7-49DC96D3608B}" type="datetime1">
              <a:rPr lang="en-GB" smtClean="0"/>
              <a:t>09/10/2026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r>
              <a:rPr lang="en-GB"/>
              <a:t>Introduction to Fortran</a:t>
            </a:r>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tx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tx1"/>
        </a:solidFill>
        <a:effectLst/>
      </p:bgPr>
    </p:bg>
    <p:spTree>
      <p:nvGrpSpPr>
        <p:cNvPr id="1" name=""/>
        <p:cNvGrpSpPr/>
        <p:nvPr/>
      </p:nvGrpSpPr>
      <p:grpSpPr>
        <a:xfrm>
          <a:off x="0" y="0"/>
          <a:ext cx="0" cy="0"/>
          <a:chOff x="0" y="0"/>
          <a:chExt cx="0" cy="0"/>
        </a:xfrm>
      </p:grpSpPr>
      <p:pic>
        <p:nvPicPr>
          <p:cNvPr id="12" name="Picture 11" descr="A green and black logo&#10;&#10;Description automatically generated">
            <a:extLst>
              <a:ext uri="{FF2B5EF4-FFF2-40B4-BE49-F238E27FC236}">
                <a16:creationId xmlns:a16="http://schemas.microsoft.com/office/drawing/2014/main" id="{98DBF964-2C27-A4D1-7AEE-2AE56263D6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0270" y="327819"/>
            <a:ext cx="11536293" cy="2212780"/>
          </a:xfrm>
          <a:prstGeom prst="rect">
            <a:avLst/>
          </a:prstGeom>
        </p:spPr>
      </p:pic>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30271" y="3338719"/>
            <a:ext cx="9144000" cy="1828406"/>
          </a:xfrm>
        </p:spPr>
        <p:txBody>
          <a:bodyPr anchor="t"/>
          <a:lstStyle>
            <a:lvl1pPr algn="l">
              <a:defRPr sz="6400">
                <a:solidFill>
                  <a:srgbClr val="98FB98"/>
                </a:solidFill>
              </a:defRPr>
            </a:lvl1pPr>
          </a:lstStyle>
          <a:p>
            <a:r>
              <a:rPr lang="en-GB" dirty="0"/>
              <a:t>Click to edit Master title style</a:t>
            </a:r>
          </a:p>
        </p:txBody>
      </p:sp>
      <p:pic>
        <p:nvPicPr>
          <p:cNvPr id="10" name="Picture 9">
            <a:extLst>
              <a:ext uri="{FF2B5EF4-FFF2-40B4-BE49-F238E27FC236}">
                <a16:creationId xmlns:a16="http://schemas.microsoft.com/office/drawing/2014/main" id="{C29DDF72-DF0B-FA74-2E07-D490692B3F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8188" y="327819"/>
            <a:ext cx="3964683" cy="1097237"/>
          </a:xfrm>
          <a:prstGeom prst="rect">
            <a:avLst/>
          </a:prstGeom>
        </p:spPr>
      </p:pic>
    </p:spTree>
    <p:extLst>
      <p:ext uri="{BB962C8B-B14F-4D97-AF65-F5344CB8AC3E}">
        <p14:creationId xmlns:p14="http://schemas.microsoft.com/office/powerpoint/2010/main" val="300092682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GB" dirty="0"/>
              <a:t>Click to edit Master title style</a:t>
            </a:r>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rgbClr val="232333"/>
                </a:solidFill>
              </a:defRPr>
            </a:lvl1pPr>
          </a:lstStyle>
          <a:p>
            <a:fld id="{BCC715E1-D0BB-4D3D-91B7-4007BDA25E50}" type="datetime1">
              <a:rPr lang="en-GB" smtClean="0"/>
              <a:t>09/10/2026</a:t>
            </a:fld>
            <a:endParaRPr lang="en-GB"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rgbClr val="232333"/>
                </a:solidFill>
              </a:defRPr>
            </a:lvl1pPr>
          </a:lstStyle>
          <a:p>
            <a:r>
              <a:rPr lang="en-GB"/>
              <a:t>Introduction to Fortran</a:t>
            </a:r>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rgbClr val="232333"/>
                </a:solidFill>
              </a:defRPr>
            </a:lvl1pPr>
          </a:lstStyle>
          <a:p>
            <a:fld id="{CBA53E11-492D-48B3-9F9B-09541CA2A39A}" type="slidenum">
              <a:rPr lang="en-GB" smtClean="0"/>
              <a:pPr/>
              <a:t>‹#›</a:t>
            </a:fld>
            <a:endParaRPr lang="en-GB"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rgbClr val="232333"/>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715" r:id="rId2"/>
    <p:sldLayoutId id="2147483716" r:id="rId3"/>
    <p:sldLayoutId id="2147483717" r:id="rId4"/>
    <p:sldLayoutId id="2147483718"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721" r:id="rId26"/>
    <p:sldLayoutId id="2147483666" r:id="rId27"/>
    <p:sldLayoutId id="2147483719" r:id="rId28"/>
    <p:sldLayoutId id="2147483720" r:id="rId29"/>
    <p:sldLayoutId id="2147483722" r:id="rId30"/>
    <p:sldLayoutId id="2147483723" r:id="rId31"/>
    <p:sldLayoutId id="2147483724" r:id="rId32"/>
    <p:sldLayoutId id="2147483661" r:id="rId33"/>
    <p:sldLayoutId id="2147483695" r:id="rId34"/>
    <p:sldLayoutId id="2147483696" r:id="rId35"/>
    <p:sldLayoutId id="2147483669" r:id="rId36"/>
    <p:sldLayoutId id="2147483697" r:id="rId37"/>
    <p:sldLayoutId id="2147483698" r:id="rId38"/>
    <p:sldLayoutId id="2147483678" r:id="rId39"/>
    <p:sldLayoutId id="2147483699" r:id="rId40"/>
    <p:sldLayoutId id="2147483700" r:id="rId41"/>
    <p:sldLayoutId id="2147483662" r:id="rId42"/>
    <p:sldLayoutId id="2147483701" r:id="rId43"/>
    <p:sldLayoutId id="2147483702" r:id="rId44"/>
    <p:sldLayoutId id="2147483663" r:id="rId45"/>
    <p:sldLayoutId id="2147483703" r:id="rId46"/>
    <p:sldLayoutId id="2147483704" r:id="rId47"/>
    <p:sldLayoutId id="2147483664" r:id="rId48"/>
    <p:sldLayoutId id="2147483705" r:id="rId49"/>
    <p:sldLayoutId id="2147483706" r:id="rId50"/>
    <p:sldLayoutId id="2147483665" r:id="rId51"/>
    <p:sldLayoutId id="2147483670" r:id="rId52"/>
    <p:sldLayoutId id="2147483673" r:id="rId53"/>
  </p:sldLayoutIdLst>
  <p:transition>
    <p:fade/>
  </p:transition>
  <p:hf hdr="0"/>
  <p:txStyles>
    <p:titleStyle>
      <a:lvl1pPr algn="l" defTabSz="685765" rtl="0" eaLnBrk="1" latinLnBrk="0" hangingPunct="1">
        <a:lnSpc>
          <a:spcPct val="90000"/>
        </a:lnSpc>
        <a:spcBef>
          <a:spcPct val="0"/>
        </a:spcBef>
        <a:buNone/>
        <a:defRPr sz="2600" b="1" kern="1200">
          <a:solidFill>
            <a:srgbClr val="006400"/>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hyperlink" Target="https://imperialcollegelondon.github.io/ReCoDE-home/exemplars/" TargetMode="External"/><Relationship Id="rId2" Type="http://schemas.openxmlformats.org/officeDocument/2006/relationships/notesSlide" Target="../notesSlides/notesSlide47.xml"/><Relationship Id="rId1" Type="http://schemas.openxmlformats.org/officeDocument/2006/relationships/slideLayout" Target="../slideLayouts/slideLayout10.xml"/><Relationship Id="rId6" Type="http://schemas.openxmlformats.org/officeDocument/2006/relationships/hyperlink" Target="https://imperialcollegelondon.github.io/ReCoDE_Diffusion_Code/" TargetMode="External"/><Relationship Id="rId5" Type="http://schemas.openxmlformats.org/officeDocument/2006/relationships/hyperlink" Target="https://imperialcollegelondon.github.io/ReCoDE-Turing-Patterns-and-Partial-Differential-Equations/" TargetMode="External"/><Relationship Id="rId4" Type="http://schemas.openxmlformats.org/officeDocument/2006/relationships/hyperlink" Target="https://imperialcollegelondon.github.io/ReCoDE-home/"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ecri.short.gy/feedback-fortran-intro" TargetMode="External"/><Relationship Id="rId2" Type="http://schemas.openxmlformats.org/officeDocument/2006/relationships/notesSlide" Target="../notesSlides/notesSlide48.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73C91-78F6-7FD7-669E-A1FEF5EAC302}"/>
              </a:ext>
            </a:extLst>
          </p:cNvPr>
          <p:cNvSpPr>
            <a:spLocks noGrp="1"/>
          </p:cNvSpPr>
          <p:nvPr>
            <p:ph type="ctrTitle"/>
          </p:nvPr>
        </p:nvSpPr>
        <p:spPr/>
        <p:txBody>
          <a:bodyPr/>
          <a:lstStyle/>
          <a:p>
            <a:r>
              <a:rPr lang="en-US" dirty="0"/>
              <a:t>Introduction to Fortran</a:t>
            </a:r>
          </a:p>
        </p:txBody>
      </p:sp>
      <p:sp>
        <p:nvSpPr>
          <p:cNvPr id="3" name="Subtitle 2">
            <a:extLst>
              <a:ext uri="{FF2B5EF4-FFF2-40B4-BE49-F238E27FC236}">
                <a16:creationId xmlns:a16="http://schemas.microsoft.com/office/drawing/2014/main" id="{C1E4D7A8-3CEC-9DE0-CCD4-3A1A94F609C4}"/>
              </a:ext>
            </a:extLst>
          </p:cNvPr>
          <p:cNvSpPr>
            <a:spLocks noGrp="1"/>
          </p:cNvSpPr>
          <p:nvPr>
            <p:ph type="subTitle" idx="1"/>
          </p:nvPr>
        </p:nvSpPr>
        <p:spPr/>
        <p:txBody>
          <a:bodyPr/>
          <a:lstStyle/>
          <a:p>
            <a:r>
              <a:rPr lang="en-GB" dirty="0"/>
              <a:t>Chris Cooling</a:t>
            </a:r>
          </a:p>
          <a:p>
            <a:r>
              <a:rPr lang="en-GB" dirty="0"/>
              <a:t>ECRI Senior Teaching Fellow</a:t>
            </a:r>
          </a:p>
          <a:p>
            <a:endParaRPr lang="en-US" dirty="0"/>
          </a:p>
          <a:p>
            <a:endParaRPr lang="en-US" dirty="0"/>
          </a:p>
        </p:txBody>
      </p:sp>
    </p:spTree>
    <p:extLst>
      <p:ext uri="{BB962C8B-B14F-4D97-AF65-F5344CB8AC3E}">
        <p14:creationId xmlns:p14="http://schemas.microsoft.com/office/powerpoint/2010/main" val="47414375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Important Information on Marking your Attendance on Inkpath</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7" y="1773239"/>
            <a:ext cx="11541125" cy="3608230"/>
          </a:xfrm>
        </p:spPr>
        <p:txBody>
          <a:bodyPr/>
          <a:lstStyle/>
          <a:p>
            <a:r>
              <a:rPr lang="en-GB" sz="3200" dirty="0"/>
              <a:t>I will show you a QR code at the end of the session allowing you to mark your attendance on Inkpath. Please do not mark your attendance until then.</a:t>
            </a:r>
            <a:br>
              <a:rPr lang="en-GB" sz="3200" dirty="0"/>
            </a:br>
            <a:br>
              <a:rPr lang="en-GB" sz="3200" dirty="0">
                <a:latin typeface="Calibri" panose="020F0502020204030204" pitchFamily="34" charset="0"/>
                <a:cs typeface="Calibri" panose="020F0502020204030204" pitchFamily="34" charset="0"/>
              </a:rPr>
            </a:br>
            <a:r>
              <a:rPr lang="en-US" sz="3200" dirty="0">
                <a:effectLst/>
                <a:ea typeface="Times New Roman" panose="02020603050405020304" pitchFamily="18" charset="0"/>
                <a:cs typeface="Calibri" panose="020F0502020204030204" pitchFamily="34" charset="0"/>
              </a:rPr>
              <a:t>If you are a Postgraduate Research student, this is required for receiving your ECRI professional development credit for this course.</a:t>
            </a:r>
            <a:endParaRPr lang="en-GB" sz="3200"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17C7E698-6411-43D8-BBAC-7FA3F2F21909}"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a:t>Introduction to Fortran</a:t>
            </a:r>
            <a:endParaRPr lang="en-GB" dirty="0"/>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a:t>
            </a:fld>
            <a:endParaRPr lang="en-GB"/>
          </a:p>
        </p:txBody>
      </p:sp>
    </p:spTree>
    <p:extLst>
      <p:ext uri="{BB962C8B-B14F-4D97-AF65-F5344CB8AC3E}">
        <p14:creationId xmlns:p14="http://schemas.microsoft.com/office/powerpoint/2010/main" val="24391869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US" dirty="0"/>
              <a:t>Learning Outcomes</a:t>
            </a:r>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8" y="1394619"/>
            <a:ext cx="11541125" cy="4866481"/>
          </a:xfrm>
        </p:spPr>
        <p:txBody>
          <a:bodyPr/>
          <a:lstStyle/>
          <a:p>
            <a:pPr marL="457200" lvl="0" indent="-457200">
              <a:buFont typeface="Arial" panose="020B0604020202020204" pitchFamily="34" charset="0"/>
              <a:buChar char="•"/>
            </a:pPr>
            <a:r>
              <a:rPr lang="en-GB" sz="3200" b="1" dirty="0"/>
              <a:t>Define</a:t>
            </a:r>
            <a:r>
              <a:rPr lang="en-GB" sz="3200" dirty="0"/>
              <a:t> the terms source file, compiler and executable,</a:t>
            </a:r>
          </a:p>
          <a:p>
            <a:pPr marL="457200" lvl="0" indent="-457200">
              <a:buFont typeface="Arial" panose="020B0604020202020204" pitchFamily="34" charset="0"/>
              <a:buChar char="•"/>
            </a:pPr>
            <a:r>
              <a:rPr lang="en-GB" sz="3200" b="1" dirty="0"/>
              <a:t>Use</a:t>
            </a:r>
            <a:r>
              <a:rPr lang="en-GB" sz="3200" dirty="0"/>
              <a:t> a compiler to create and run simple codes,</a:t>
            </a:r>
          </a:p>
          <a:p>
            <a:pPr marL="457200" lvl="0" indent="-457200">
              <a:buFont typeface="Arial" panose="020B0604020202020204" pitchFamily="34" charset="0"/>
              <a:buChar char="•"/>
            </a:pPr>
            <a:r>
              <a:rPr lang="en-GB" sz="3200" b="1" dirty="0"/>
              <a:t>Apply</a:t>
            </a:r>
            <a:r>
              <a:rPr lang="en-GB" sz="3200" dirty="0"/>
              <a:t> fundamental components of the Fortran language including variables, loops, conditionals and subroutines,</a:t>
            </a:r>
          </a:p>
          <a:p>
            <a:pPr marL="457200" lvl="0" indent="-457200">
              <a:buFont typeface="Arial" panose="020B0604020202020204" pitchFamily="34" charset="0"/>
              <a:buChar char="•"/>
            </a:pPr>
            <a:r>
              <a:rPr lang="en-GB" sz="3200" b="1" dirty="0"/>
              <a:t>Create</a:t>
            </a:r>
            <a:r>
              <a:rPr lang="en-GB" sz="3200" dirty="0"/>
              <a:t> programs designed to solve simple numerical problems</a:t>
            </a:r>
            <a:endParaRPr lang="en-GB" sz="3200" i="1" dirty="0"/>
          </a:p>
          <a:p>
            <a:pPr marL="457200" lvl="0" indent="-457200">
              <a:buFont typeface="Arial" panose="020B0604020202020204" pitchFamily="34" charset="0"/>
              <a:buChar char="•"/>
            </a:pPr>
            <a:r>
              <a:rPr lang="en-GB" sz="3200" b="1" dirty="0"/>
              <a:t>Interpret</a:t>
            </a:r>
            <a:r>
              <a:rPr lang="en-GB" sz="3200" dirty="0"/>
              <a:t> common compiler and run-time errors and use these to help debug a program</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a:t>
            </a:fld>
            <a:endParaRPr lang="en-GB"/>
          </a:p>
        </p:txBody>
      </p:sp>
    </p:spTree>
    <p:extLst>
      <p:ext uri="{BB962C8B-B14F-4D97-AF65-F5344CB8AC3E}">
        <p14:creationId xmlns:p14="http://schemas.microsoft.com/office/powerpoint/2010/main" val="164075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What is Coding?</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8" y="1394619"/>
            <a:ext cx="11541125" cy="4866481"/>
          </a:xfrm>
        </p:spPr>
        <p:txBody>
          <a:bodyPr/>
          <a:lstStyle/>
          <a:p>
            <a:pPr marL="457200" indent="-457200">
              <a:buFont typeface="Arial" panose="020B0604020202020204" pitchFamily="34" charset="0"/>
              <a:buChar char="•"/>
            </a:pPr>
            <a:r>
              <a:rPr lang="en-GB" sz="3000" dirty="0"/>
              <a:t>Writing instructions for a computer: a program</a:t>
            </a:r>
          </a:p>
          <a:p>
            <a:pPr marL="457200" indent="-457200">
              <a:buFont typeface="Arial" panose="020B0604020202020204" pitchFamily="34" charset="0"/>
              <a:buChar char="•"/>
            </a:pPr>
            <a:r>
              <a:rPr lang="en-GB" sz="3000" dirty="0"/>
              <a:t>Resulting calculations achieve a goal</a:t>
            </a:r>
          </a:p>
          <a:p>
            <a:pPr marL="457200" indent="-457200">
              <a:buFont typeface="Arial" panose="020B0604020202020204" pitchFamily="34" charset="0"/>
              <a:buChar char="•"/>
            </a:pPr>
            <a:r>
              <a:rPr lang="en-GB" sz="3000" dirty="0"/>
              <a:t>Good for automating laborious calculations</a:t>
            </a:r>
          </a:p>
          <a:p>
            <a:pPr marL="619191" lvl="2" indent="-457200"/>
            <a:r>
              <a:rPr lang="en-GB" sz="2600" dirty="0"/>
              <a:t>Simulation</a:t>
            </a:r>
          </a:p>
          <a:p>
            <a:pPr marL="619191" lvl="2" indent="-457200"/>
            <a:r>
              <a:rPr lang="en-GB" sz="2600" dirty="0"/>
              <a:t>Data Analysis</a:t>
            </a:r>
          </a:p>
          <a:p>
            <a:pPr marL="619191" lvl="2" indent="-457200"/>
            <a:r>
              <a:rPr lang="en-GB" sz="2600" dirty="0"/>
              <a:t>Real-time control of complex systems</a:t>
            </a:r>
          </a:p>
          <a:p>
            <a:pPr marL="619191" lvl="2" indent="-457200"/>
            <a:r>
              <a:rPr lang="en-GB" sz="2600" dirty="0"/>
              <a:t>Rapid iteration over several related cases</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a:t>
            </a:fld>
            <a:endParaRPr lang="en-GB"/>
          </a:p>
        </p:txBody>
      </p:sp>
    </p:spTree>
    <p:extLst>
      <p:ext uri="{BB962C8B-B14F-4D97-AF65-F5344CB8AC3E}">
        <p14:creationId xmlns:p14="http://schemas.microsoft.com/office/powerpoint/2010/main" val="6503684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How Do We Code?</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8" y="1394619"/>
            <a:ext cx="11541125" cy="4866481"/>
          </a:xfrm>
        </p:spPr>
        <p:txBody>
          <a:bodyPr/>
          <a:lstStyle/>
          <a:p>
            <a:pPr marL="457200" indent="-457200">
              <a:buFont typeface="Arial" panose="020B0604020202020204" pitchFamily="34" charset="0"/>
              <a:buChar char="•"/>
            </a:pPr>
            <a:r>
              <a:rPr lang="en-GB" sz="3000" dirty="0"/>
              <a:t>Design an algorithm which solves your problem</a:t>
            </a:r>
          </a:p>
          <a:p>
            <a:pPr marL="457200" indent="-457200">
              <a:buFont typeface="Arial" panose="020B0604020202020204" pitchFamily="34" charset="0"/>
              <a:buChar char="•"/>
            </a:pPr>
            <a:r>
              <a:rPr lang="en-GB" sz="3000" dirty="0"/>
              <a:t>Translate it into source code</a:t>
            </a:r>
          </a:p>
          <a:p>
            <a:pPr marL="457200" indent="-457200">
              <a:buFont typeface="Arial" panose="020B0604020202020204" pitchFamily="34" charset="0"/>
              <a:buChar char="•"/>
            </a:pPr>
            <a:r>
              <a:rPr lang="en-GB" sz="3000" dirty="0"/>
              <a:t>Instruct the computer to carry out the instructions of the source code</a:t>
            </a:r>
          </a:p>
          <a:p>
            <a:pPr marL="457200" indent="-457200">
              <a:buFont typeface="Arial" panose="020B0604020202020204" pitchFamily="34" charset="0"/>
              <a:buChar char="•"/>
            </a:pPr>
            <a:r>
              <a:rPr lang="en-GB" sz="3000" dirty="0"/>
              <a:t>Each step is language dependent</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5</a:t>
            </a:fld>
            <a:endParaRPr lang="en-GB"/>
          </a:p>
        </p:txBody>
      </p:sp>
    </p:spTree>
    <p:extLst>
      <p:ext uri="{BB962C8B-B14F-4D97-AF65-F5344CB8AC3E}">
        <p14:creationId xmlns:p14="http://schemas.microsoft.com/office/powerpoint/2010/main" val="349834672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What is Fortran?</a:t>
            </a:r>
            <a:endParaRPr lang="en-US" dirty="0"/>
          </a:p>
        </p:txBody>
      </p:sp>
      <p:sp>
        <p:nvSpPr>
          <p:cNvPr id="3" name="Content Placeholder 2">
            <a:extLst>
              <a:ext uri="{FF2B5EF4-FFF2-40B4-BE49-F238E27FC236}">
                <a16:creationId xmlns:a16="http://schemas.microsoft.com/office/drawing/2014/main" id="{3059243C-26C4-B42B-1D89-75DB3A5CA945}"/>
              </a:ext>
            </a:extLst>
          </p:cNvPr>
          <p:cNvSpPr>
            <a:spLocks noGrp="1"/>
          </p:cNvSpPr>
          <p:nvPr>
            <p:ph idx="1"/>
          </p:nvPr>
        </p:nvSpPr>
        <p:spPr>
          <a:xfrm>
            <a:off x="325439" y="1394619"/>
            <a:ext cx="6337690" cy="4866481"/>
          </a:xfrm>
        </p:spPr>
        <p:txBody>
          <a:bodyPr/>
          <a:lstStyle/>
          <a:p>
            <a:pPr marL="457200" indent="-457200">
              <a:buFont typeface="Arial" panose="020B0604020202020204" pitchFamily="34" charset="0"/>
              <a:buChar char="•"/>
            </a:pPr>
            <a:r>
              <a:rPr lang="en-GB" sz="3000" dirty="0"/>
              <a:t>A “general-purpose compiled programming language”</a:t>
            </a:r>
          </a:p>
          <a:p>
            <a:pPr marL="457200" indent="-457200">
              <a:buFont typeface="Arial" panose="020B0604020202020204" pitchFamily="34" charset="0"/>
              <a:buChar char="•"/>
            </a:pPr>
            <a:r>
              <a:rPr lang="en-GB" sz="3000" dirty="0"/>
              <a:t>Behaviour defined by Fortran Standards (e.g. FORTRAN 66, FORTRAN 77 Fortran 90, Fortran 2018)</a:t>
            </a:r>
          </a:p>
          <a:p>
            <a:pPr marL="457200" indent="-457200">
              <a:buFont typeface="Arial" panose="020B0604020202020204" pitchFamily="34" charset="0"/>
              <a:buChar char="•"/>
            </a:pPr>
            <a:r>
              <a:rPr lang="en-GB" sz="3000" dirty="0"/>
              <a:t>Originated in1956</a:t>
            </a:r>
          </a:p>
          <a:p>
            <a:pPr marL="457200" indent="-457200">
              <a:buFont typeface="Arial" panose="020B0604020202020204" pitchFamily="34" charset="0"/>
              <a:buChar char="•"/>
            </a:pPr>
            <a:r>
              <a:rPr lang="en-GB" sz="3000" dirty="0"/>
              <a:t>Lower-level than many languages</a:t>
            </a:r>
          </a:p>
          <a:p>
            <a:pPr marL="457200" indent="-457200">
              <a:buFont typeface="Arial" panose="020B0604020202020204" pitchFamily="34" charset="0"/>
              <a:buChar char="•"/>
            </a:pPr>
            <a:r>
              <a:rPr lang="en-GB" sz="3000" dirty="0"/>
              <a:t>Very well-suited for heavy numerical calculations</a:t>
            </a:r>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6</a:t>
            </a:fld>
            <a:endParaRPr lang="en-GB"/>
          </a:p>
        </p:txBody>
      </p:sp>
      <p:pic>
        <p:nvPicPr>
          <p:cNvPr id="4" name="Picture 2" descr="https://upload.wikimedia.org/wikipedia/commons/5/58/FortranCardPROJ039.agr.jpg">
            <a:extLst>
              <a:ext uri="{FF2B5EF4-FFF2-40B4-BE49-F238E27FC236}">
                <a16:creationId xmlns:a16="http://schemas.microsoft.com/office/drawing/2014/main" id="{274F5A2E-E462-9E35-580B-A7465582C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3129" y="2567135"/>
            <a:ext cx="5258342" cy="2521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5715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The Compiler</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7</a:t>
            </a:fld>
            <a:endParaRPr lang="en-GB"/>
          </a:p>
        </p:txBody>
      </p:sp>
      <p:graphicFrame>
        <p:nvGraphicFramePr>
          <p:cNvPr id="10" name="Table 9">
            <a:extLst>
              <a:ext uri="{FF2B5EF4-FFF2-40B4-BE49-F238E27FC236}">
                <a16:creationId xmlns:a16="http://schemas.microsoft.com/office/drawing/2014/main" id="{64CFDCD5-BBA9-6ED0-CD8F-D3A2C53B09CB}"/>
              </a:ext>
            </a:extLst>
          </p:cNvPr>
          <p:cNvGraphicFramePr>
            <a:graphicFrameLocks noGrp="1"/>
          </p:cNvGraphicFramePr>
          <p:nvPr>
            <p:extLst>
              <p:ext uri="{D42A27DB-BD31-4B8C-83A1-F6EECF244321}">
                <p14:modId xmlns:p14="http://schemas.microsoft.com/office/powerpoint/2010/main" val="4209183871"/>
              </p:ext>
            </p:extLst>
          </p:nvPr>
        </p:nvGraphicFramePr>
        <p:xfrm>
          <a:off x="2092506" y="2235503"/>
          <a:ext cx="7514895" cy="1645920"/>
        </p:xfrm>
        <a:graphic>
          <a:graphicData uri="http://schemas.openxmlformats.org/drawingml/2006/table">
            <a:tbl>
              <a:tblPr firstRow="1" bandRow="1">
                <a:tableStyleId>{5C22544A-7EE6-4342-B048-85BDC9FD1C3A}</a:tableStyleId>
              </a:tblPr>
              <a:tblGrid>
                <a:gridCol w="2504965">
                  <a:extLst>
                    <a:ext uri="{9D8B030D-6E8A-4147-A177-3AD203B41FA5}">
                      <a16:colId xmlns:a16="http://schemas.microsoft.com/office/drawing/2014/main" val="620446185"/>
                    </a:ext>
                  </a:extLst>
                </a:gridCol>
                <a:gridCol w="2504965">
                  <a:extLst>
                    <a:ext uri="{9D8B030D-6E8A-4147-A177-3AD203B41FA5}">
                      <a16:colId xmlns:a16="http://schemas.microsoft.com/office/drawing/2014/main" val="679079119"/>
                    </a:ext>
                  </a:extLst>
                </a:gridCol>
                <a:gridCol w="2504965">
                  <a:extLst>
                    <a:ext uri="{9D8B030D-6E8A-4147-A177-3AD203B41FA5}">
                      <a16:colId xmlns:a16="http://schemas.microsoft.com/office/drawing/2014/main" val="3331666545"/>
                    </a:ext>
                  </a:extLst>
                </a:gridCol>
              </a:tblGrid>
              <a:tr h="370840">
                <a:tc>
                  <a:txBody>
                    <a:bodyPr/>
                    <a:lstStyle/>
                    <a:p>
                      <a:r>
                        <a:rPr lang="en-GB" dirty="0"/>
                        <a:t>Fortran Instruction</a:t>
                      </a:r>
                    </a:p>
                  </a:txBody>
                  <a:tcPr/>
                </a:tc>
                <a:tc>
                  <a:txBody>
                    <a:bodyPr/>
                    <a:lstStyle/>
                    <a:p>
                      <a:r>
                        <a:rPr lang="en-GB" dirty="0"/>
                        <a:t>Assembly Language Instructions</a:t>
                      </a:r>
                    </a:p>
                  </a:txBody>
                  <a:tcPr/>
                </a:tc>
                <a:tc>
                  <a:txBody>
                    <a:bodyPr/>
                    <a:lstStyle/>
                    <a:p>
                      <a:r>
                        <a:rPr lang="en-GB" dirty="0"/>
                        <a:t>Machine Language Instructions</a:t>
                      </a:r>
                    </a:p>
                  </a:txBody>
                  <a:tcPr/>
                </a:tc>
                <a:extLst>
                  <a:ext uri="{0D108BD9-81ED-4DB2-BD59-A6C34878D82A}">
                    <a16:rowId xmlns:a16="http://schemas.microsoft.com/office/drawing/2014/main" val="2586946742"/>
                  </a:ext>
                </a:extLst>
              </a:tr>
              <a:tr h="370840">
                <a:tc>
                  <a:txBody>
                    <a:bodyPr/>
                    <a:lstStyle/>
                    <a:p>
                      <a:r>
                        <a:rPr lang="en-GB" dirty="0"/>
                        <a:t>D=X+Y+Z</a:t>
                      </a:r>
                    </a:p>
                  </a:txBody>
                  <a:tcPr/>
                </a:tc>
                <a:tc>
                  <a:txBody>
                    <a:bodyPr/>
                    <a:lstStyle/>
                    <a:p>
                      <a:r>
                        <a:rPr lang="en-GB" dirty="0"/>
                        <a:t>LDA X</a:t>
                      </a:r>
                    </a:p>
                    <a:p>
                      <a:r>
                        <a:rPr lang="en-GB" dirty="0"/>
                        <a:t>ADA Y</a:t>
                      </a:r>
                    </a:p>
                    <a:p>
                      <a:r>
                        <a:rPr lang="en-GB" dirty="0"/>
                        <a:t>ADA Z</a:t>
                      </a:r>
                    </a:p>
                    <a:p>
                      <a:r>
                        <a:rPr lang="en-GB" dirty="0"/>
                        <a:t>STA D</a:t>
                      </a:r>
                    </a:p>
                  </a:txBody>
                  <a:tcPr/>
                </a:tc>
                <a:tc>
                  <a:txBody>
                    <a:bodyPr/>
                    <a:lstStyle/>
                    <a:p>
                      <a:r>
                        <a:rPr lang="en-GB" dirty="0"/>
                        <a:t>0110 0011 0010 0001</a:t>
                      </a:r>
                    </a:p>
                    <a:p>
                      <a:r>
                        <a:rPr lang="en-GB" dirty="0"/>
                        <a:t>0100 0011 0010 0010 </a:t>
                      </a:r>
                    </a:p>
                    <a:p>
                      <a:r>
                        <a:rPr lang="en-GB" dirty="0"/>
                        <a:t>0100 0011 0010 0011</a:t>
                      </a:r>
                    </a:p>
                    <a:p>
                      <a:r>
                        <a:rPr lang="en-GB" dirty="0"/>
                        <a:t>0111 0011 0010 0100</a:t>
                      </a:r>
                    </a:p>
                  </a:txBody>
                  <a:tcPr/>
                </a:tc>
                <a:extLst>
                  <a:ext uri="{0D108BD9-81ED-4DB2-BD59-A6C34878D82A}">
                    <a16:rowId xmlns:a16="http://schemas.microsoft.com/office/drawing/2014/main" val="1602259348"/>
                  </a:ext>
                </a:extLst>
              </a:tr>
            </a:tbl>
          </a:graphicData>
        </a:graphic>
      </p:graphicFrame>
      <p:sp>
        <p:nvSpPr>
          <p:cNvPr id="11" name="Arrow: Curved Up 10">
            <a:extLst>
              <a:ext uri="{FF2B5EF4-FFF2-40B4-BE49-F238E27FC236}">
                <a16:creationId xmlns:a16="http://schemas.microsoft.com/office/drawing/2014/main" id="{AFF91950-1AA8-690D-E10C-C1EF24BD098A}"/>
              </a:ext>
            </a:extLst>
          </p:cNvPr>
          <p:cNvSpPr/>
          <p:nvPr/>
        </p:nvSpPr>
        <p:spPr>
          <a:xfrm>
            <a:off x="3048947" y="4191303"/>
            <a:ext cx="5990897" cy="1828800"/>
          </a:xfrm>
          <a:prstGeom prst="curved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
        <p:nvSpPr>
          <p:cNvPr id="12" name="TextBox 11">
            <a:extLst>
              <a:ext uri="{FF2B5EF4-FFF2-40B4-BE49-F238E27FC236}">
                <a16:creationId xmlns:a16="http://schemas.microsoft.com/office/drawing/2014/main" id="{03BB056E-FA4C-88CA-D889-84DCC65C5BDE}"/>
              </a:ext>
            </a:extLst>
          </p:cNvPr>
          <p:cNvSpPr txBox="1"/>
          <p:nvPr/>
        </p:nvSpPr>
        <p:spPr>
          <a:xfrm>
            <a:off x="4278657" y="5316106"/>
            <a:ext cx="3090041" cy="830997"/>
          </a:xfrm>
          <a:prstGeom prst="rect">
            <a:avLst/>
          </a:prstGeom>
          <a:solidFill>
            <a:schemeClr val="bg1"/>
          </a:solidFill>
          <a:ln>
            <a:solidFill>
              <a:schemeClr val="accent1"/>
            </a:solidFill>
          </a:ln>
        </p:spPr>
        <p:txBody>
          <a:bodyPr wrap="square" rtlCol="0">
            <a:spAutoFit/>
          </a:bodyPr>
          <a:lstStyle/>
          <a:p>
            <a:pPr algn="ctr"/>
            <a:r>
              <a:rPr lang="en-GB" sz="4800" dirty="0"/>
              <a:t>Compiler</a:t>
            </a:r>
          </a:p>
        </p:txBody>
      </p:sp>
      <p:sp>
        <p:nvSpPr>
          <p:cNvPr id="13" name="TextBox 12">
            <a:extLst>
              <a:ext uri="{FF2B5EF4-FFF2-40B4-BE49-F238E27FC236}">
                <a16:creationId xmlns:a16="http://schemas.microsoft.com/office/drawing/2014/main" id="{B68CDB8A-31BC-BAA4-F072-4F4279B6043A}"/>
              </a:ext>
            </a:extLst>
          </p:cNvPr>
          <p:cNvSpPr txBox="1"/>
          <p:nvPr/>
        </p:nvSpPr>
        <p:spPr>
          <a:xfrm>
            <a:off x="2229141" y="1463512"/>
            <a:ext cx="2238702" cy="523220"/>
          </a:xfrm>
          <a:prstGeom prst="rect">
            <a:avLst/>
          </a:prstGeom>
          <a:noFill/>
          <a:ln w="38100">
            <a:solidFill>
              <a:schemeClr val="accent1"/>
            </a:solidFill>
          </a:ln>
        </p:spPr>
        <p:txBody>
          <a:bodyPr wrap="square" rtlCol="0">
            <a:spAutoFit/>
          </a:bodyPr>
          <a:lstStyle/>
          <a:p>
            <a:r>
              <a:rPr lang="en-GB" sz="2800" dirty="0"/>
              <a:t>My_code.f90</a:t>
            </a:r>
          </a:p>
        </p:txBody>
      </p:sp>
      <p:sp>
        <p:nvSpPr>
          <p:cNvPr id="14" name="TextBox 13">
            <a:extLst>
              <a:ext uri="{FF2B5EF4-FFF2-40B4-BE49-F238E27FC236}">
                <a16:creationId xmlns:a16="http://schemas.microsoft.com/office/drawing/2014/main" id="{70584652-2811-EDBD-FC7A-0F10405A2352}"/>
              </a:ext>
            </a:extLst>
          </p:cNvPr>
          <p:cNvSpPr txBox="1"/>
          <p:nvPr/>
        </p:nvSpPr>
        <p:spPr>
          <a:xfrm>
            <a:off x="7179514" y="1463512"/>
            <a:ext cx="2375335" cy="523220"/>
          </a:xfrm>
          <a:prstGeom prst="rect">
            <a:avLst/>
          </a:prstGeom>
          <a:noFill/>
          <a:ln w="38100">
            <a:solidFill>
              <a:schemeClr val="accent1"/>
            </a:solidFill>
          </a:ln>
        </p:spPr>
        <p:txBody>
          <a:bodyPr wrap="square" rtlCol="0">
            <a:spAutoFit/>
          </a:bodyPr>
          <a:lstStyle/>
          <a:p>
            <a:r>
              <a:rPr lang="en-GB" sz="2800" dirty="0"/>
              <a:t>My_code.exe</a:t>
            </a:r>
          </a:p>
        </p:txBody>
      </p:sp>
      <p:sp>
        <p:nvSpPr>
          <p:cNvPr id="15" name="TextBox 14">
            <a:extLst>
              <a:ext uri="{FF2B5EF4-FFF2-40B4-BE49-F238E27FC236}">
                <a16:creationId xmlns:a16="http://schemas.microsoft.com/office/drawing/2014/main" id="{1ED331C2-96D3-8178-7327-27C9B5C17FA9}"/>
              </a:ext>
            </a:extLst>
          </p:cNvPr>
          <p:cNvSpPr txBox="1"/>
          <p:nvPr/>
        </p:nvSpPr>
        <p:spPr>
          <a:xfrm>
            <a:off x="7179514" y="876792"/>
            <a:ext cx="2375335" cy="523220"/>
          </a:xfrm>
          <a:prstGeom prst="rect">
            <a:avLst/>
          </a:prstGeom>
          <a:noFill/>
          <a:ln w="38100">
            <a:solidFill>
              <a:schemeClr val="accent1"/>
            </a:solidFill>
          </a:ln>
        </p:spPr>
        <p:txBody>
          <a:bodyPr wrap="square" rtlCol="0">
            <a:spAutoFit/>
          </a:bodyPr>
          <a:lstStyle/>
          <a:p>
            <a:r>
              <a:rPr lang="en-GB" sz="2800" dirty="0" err="1"/>
              <a:t>My_code.o</a:t>
            </a:r>
            <a:endParaRPr lang="en-GB" sz="2800" dirty="0"/>
          </a:p>
        </p:txBody>
      </p:sp>
    </p:spTree>
    <p:extLst>
      <p:ext uri="{BB962C8B-B14F-4D97-AF65-F5344CB8AC3E}">
        <p14:creationId xmlns:p14="http://schemas.microsoft.com/office/powerpoint/2010/main" val="13709848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The Compiler</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8</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409075"/>
            <a:ext cx="11549856" cy="4699417"/>
          </a:xfrm>
        </p:spPr>
        <p:txBody>
          <a:bodyPr>
            <a:normAutofit/>
          </a:bodyPr>
          <a:lstStyle/>
          <a:p>
            <a:pPr marL="457200" indent="-457200">
              <a:buFont typeface="Arial" panose="020B0604020202020204" pitchFamily="34" charset="0"/>
              <a:buChar char="•"/>
            </a:pPr>
            <a:r>
              <a:rPr lang="en-GB" sz="3000" dirty="0"/>
              <a:t>Scans code for syntax errors</a:t>
            </a:r>
          </a:p>
          <a:p>
            <a:pPr marL="457200" indent="-457200">
              <a:buFont typeface="Arial" panose="020B0604020202020204" pitchFamily="34" charset="0"/>
              <a:buChar char="•"/>
            </a:pPr>
            <a:r>
              <a:rPr lang="en-GB" sz="3000" dirty="0"/>
              <a:t>Optimises the code</a:t>
            </a:r>
          </a:p>
          <a:p>
            <a:pPr marL="457200" indent="-457200">
              <a:buFont typeface="Arial" panose="020B0604020202020204" pitchFamily="34" charset="0"/>
              <a:buChar char="•"/>
            </a:pPr>
            <a:r>
              <a:rPr lang="en-GB" sz="3000" dirty="0"/>
              <a:t>Creates machine code in the form of an object file or executable</a:t>
            </a:r>
          </a:p>
          <a:p>
            <a:pPr marL="457200" indent="-457200">
              <a:buFont typeface="Arial" panose="020B0604020202020204" pitchFamily="34" charset="0"/>
              <a:buChar char="•"/>
            </a:pPr>
            <a:r>
              <a:rPr lang="en-GB" sz="3000" dirty="0"/>
              <a:t>Does not:</a:t>
            </a:r>
          </a:p>
          <a:p>
            <a:pPr marL="619191" lvl="2" indent="-457200"/>
            <a:r>
              <a:rPr lang="en-GB" sz="2600" dirty="0"/>
              <a:t>Reveal run-time errors</a:t>
            </a:r>
          </a:p>
          <a:p>
            <a:pPr marL="619191" lvl="2" indent="-457200"/>
            <a:r>
              <a:rPr lang="en-GB" sz="2600" dirty="0"/>
              <a:t>Know what values will be used when the program is executed</a:t>
            </a:r>
          </a:p>
          <a:p>
            <a:pPr marL="619191" lvl="2" indent="-457200"/>
            <a:r>
              <a:rPr lang="en-GB" sz="2600" dirty="0"/>
              <a:t>Run any computations</a:t>
            </a:r>
          </a:p>
        </p:txBody>
      </p:sp>
    </p:spTree>
    <p:extLst>
      <p:ext uri="{BB962C8B-B14F-4D97-AF65-F5344CB8AC3E}">
        <p14:creationId xmlns:p14="http://schemas.microsoft.com/office/powerpoint/2010/main" val="286233638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Compilers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9</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154243"/>
            <a:ext cx="11549856" cy="4954249"/>
          </a:xfrm>
        </p:spPr>
        <p:txBody>
          <a:bodyPr>
            <a:normAutofit/>
          </a:bodyPr>
          <a:lstStyle/>
          <a:p>
            <a:pPr marL="457200" indent="-457200">
              <a:buFont typeface="Arial" panose="020B0604020202020204" pitchFamily="34" charset="0"/>
              <a:buChar char="•"/>
            </a:pPr>
            <a:r>
              <a:rPr lang="en-GB" sz="3000" dirty="0" err="1"/>
              <a:t>gfortran</a:t>
            </a:r>
            <a:endParaRPr lang="en-GB" sz="3000" dirty="0"/>
          </a:p>
          <a:p>
            <a:pPr marL="457200" indent="-457200">
              <a:buFont typeface="Arial" panose="020B0604020202020204" pitchFamily="34" charset="0"/>
              <a:buChar char="•"/>
            </a:pPr>
            <a:r>
              <a:rPr lang="en-GB" sz="3000" dirty="0"/>
              <a:t>PGI</a:t>
            </a:r>
          </a:p>
          <a:p>
            <a:pPr marL="457200" indent="-457200">
              <a:buFont typeface="Arial" panose="020B0604020202020204" pitchFamily="34" charset="0"/>
              <a:buChar char="•"/>
            </a:pPr>
            <a:r>
              <a:rPr lang="en-GB" sz="3000" dirty="0" err="1"/>
              <a:t>Absoft</a:t>
            </a:r>
            <a:endParaRPr lang="en-GB" sz="3000" dirty="0"/>
          </a:p>
          <a:p>
            <a:pPr marL="457200" indent="-457200">
              <a:buFont typeface="Arial" panose="020B0604020202020204" pitchFamily="34" charset="0"/>
              <a:buChar char="•"/>
            </a:pPr>
            <a:r>
              <a:rPr lang="en-GB" sz="3000" dirty="0" err="1"/>
              <a:t>Ifort</a:t>
            </a:r>
            <a:endParaRPr lang="en-GB" sz="3000" dirty="0"/>
          </a:p>
          <a:p>
            <a:pPr marL="457200" indent="-457200">
              <a:buFont typeface="Arial" panose="020B0604020202020204" pitchFamily="34" charset="0"/>
              <a:buChar char="•"/>
            </a:pPr>
            <a:r>
              <a:rPr lang="en-GB" sz="3000" dirty="0"/>
              <a:t>MinGW</a:t>
            </a:r>
          </a:p>
        </p:txBody>
      </p:sp>
    </p:spTree>
    <p:extLst>
      <p:ext uri="{BB962C8B-B14F-4D97-AF65-F5344CB8AC3E}">
        <p14:creationId xmlns:p14="http://schemas.microsoft.com/office/powerpoint/2010/main" val="4926348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Compilation Example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10</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386590"/>
            <a:ext cx="11549856" cy="4721902"/>
          </a:xfrm>
        </p:spPr>
        <p:txBody>
          <a:bodyPr>
            <a:normAutofit/>
          </a:bodyPr>
          <a:lstStyle/>
          <a:p>
            <a:pPr marL="457200" indent="-457200">
              <a:buFont typeface="Arial" panose="020B0604020202020204" pitchFamily="34" charset="0"/>
              <a:buChar char="•"/>
            </a:pPr>
            <a:r>
              <a:rPr lang="en-GB" sz="3000" dirty="0"/>
              <a:t>Single file:</a:t>
            </a:r>
          </a:p>
          <a:p>
            <a:pPr marL="619191" lvl="2" indent="-457200"/>
            <a:r>
              <a:rPr lang="en-GB" sz="2600" dirty="0" err="1"/>
              <a:t>gfortran</a:t>
            </a:r>
            <a:r>
              <a:rPr lang="en-GB" sz="2600" dirty="0"/>
              <a:t> –o </a:t>
            </a:r>
            <a:r>
              <a:rPr lang="en-GB" sz="2600" dirty="0" err="1"/>
              <a:t>executable_name</a:t>
            </a:r>
            <a:r>
              <a:rPr lang="en-GB" sz="2600" dirty="0"/>
              <a:t> source.f90</a:t>
            </a:r>
          </a:p>
          <a:p>
            <a:pPr marL="457200" indent="-457200">
              <a:buFont typeface="Arial" panose="020B0604020202020204" pitchFamily="34" charset="0"/>
              <a:buChar char="•"/>
            </a:pPr>
            <a:r>
              <a:rPr lang="en-GB" sz="3000" dirty="0"/>
              <a:t>Multiple files</a:t>
            </a:r>
          </a:p>
          <a:p>
            <a:pPr marL="619191" lvl="2" indent="-457200"/>
            <a:r>
              <a:rPr lang="en-GB" sz="2600" dirty="0" err="1"/>
              <a:t>gfortran</a:t>
            </a:r>
            <a:r>
              <a:rPr lang="en-GB" sz="2600" dirty="0"/>
              <a:t> –c source1.f90</a:t>
            </a:r>
          </a:p>
          <a:p>
            <a:pPr marL="619191" lvl="2" indent="-457200"/>
            <a:r>
              <a:rPr lang="en-GB" sz="2600" dirty="0" err="1"/>
              <a:t>gfortran</a:t>
            </a:r>
            <a:r>
              <a:rPr lang="en-GB" sz="2600" dirty="0"/>
              <a:t> –c source2.f90</a:t>
            </a:r>
          </a:p>
          <a:p>
            <a:pPr marL="619191" lvl="2" indent="-457200"/>
            <a:r>
              <a:rPr lang="en-GB" sz="2600" dirty="0" err="1"/>
              <a:t>gfortran</a:t>
            </a:r>
            <a:r>
              <a:rPr lang="en-GB" sz="2600" dirty="0"/>
              <a:t> –o </a:t>
            </a:r>
            <a:r>
              <a:rPr lang="en-GB" sz="2600" dirty="0" err="1"/>
              <a:t>executable_name</a:t>
            </a:r>
            <a:r>
              <a:rPr lang="en-GB" sz="2600" dirty="0"/>
              <a:t> source1.o source2.o</a:t>
            </a:r>
          </a:p>
        </p:txBody>
      </p:sp>
      <p:sp>
        <p:nvSpPr>
          <p:cNvPr id="4" name="TextBox 3">
            <a:extLst>
              <a:ext uri="{FF2B5EF4-FFF2-40B4-BE49-F238E27FC236}">
                <a16:creationId xmlns:a16="http://schemas.microsoft.com/office/drawing/2014/main" id="{B8846200-1CB5-F0BA-3F56-EAC79910A7C7}"/>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8" name="TextBox 7">
            <a:extLst>
              <a:ext uri="{FF2B5EF4-FFF2-40B4-BE49-F238E27FC236}">
                <a16:creationId xmlns:a16="http://schemas.microsoft.com/office/drawing/2014/main" id="{7595EE44-1F34-D7DB-EA76-6B59A5ABEACA}"/>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363683007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Compiler Flags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11</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2825646"/>
          </a:xfrm>
        </p:spPr>
        <p:txBody>
          <a:bodyPr>
            <a:normAutofit/>
          </a:bodyPr>
          <a:lstStyle/>
          <a:p>
            <a:pPr marL="342900" indent="-342900">
              <a:buFont typeface="Arial" panose="020B0604020202020204" pitchFamily="34" charset="0"/>
              <a:buChar char="•"/>
            </a:pPr>
            <a:r>
              <a:rPr lang="en-GB" sz="2400" dirty="0"/>
              <a:t>Most compilers allow the use of “flags”</a:t>
            </a:r>
          </a:p>
          <a:p>
            <a:pPr marL="342900" lvl="1" indent="-342900">
              <a:buFont typeface="Arial" panose="020B0604020202020204" pitchFamily="34" charset="0"/>
              <a:buChar char="•"/>
            </a:pPr>
            <a:r>
              <a:rPr lang="en-GB" sz="2400" dirty="0"/>
              <a:t>Control behaviour of compiler</a:t>
            </a:r>
          </a:p>
          <a:p>
            <a:pPr marL="342900" lvl="1" indent="-342900">
              <a:buFont typeface="Arial" panose="020B0604020202020204" pitchFamily="34" charset="0"/>
              <a:buChar char="•"/>
            </a:pPr>
            <a:r>
              <a:rPr lang="en-GB" sz="2400" dirty="0"/>
              <a:t>Compiler specific</a:t>
            </a:r>
          </a:p>
          <a:p>
            <a:pPr marL="342900" lvl="1" indent="-342900">
              <a:buFont typeface="Arial" panose="020B0604020202020204" pitchFamily="34" charset="0"/>
              <a:buChar char="•"/>
            </a:pPr>
            <a:r>
              <a:rPr lang="en-GB" sz="2400" dirty="0"/>
              <a:t>Order usually unimportant</a:t>
            </a:r>
          </a:p>
          <a:p>
            <a:pPr marL="342900" lvl="1" indent="-342900">
              <a:buFont typeface="Arial" panose="020B0604020202020204" pitchFamily="34" charset="0"/>
              <a:buChar char="•"/>
            </a:pPr>
            <a:r>
              <a:rPr lang="en-GB" sz="2400" dirty="0"/>
              <a:t>Many use, including:</a:t>
            </a:r>
          </a:p>
          <a:p>
            <a:pPr lvl="3"/>
            <a:r>
              <a:rPr lang="en-GB" sz="1800" dirty="0"/>
              <a:t>Give extra compilation warnings</a:t>
            </a:r>
          </a:p>
          <a:p>
            <a:pPr lvl="3"/>
            <a:r>
              <a:rPr lang="en-GB" sz="1800" dirty="0"/>
              <a:t>Allow the use of external libraries</a:t>
            </a:r>
          </a:p>
          <a:p>
            <a:pPr lvl="3"/>
            <a:r>
              <a:rPr lang="en-GB" sz="1800" dirty="0"/>
              <a:t>Set the aggressiveness of optimisation</a:t>
            </a:r>
          </a:p>
        </p:txBody>
      </p:sp>
      <p:grpSp>
        <p:nvGrpSpPr>
          <p:cNvPr id="19" name="Group 18">
            <a:extLst>
              <a:ext uri="{FF2B5EF4-FFF2-40B4-BE49-F238E27FC236}">
                <a16:creationId xmlns:a16="http://schemas.microsoft.com/office/drawing/2014/main" id="{93D3F2FA-678E-746B-2318-996358992078}"/>
              </a:ext>
            </a:extLst>
          </p:cNvPr>
          <p:cNvGrpSpPr/>
          <p:nvPr/>
        </p:nvGrpSpPr>
        <p:grpSpPr>
          <a:xfrm>
            <a:off x="2501318" y="4054840"/>
            <a:ext cx="7189364" cy="2046858"/>
            <a:chOff x="2215038" y="4171892"/>
            <a:chExt cx="7189364" cy="2046858"/>
          </a:xfrm>
        </p:grpSpPr>
        <p:sp>
          <p:nvSpPr>
            <p:cNvPr id="9" name="TextBox 8">
              <a:extLst>
                <a:ext uri="{FF2B5EF4-FFF2-40B4-BE49-F238E27FC236}">
                  <a16:creationId xmlns:a16="http://schemas.microsoft.com/office/drawing/2014/main" id="{5ABF131A-4E5B-F69E-C427-66B1BC696763}"/>
                </a:ext>
              </a:extLst>
            </p:cNvPr>
            <p:cNvSpPr txBox="1"/>
            <p:nvPr/>
          </p:nvSpPr>
          <p:spPr>
            <a:xfrm>
              <a:off x="2902935" y="4876350"/>
              <a:ext cx="6107185" cy="369332"/>
            </a:xfrm>
            <a:prstGeom prst="rect">
              <a:avLst/>
            </a:prstGeom>
            <a:noFill/>
          </p:spPr>
          <p:txBody>
            <a:bodyPr wrap="square" rtlCol="0">
              <a:spAutoFit/>
            </a:bodyPr>
            <a:lstStyle/>
            <a:p>
              <a:r>
                <a:rPr lang="en-GB" dirty="0" err="1"/>
                <a:t>gfortran</a:t>
              </a:r>
              <a:r>
                <a:rPr lang="en-GB" dirty="0"/>
                <a:t> –</a:t>
              </a:r>
              <a:r>
                <a:rPr lang="en-GB" dirty="0" err="1"/>
                <a:t>fopenmp</a:t>
              </a:r>
              <a:r>
                <a:rPr lang="en-GB" dirty="0"/>
                <a:t> –O3 –Wall -g –o example example.f90 </a:t>
              </a:r>
            </a:p>
          </p:txBody>
        </p:sp>
        <p:sp>
          <p:nvSpPr>
            <p:cNvPr id="10" name="TextBox 9">
              <a:extLst>
                <a:ext uri="{FF2B5EF4-FFF2-40B4-BE49-F238E27FC236}">
                  <a16:creationId xmlns:a16="http://schemas.microsoft.com/office/drawing/2014/main" id="{4176775E-D08E-8496-424F-F3C2301DE0AC}"/>
                </a:ext>
              </a:extLst>
            </p:cNvPr>
            <p:cNvSpPr txBox="1"/>
            <p:nvPr/>
          </p:nvSpPr>
          <p:spPr>
            <a:xfrm>
              <a:off x="2215038" y="4171892"/>
              <a:ext cx="2172748" cy="369332"/>
            </a:xfrm>
            <a:prstGeom prst="rect">
              <a:avLst/>
            </a:prstGeom>
            <a:noFill/>
          </p:spPr>
          <p:txBody>
            <a:bodyPr wrap="square" rtlCol="0">
              <a:spAutoFit/>
            </a:bodyPr>
            <a:lstStyle/>
            <a:p>
              <a:r>
                <a:rPr lang="en-GB" dirty="0"/>
                <a:t>Enables OpenMP</a:t>
              </a:r>
            </a:p>
          </p:txBody>
        </p:sp>
        <p:sp>
          <p:nvSpPr>
            <p:cNvPr id="11" name="TextBox 10">
              <a:extLst>
                <a:ext uri="{FF2B5EF4-FFF2-40B4-BE49-F238E27FC236}">
                  <a16:creationId xmlns:a16="http://schemas.microsoft.com/office/drawing/2014/main" id="{4E0C45F4-E339-70C9-0826-89EBEDCE342B}"/>
                </a:ext>
              </a:extLst>
            </p:cNvPr>
            <p:cNvSpPr txBox="1"/>
            <p:nvPr/>
          </p:nvSpPr>
          <p:spPr>
            <a:xfrm>
              <a:off x="3334968" y="5572419"/>
              <a:ext cx="2105636" cy="646331"/>
            </a:xfrm>
            <a:prstGeom prst="rect">
              <a:avLst/>
            </a:prstGeom>
            <a:noFill/>
          </p:spPr>
          <p:txBody>
            <a:bodyPr wrap="square" rtlCol="0">
              <a:spAutoFit/>
            </a:bodyPr>
            <a:lstStyle/>
            <a:p>
              <a:r>
                <a:rPr lang="en-GB" dirty="0"/>
                <a:t>Select highest optimisation</a:t>
              </a:r>
            </a:p>
          </p:txBody>
        </p:sp>
        <p:sp>
          <p:nvSpPr>
            <p:cNvPr id="12" name="TextBox 11">
              <a:extLst>
                <a:ext uri="{FF2B5EF4-FFF2-40B4-BE49-F238E27FC236}">
                  <a16:creationId xmlns:a16="http://schemas.microsoft.com/office/drawing/2014/main" id="{18742A83-D198-65ED-D7BE-B838B0B76AD3}"/>
                </a:ext>
              </a:extLst>
            </p:cNvPr>
            <p:cNvSpPr txBox="1"/>
            <p:nvPr/>
          </p:nvSpPr>
          <p:spPr>
            <a:xfrm>
              <a:off x="5008572" y="4200819"/>
              <a:ext cx="3766656" cy="369332"/>
            </a:xfrm>
            <a:prstGeom prst="rect">
              <a:avLst/>
            </a:prstGeom>
            <a:noFill/>
          </p:spPr>
          <p:txBody>
            <a:bodyPr wrap="square" rtlCol="0">
              <a:spAutoFit/>
            </a:bodyPr>
            <a:lstStyle/>
            <a:p>
              <a:r>
                <a:rPr lang="en-GB" dirty="0"/>
                <a:t>Ask for all compilation warnings</a:t>
              </a:r>
            </a:p>
          </p:txBody>
        </p:sp>
        <p:sp>
          <p:nvSpPr>
            <p:cNvPr id="13" name="TextBox 12">
              <a:extLst>
                <a:ext uri="{FF2B5EF4-FFF2-40B4-BE49-F238E27FC236}">
                  <a16:creationId xmlns:a16="http://schemas.microsoft.com/office/drawing/2014/main" id="{2D86DB33-9863-EB63-81EB-9FC92CA552EE}"/>
                </a:ext>
              </a:extLst>
            </p:cNvPr>
            <p:cNvSpPr txBox="1"/>
            <p:nvPr/>
          </p:nvSpPr>
          <p:spPr>
            <a:xfrm>
              <a:off x="6141085" y="5555641"/>
              <a:ext cx="3263317" cy="646331"/>
            </a:xfrm>
            <a:prstGeom prst="rect">
              <a:avLst/>
            </a:prstGeom>
            <a:noFill/>
          </p:spPr>
          <p:txBody>
            <a:bodyPr wrap="square" rtlCol="0">
              <a:spAutoFit/>
            </a:bodyPr>
            <a:lstStyle/>
            <a:p>
              <a:r>
                <a:rPr lang="en-GB" dirty="0"/>
                <a:t>Ask for extra debugging information for use with </a:t>
              </a:r>
              <a:r>
                <a:rPr lang="en-GB" dirty="0" err="1"/>
                <a:t>gdb</a:t>
              </a:r>
              <a:endParaRPr lang="en-GB" dirty="0"/>
            </a:p>
          </p:txBody>
        </p:sp>
        <p:cxnSp>
          <p:nvCxnSpPr>
            <p:cNvPr id="14" name="Straight Arrow Connector 13">
              <a:extLst>
                <a:ext uri="{FF2B5EF4-FFF2-40B4-BE49-F238E27FC236}">
                  <a16:creationId xmlns:a16="http://schemas.microsoft.com/office/drawing/2014/main" id="{F4F2A2EB-F24E-0D99-2C2E-3CD1DE4B35BE}"/>
                </a:ext>
              </a:extLst>
            </p:cNvPr>
            <p:cNvCxnSpPr>
              <a:stCxn id="10" idx="2"/>
            </p:cNvCxnSpPr>
            <p:nvPr/>
          </p:nvCxnSpPr>
          <p:spPr>
            <a:xfrm>
              <a:off x="3301412" y="4541224"/>
              <a:ext cx="977317" cy="3351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4B302C9-9F13-4FDE-D82F-60087064430D}"/>
                </a:ext>
              </a:extLst>
            </p:cNvPr>
            <p:cNvCxnSpPr>
              <a:stCxn id="11" idx="0"/>
            </p:cNvCxnSpPr>
            <p:nvPr/>
          </p:nvCxnSpPr>
          <p:spPr>
            <a:xfrm flipV="1">
              <a:off x="4387786" y="5174485"/>
              <a:ext cx="771787" cy="397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DB58FD8-F994-A9A7-1026-B1C3DCA36D12}"/>
                </a:ext>
              </a:extLst>
            </p:cNvPr>
            <p:cNvCxnSpPr>
              <a:stCxn id="12" idx="2"/>
            </p:cNvCxnSpPr>
            <p:nvPr/>
          </p:nvCxnSpPr>
          <p:spPr>
            <a:xfrm flipH="1">
              <a:off x="5780359" y="4570151"/>
              <a:ext cx="1111541" cy="358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7282B08-9CF9-A51E-356E-6E7C14875A1E}"/>
                </a:ext>
              </a:extLst>
            </p:cNvPr>
            <p:cNvCxnSpPr>
              <a:cxnSpLocks/>
              <a:stCxn id="13" idx="0"/>
            </p:cNvCxnSpPr>
            <p:nvPr/>
          </p:nvCxnSpPr>
          <p:spPr>
            <a:xfrm flipH="1" flipV="1">
              <a:off x="6212391" y="5245682"/>
              <a:ext cx="1560353" cy="3099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465756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My First Program</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12</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2825646"/>
          </a:xfrm>
        </p:spPr>
        <p:txBody>
          <a:bodyPr>
            <a:noAutofit/>
          </a:bodyPr>
          <a:lstStyle/>
          <a:p>
            <a:pPr marL="0" indent="0">
              <a:buNone/>
            </a:pPr>
            <a:r>
              <a:rPr lang="en-GB" sz="3200" dirty="0">
                <a:solidFill>
                  <a:schemeClr val="accent1"/>
                </a:solidFill>
              </a:rPr>
              <a:t>program</a:t>
            </a:r>
            <a:r>
              <a:rPr lang="en-GB" sz="3200" dirty="0"/>
              <a:t> </a:t>
            </a:r>
            <a:r>
              <a:rPr lang="en-GB" sz="3200" dirty="0" err="1"/>
              <a:t>program_name</a:t>
            </a:r>
            <a:endParaRPr lang="en-GB" sz="3200" dirty="0"/>
          </a:p>
          <a:p>
            <a:pPr marL="0" indent="0">
              <a:buNone/>
            </a:pPr>
            <a:endParaRPr lang="en-GB" sz="3200" dirty="0"/>
          </a:p>
          <a:p>
            <a:pPr marL="0" indent="0">
              <a:buNone/>
            </a:pPr>
            <a:r>
              <a:rPr lang="en-GB" sz="3200" dirty="0"/>
              <a:t>	</a:t>
            </a:r>
            <a:r>
              <a:rPr lang="en-GB" sz="3200" dirty="0">
                <a:solidFill>
                  <a:schemeClr val="accent6"/>
                </a:solidFill>
              </a:rPr>
              <a:t>! This is a comment</a:t>
            </a:r>
          </a:p>
          <a:p>
            <a:pPr marL="0" indent="0">
              <a:buNone/>
            </a:pPr>
            <a:endParaRPr lang="en-GB" sz="3200" dirty="0"/>
          </a:p>
          <a:p>
            <a:pPr marL="0" indent="0">
              <a:buNone/>
            </a:pPr>
            <a:r>
              <a:rPr lang="en-GB" sz="3200" dirty="0"/>
              <a:t>	</a:t>
            </a:r>
            <a:r>
              <a:rPr lang="en-GB" sz="3200" dirty="0">
                <a:solidFill>
                  <a:schemeClr val="accent1"/>
                </a:solidFill>
              </a:rPr>
              <a:t>print*</a:t>
            </a:r>
            <a:r>
              <a:rPr lang="en-GB" sz="3200" dirty="0"/>
              <a:t>,</a:t>
            </a:r>
            <a:r>
              <a:rPr lang="en-GB" sz="3200" dirty="0">
                <a:solidFill>
                  <a:schemeClr val="accent1"/>
                </a:solidFill>
              </a:rPr>
              <a:t> </a:t>
            </a:r>
            <a:r>
              <a:rPr lang="en-GB" sz="3200" dirty="0">
                <a:solidFill>
                  <a:schemeClr val="accent4"/>
                </a:solidFill>
              </a:rPr>
              <a:t>“Hello world” </a:t>
            </a:r>
            <a:r>
              <a:rPr lang="en-GB" sz="3200" dirty="0">
                <a:solidFill>
                  <a:schemeClr val="accent6"/>
                </a:solidFill>
              </a:rPr>
              <a:t>! I’ve just printed something!</a:t>
            </a:r>
          </a:p>
          <a:p>
            <a:pPr marL="0" indent="0">
              <a:buNone/>
            </a:pPr>
            <a:endParaRPr lang="en-GB" sz="3200" dirty="0"/>
          </a:p>
          <a:p>
            <a:pPr marL="0" indent="0">
              <a:buNone/>
            </a:pPr>
            <a:r>
              <a:rPr lang="en-GB" sz="3200" dirty="0">
                <a:solidFill>
                  <a:schemeClr val="accent1"/>
                </a:solidFill>
              </a:rPr>
              <a:t>end program</a:t>
            </a:r>
            <a:r>
              <a:rPr lang="en-GB" sz="3200" dirty="0"/>
              <a:t> </a:t>
            </a:r>
            <a:r>
              <a:rPr lang="en-GB" sz="3200" dirty="0" err="1"/>
              <a:t>program_name</a:t>
            </a:r>
            <a:endParaRPr lang="en-GB" sz="3200" dirty="0"/>
          </a:p>
        </p:txBody>
      </p:sp>
      <p:sp>
        <p:nvSpPr>
          <p:cNvPr id="4" name="TextBox 3">
            <a:extLst>
              <a:ext uri="{FF2B5EF4-FFF2-40B4-BE49-F238E27FC236}">
                <a16:creationId xmlns:a16="http://schemas.microsoft.com/office/drawing/2014/main" id="{86ECBA19-7598-B6F2-BC47-0EECF4A9A068}"/>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8" name="TextBox 7">
            <a:extLst>
              <a:ext uri="{FF2B5EF4-FFF2-40B4-BE49-F238E27FC236}">
                <a16:creationId xmlns:a16="http://schemas.microsoft.com/office/drawing/2014/main" id="{55F214A7-3D2D-312D-4686-A332005EA535}"/>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9190668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Variables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13</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3395272"/>
          </a:xfrm>
        </p:spPr>
        <p:txBody>
          <a:bodyPr>
            <a:noAutofit/>
          </a:bodyPr>
          <a:lstStyle/>
          <a:p>
            <a:pPr marL="457200" indent="-457200">
              <a:buFont typeface="Arial" panose="020B0604020202020204" pitchFamily="34" charset="0"/>
              <a:buChar char="•"/>
            </a:pPr>
            <a:r>
              <a:rPr lang="en-GB" sz="3000" dirty="0"/>
              <a:t>Variables are stored pieces of information within your code</a:t>
            </a:r>
          </a:p>
          <a:p>
            <a:pPr marL="457200" indent="-457200">
              <a:buFont typeface="Arial" panose="020B0604020202020204" pitchFamily="34" charset="0"/>
              <a:buChar char="•"/>
            </a:pPr>
            <a:r>
              <a:rPr lang="en-GB" sz="3000" dirty="0"/>
              <a:t>A variable has a label called the “variable name”</a:t>
            </a:r>
          </a:p>
          <a:p>
            <a:pPr marL="457200" indent="-457200">
              <a:buFont typeface="Arial" panose="020B0604020202020204" pitchFamily="34" charset="0"/>
              <a:buChar char="•"/>
            </a:pPr>
            <a:r>
              <a:rPr lang="en-GB" sz="3000" dirty="0"/>
              <a:t>Using the variable name, it is possible to assign a new value to a variable, or use the value stored in the variable for a calculation</a:t>
            </a:r>
          </a:p>
          <a:p>
            <a:pPr marL="457200" indent="-457200">
              <a:buFont typeface="Arial" panose="020B0604020202020204" pitchFamily="34" charset="0"/>
              <a:buChar char="•"/>
            </a:pPr>
            <a:r>
              <a:rPr lang="en-GB" sz="3000" dirty="0"/>
              <a:t>In Fortran, you must “declare” a variable before using it</a:t>
            </a:r>
          </a:p>
          <a:p>
            <a:pPr marL="619191" lvl="2" indent="-457200"/>
            <a:r>
              <a:rPr lang="en-GB" sz="2600" dirty="0"/>
              <a:t>Defines the name</a:t>
            </a:r>
          </a:p>
          <a:p>
            <a:pPr marL="619191" lvl="2" indent="-457200"/>
            <a:r>
              <a:rPr lang="en-GB" sz="2600" dirty="0"/>
              <a:t>Defines the type of value it may hold </a:t>
            </a:r>
          </a:p>
        </p:txBody>
      </p:sp>
    </p:spTree>
    <p:extLst>
      <p:ext uri="{BB962C8B-B14F-4D97-AF65-F5344CB8AC3E}">
        <p14:creationId xmlns:p14="http://schemas.microsoft.com/office/powerpoint/2010/main" val="338807436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Variables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14</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3395272"/>
          </a:xfrm>
        </p:spPr>
        <p:txBody>
          <a:bodyPr>
            <a:noAutofit/>
          </a:bodyPr>
          <a:lstStyle/>
          <a:p>
            <a:pPr marL="0" indent="0">
              <a:buNone/>
            </a:pPr>
            <a:r>
              <a:rPr lang="en-GB" sz="3600" dirty="0">
                <a:solidFill>
                  <a:schemeClr val="accent5"/>
                </a:solidFill>
              </a:rPr>
              <a:t>integer </a:t>
            </a:r>
            <a:r>
              <a:rPr lang="en-GB" sz="3600" dirty="0"/>
              <a:t>			::  int1, int2, int3</a:t>
            </a:r>
          </a:p>
          <a:p>
            <a:pPr marL="0" indent="0">
              <a:buNone/>
            </a:pPr>
            <a:r>
              <a:rPr lang="en-GB" sz="3600" dirty="0">
                <a:solidFill>
                  <a:schemeClr val="accent5"/>
                </a:solidFill>
              </a:rPr>
              <a:t>real</a:t>
            </a:r>
            <a:r>
              <a:rPr lang="en-GB" sz="3600" dirty="0"/>
              <a:t>    				::  real1</a:t>
            </a:r>
          </a:p>
          <a:p>
            <a:pPr marL="0" indent="0">
              <a:buNone/>
            </a:pPr>
            <a:r>
              <a:rPr lang="en-GB" sz="3600" dirty="0">
                <a:solidFill>
                  <a:schemeClr val="accent5"/>
                </a:solidFill>
              </a:rPr>
              <a:t>real </a:t>
            </a:r>
            <a:r>
              <a:rPr lang="en-GB" sz="3600" dirty="0"/>
              <a:t>   				::  real2</a:t>
            </a:r>
          </a:p>
          <a:p>
            <a:pPr marL="0" indent="0">
              <a:buNone/>
            </a:pPr>
            <a:r>
              <a:rPr lang="en-GB" sz="3600" dirty="0">
                <a:solidFill>
                  <a:schemeClr val="accent5"/>
                </a:solidFill>
              </a:rPr>
              <a:t>character</a:t>
            </a:r>
            <a:r>
              <a:rPr lang="en-GB" sz="3600" dirty="0"/>
              <a:t>(</a:t>
            </a:r>
            <a:r>
              <a:rPr lang="en-GB" sz="3600" dirty="0">
                <a:solidFill>
                  <a:schemeClr val="accent2"/>
                </a:solidFill>
              </a:rPr>
              <a:t>100</a:t>
            </a:r>
            <a:r>
              <a:rPr lang="en-GB" sz="3600" dirty="0"/>
              <a:t>)  	::  char1, char2</a:t>
            </a:r>
          </a:p>
          <a:p>
            <a:pPr marL="0" indent="0">
              <a:buNone/>
            </a:pPr>
            <a:endParaRPr lang="en-GB" sz="3600" dirty="0"/>
          </a:p>
          <a:p>
            <a:pPr marL="0" indent="0">
              <a:buNone/>
            </a:pPr>
            <a:r>
              <a:rPr lang="en-GB" sz="3600" dirty="0"/>
              <a:t>int1=</a:t>
            </a:r>
            <a:r>
              <a:rPr lang="en-GB" sz="3600" dirty="0">
                <a:solidFill>
                  <a:schemeClr val="accent2"/>
                </a:solidFill>
              </a:rPr>
              <a:t>1</a:t>
            </a:r>
          </a:p>
          <a:p>
            <a:pPr marL="0" indent="0">
              <a:buNone/>
            </a:pPr>
            <a:r>
              <a:rPr lang="en-GB" sz="3600" dirty="0"/>
              <a:t>int2=</a:t>
            </a:r>
            <a:r>
              <a:rPr lang="en-GB" sz="3600" dirty="0">
                <a:solidFill>
                  <a:schemeClr val="accent2"/>
                </a:solidFill>
              </a:rPr>
              <a:t>3</a:t>
            </a:r>
          </a:p>
          <a:p>
            <a:pPr marL="0" indent="0">
              <a:buNone/>
            </a:pPr>
            <a:r>
              <a:rPr lang="en-GB" sz="3600" dirty="0"/>
              <a:t>int3=int1+int2</a:t>
            </a:r>
          </a:p>
        </p:txBody>
      </p:sp>
      <p:sp>
        <p:nvSpPr>
          <p:cNvPr id="4" name="TextBox 3">
            <a:extLst>
              <a:ext uri="{FF2B5EF4-FFF2-40B4-BE49-F238E27FC236}">
                <a16:creationId xmlns:a16="http://schemas.microsoft.com/office/drawing/2014/main" id="{BB465009-09AA-C488-6E4D-00A542FAC18A}"/>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209920143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Variable Naming Rules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15</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4242216"/>
          </a:xfrm>
        </p:spPr>
        <p:txBody>
          <a:bodyPr>
            <a:noAutofit/>
          </a:bodyPr>
          <a:lstStyle/>
          <a:p>
            <a:pPr marL="457200" indent="-457200">
              <a:buFont typeface="Arial" panose="020B0604020202020204" pitchFamily="34" charset="0"/>
              <a:buChar char="•"/>
            </a:pPr>
            <a:r>
              <a:rPr lang="en-GB" sz="3000" dirty="0"/>
              <a:t>Must start with a letter</a:t>
            </a:r>
          </a:p>
          <a:p>
            <a:pPr marL="457200" indent="-457200">
              <a:buFont typeface="Arial" panose="020B0604020202020204" pitchFamily="34" charset="0"/>
              <a:buChar char="•"/>
            </a:pPr>
            <a:r>
              <a:rPr lang="en-GB" sz="3000" dirty="0"/>
              <a:t>Must contain only letters, numbers and underscores</a:t>
            </a:r>
          </a:p>
          <a:p>
            <a:pPr marL="457200" indent="-457200">
              <a:buFont typeface="Arial" panose="020B0604020202020204" pitchFamily="34" charset="0"/>
              <a:buChar char="•"/>
            </a:pPr>
            <a:r>
              <a:rPr lang="en-GB" sz="3000" dirty="0"/>
              <a:t>Case-insensitive</a:t>
            </a:r>
          </a:p>
          <a:p>
            <a:pPr marL="457200" indent="-457200">
              <a:buFont typeface="Arial" panose="020B0604020202020204" pitchFamily="34" charset="0"/>
              <a:buChar char="•"/>
            </a:pPr>
            <a:r>
              <a:rPr lang="en-GB" sz="3000" dirty="0"/>
              <a:t>Must be 31 characters or less</a:t>
            </a:r>
          </a:p>
          <a:p>
            <a:pPr marL="457200" indent="-457200">
              <a:buFont typeface="Arial" panose="020B0604020202020204" pitchFamily="34" charset="0"/>
              <a:buChar char="•"/>
            </a:pPr>
            <a:r>
              <a:rPr lang="en-GB" sz="3000" dirty="0"/>
              <a:t>By default, variables will be assumed to have a particular type if they haven’t been declared</a:t>
            </a:r>
          </a:p>
          <a:p>
            <a:pPr marL="619191" lvl="2" indent="-457200"/>
            <a:r>
              <a:rPr lang="en-GB" sz="2600" dirty="0"/>
              <a:t>A bad idea</a:t>
            </a:r>
          </a:p>
          <a:p>
            <a:pPr marL="619191" lvl="2" indent="-457200"/>
            <a:r>
              <a:rPr lang="en-GB" sz="2600" dirty="0"/>
              <a:t>Can be suppressed by writing “implicit none” at the top of the routine: do this every time</a:t>
            </a:r>
          </a:p>
        </p:txBody>
      </p:sp>
    </p:spTree>
    <p:extLst>
      <p:ext uri="{BB962C8B-B14F-4D97-AF65-F5344CB8AC3E}">
        <p14:creationId xmlns:p14="http://schemas.microsoft.com/office/powerpoint/2010/main" val="120483026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Assignment</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16</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4242216"/>
          </a:xfrm>
        </p:spPr>
        <p:txBody>
          <a:bodyPr>
            <a:noAutofit/>
          </a:bodyPr>
          <a:lstStyle/>
          <a:p>
            <a:pPr marL="457200" indent="-457200">
              <a:buFont typeface="Arial" panose="020B0604020202020204" pitchFamily="34" charset="0"/>
              <a:buChar char="•"/>
            </a:pPr>
            <a:r>
              <a:rPr lang="en-GB" sz="3000" dirty="0"/>
              <a:t>Uses the “=“ sign</a:t>
            </a:r>
          </a:p>
          <a:p>
            <a:pPr marL="457200" indent="-457200">
              <a:buFont typeface="Arial" panose="020B0604020202020204" pitchFamily="34" charset="0"/>
              <a:buChar char="•"/>
            </a:pPr>
            <a:r>
              <a:rPr lang="en-GB" sz="3000" dirty="0"/>
              <a:t>Different to equals sign in algebra</a:t>
            </a:r>
          </a:p>
          <a:p>
            <a:pPr marL="457200" lvl="1" indent="-457200">
              <a:buFont typeface="Arial" panose="020B0604020202020204" pitchFamily="34" charset="0"/>
              <a:buChar char="•"/>
            </a:pPr>
            <a:r>
              <a:rPr lang="en-GB" sz="2600" dirty="0"/>
              <a:t>Value on the right is calculated</a:t>
            </a:r>
          </a:p>
          <a:p>
            <a:pPr marL="619191" lvl="2" indent="-457200"/>
            <a:r>
              <a:rPr lang="en-GB" sz="2600" dirty="0"/>
              <a:t>Assigned to the variable whose variable name appears on the left</a:t>
            </a:r>
          </a:p>
          <a:p>
            <a:pPr marL="619191" lvl="2" indent="-457200"/>
            <a:r>
              <a:rPr lang="en-GB" sz="2600" dirty="0"/>
              <a:t>3=x is invalid</a:t>
            </a:r>
          </a:p>
          <a:p>
            <a:pPr marL="619191" lvl="2" indent="-457200"/>
            <a:r>
              <a:rPr lang="en-GB" sz="2600" dirty="0"/>
              <a:t>x=</a:t>
            </a:r>
            <a:r>
              <a:rPr lang="en-GB" sz="2600" dirty="0" err="1"/>
              <a:t>x+x</a:t>
            </a:r>
            <a:r>
              <a:rPr lang="en-GB" sz="2600" dirty="0"/>
              <a:t> is valid for all x</a:t>
            </a:r>
          </a:p>
          <a:p>
            <a:endParaRPr lang="en-GB" sz="3000" dirty="0"/>
          </a:p>
        </p:txBody>
      </p:sp>
    </p:spTree>
    <p:extLst>
      <p:ext uri="{BB962C8B-B14F-4D97-AF65-F5344CB8AC3E}">
        <p14:creationId xmlns:p14="http://schemas.microsoft.com/office/powerpoint/2010/main" val="11085948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Mathematical Operators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17</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1206708"/>
          </a:xfrm>
        </p:spPr>
        <p:txBody>
          <a:bodyPr>
            <a:noAutofit/>
          </a:bodyPr>
          <a:lstStyle/>
          <a:p>
            <a:pPr marL="457200" indent="-457200">
              <a:buFont typeface="Arial" panose="020B0604020202020204" pitchFamily="34" charset="0"/>
              <a:buChar char="•"/>
            </a:pPr>
            <a:r>
              <a:rPr lang="en-GB" sz="3000" dirty="0"/>
              <a:t>Operators can be used to calculate the values of mathematical operations</a:t>
            </a:r>
          </a:p>
        </p:txBody>
      </p:sp>
      <p:graphicFrame>
        <p:nvGraphicFramePr>
          <p:cNvPr id="4" name="Table 3">
            <a:extLst>
              <a:ext uri="{FF2B5EF4-FFF2-40B4-BE49-F238E27FC236}">
                <a16:creationId xmlns:a16="http://schemas.microsoft.com/office/drawing/2014/main" id="{49F002EE-F7B4-A54D-8796-A68257964AD7}"/>
              </a:ext>
            </a:extLst>
          </p:cNvPr>
          <p:cNvGraphicFramePr>
            <a:graphicFrameLocks noGrp="1"/>
          </p:cNvGraphicFramePr>
          <p:nvPr>
            <p:extLst>
              <p:ext uri="{D42A27DB-BD31-4B8C-83A1-F6EECF244321}">
                <p14:modId xmlns:p14="http://schemas.microsoft.com/office/powerpoint/2010/main" val="1123936998"/>
              </p:ext>
            </p:extLst>
          </p:nvPr>
        </p:nvGraphicFramePr>
        <p:xfrm>
          <a:off x="457200" y="2743200"/>
          <a:ext cx="11474969" cy="3386550"/>
        </p:xfrm>
        <a:graphic>
          <a:graphicData uri="http://schemas.openxmlformats.org/drawingml/2006/table">
            <a:tbl>
              <a:tblPr firstRow="1" bandRow="1">
                <a:tableStyleId>{5C22544A-7EE6-4342-B048-85BDC9FD1C3A}</a:tableStyleId>
              </a:tblPr>
              <a:tblGrid>
                <a:gridCol w="2529429">
                  <a:extLst>
                    <a:ext uri="{9D8B030D-6E8A-4147-A177-3AD203B41FA5}">
                      <a16:colId xmlns:a16="http://schemas.microsoft.com/office/drawing/2014/main" val="2842650198"/>
                    </a:ext>
                  </a:extLst>
                </a:gridCol>
                <a:gridCol w="1850800">
                  <a:extLst>
                    <a:ext uri="{9D8B030D-6E8A-4147-A177-3AD203B41FA5}">
                      <a16:colId xmlns:a16="http://schemas.microsoft.com/office/drawing/2014/main" val="1520776198"/>
                    </a:ext>
                  </a:extLst>
                </a:gridCol>
                <a:gridCol w="7094740">
                  <a:extLst>
                    <a:ext uri="{9D8B030D-6E8A-4147-A177-3AD203B41FA5}">
                      <a16:colId xmlns:a16="http://schemas.microsoft.com/office/drawing/2014/main" val="2294331910"/>
                    </a:ext>
                  </a:extLst>
                </a:gridCol>
              </a:tblGrid>
              <a:tr h="564425">
                <a:tc>
                  <a:txBody>
                    <a:bodyPr/>
                    <a:lstStyle/>
                    <a:p>
                      <a:r>
                        <a:rPr lang="en-US" dirty="0"/>
                        <a:t>Operator</a:t>
                      </a:r>
                    </a:p>
                  </a:txBody>
                  <a:tcPr/>
                </a:tc>
                <a:tc>
                  <a:txBody>
                    <a:bodyPr/>
                    <a:lstStyle/>
                    <a:p>
                      <a:r>
                        <a:rPr lang="en-US" dirty="0"/>
                        <a:t>Example</a:t>
                      </a:r>
                    </a:p>
                  </a:txBody>
                  <a:tcPr/>
                </a:tc>
                <a:tc>
                  <a:txBody>
                    <a:bodyPr/>
                    <a:lstStyle/>
                    <a:p>
                      <a:r>
                        <a:rPr lang="en-US" dirty="0"/>
                        <a:t>Effect</a:t>
                      </a:r>
                    </a:p>
                  </a:txBody>
                  <a:tcPr/>
                </a:tc>
                <a:extLst>
                  <a:ext uri="{0D108BD9-81ED-4DB2-BD59-A6C34878D82A}">
                    <a16:rowId xmlns:a16="http://schemas.microsoft.com/office/drawing/2014/main" val="492409429"/>
                  </a:ext>
                </a:extLst>
              </a:tr>
              <a:tr h="564425">
                <a:tc>
                  <a:txBody>
                    <a:bodyPr/>
                    <a:lstStyle/>
                    <a:p>
                      <a:r>
                        <a:rPr lang="en-US" dirty="0"/>
                        <a:t>Addition</a:t>
                      </a:r>
                    </a:p>
                  </a:txBody>
                  <a:tcPr/>
                </a:tc>
                <a:tc>
                  <a:txBody>
                    <a:bodyPr/>
                    <a:lstStyle/>
                    <a:p>
                      <a:r>
                        <a:rPr lang="en-US" dirty="0" err="1"/>
                        <a:t>a+b</a:t>
                      </a:r>
                      <a:endParaRPr lang="en-US" dirty="0"/>
                    </a:p>
                  </a:txBody>
                  <a:tcPr/>
                </a:tc>
                <a:tc>
                  <a:txBody>
                    <a:bodyPr/>
                    <a:lstStyle/>
                    <a:p>
                      <a:r>
                        <a:rPr lang="en-US" dirty="0"/>
                        <a:t>Returns the sum of a and b</a:t>
                      </a:r>
                    </a:p>
                  </a:txBody>
                  <a:tcPr/>
                </a:tc>
                <a:extLst>
                  <a:ext uri="{0D108BD9-81ED-4DB2-BD59-A6C34878D82A}">
                    <a16:rowId xmlns:a16="http://schemas.microsoft.com/office/drawing/2014/main" val="3351112251"/>
                  </a:ext>
                </a:extLst>
              </a:tr>
              <a:tr h="564425">
                <a:tc>
                  <a:txBody>
                    <a:bodyPr/>
                    <a:lstStyle/>
                    <a:p>
                      <a:r>
                        <a:rPr lang="en-US" dirty="0"/>
                        <a:t>Subtraction</a:t>
                      </a:r>
                    </a:p>
                  </a:txBody>
                  <a:tcPr/>
                </a:tc>
                <a:tc>
                  <a:txBody>
                    <a:bodyPr/>
                    <a:lstStyle/>
                    <a:p>
                      <a:r>
                        <a:rPr lang="en-US" dirty="0"/>
                        <a:t>a-b</a:t>
                      </a:r>
                    </a:p>
                  </a:txBody>
                  <a:tcPr/>
                </a:tc>
                <a:tc>
                  <a:txBody>
                    <a:bodyPr/>
                    <a:lstStyle/>
                    <a:p>
                      <a:r>
                        <a:rPr lang="en-US" dirty="0"/>
                        <a:t>Returns the amount b is less than a</a:t>
                      </a:r>
                    </a:p>
                  </a:txBody>
                  <a:tcPr/>
                </a:tc>
                <a:extLst>
                  <a:ext uri="{0D108BD9-81ED-4DB2-BD59-A6C34878D82A}">
                    <a16:rowId xmlns:a16="http://schemas.microsoft.com/office/drawing/2014/main" val="201766709"/>
                  </a:ext>
                </a:extLst>
              </a:tr>
              <a:tr h="564425">
                <a:tc>
                  <a:txBody>
                    <a:bodyPr/>
                    <a:lstStyle/>
                    <a:p>
                      <a:r>
                        <a:rPr lang="en-US" dirty="0"/>
                        <a:t>Division</a:t>
                      </a:r>
                    </a:p>
                  </a:txBody>
                  <a:tcPr/>
                </a:tc>
                <a:tc>
                  <a:txBody>
                    <a:bodyPr/>
                    <a:lstStyle/>
                    <a:p>
                      <a:r>
                        <a:rPr lang="en-US" dirty="0"/>
                        <a:t>a/b</a:t>
                      </a:r>
                    </a:p>
                  </a:txBody>
                  <a:tcPr/>
                </a:tc>
                <a:tc>
                  <a:txBody>
                    <a:bodyPr/>
                    <a:lstStyle/>
                    <a:p>
                      <a:r>
                        <a:rPr lang="en-US" dirty="0"/>
                        <a:t>Returns a divided by b (rounded toward zero if a and b are both integers)</a:t>
                      </a:r>
                    </a:p>
                  </a:txBody>
                  <a:tcPr/>
                </a:tc>
                <a:extLst>
                  <a:ext uri="{0D108BD9-81ED-4DB2-BD59-A6C34878D82A}">
                    <a16:rowId xmlns:a16="http://schemas.microsoft.com/office/drawing/2014/main" val="2718905147"/>
                  </a:ext>
                </a:extLst>
              </a:tr>
              <a:tr h="564425">
                <a:tc>
                  <a:txBody>
                    <a:bodyPr/>
                    <a:lstStyle/>
                    <a:p>
                      <a:r>
                        <a:rPr lang="en-US" dirty="0"/>
                        <a:t>Multiplication</a:t>
                      </a:r>
                    </a:p>
                  </a:txBody>
                  <a:tcPr/>
                </a:tc>
                <a:tc>
                  <a:txBody>
                    <a:bodyPr/>
                    <a:lstStyle/>
                    <a:p>
                      <a:r>
                        <a:rPr lang="en-US" dirty="0"/>
                        <a:t>a*b</a:t>
                      </a:r>
                    </a:p>
                  </a:txBody>
                  <a:tcPr/>
                </a:tc>
                <a:tc>
                  <a:txBody>
                    <a:bodyPr/>
                    <a:lstStyle/>
                    <a:p>
                      <a:r>
                        <a:rPr lang="en-US" dirty="0"/>
                        <a:t>Returns the product of a and b</a:t>
                      </a:r>
                    </a:p>
                  </a:txBody>
                  <a:tcPr/>
                </a:tc>
                <a:extLst>
                  <a:ext uri="{0D108BD9-81ED-4DB2-BD59-A6C34878D82A}">
                    <a16:rowId xmlns:a16="http://schemas.microsoft.com/office/drawing/2014/main" val="2627324450"/>
                  </a:ext>
                </a:extLst>
              </a:tr>
              <a:tr h="564425">
                <a:tc>
                  <a:txBody>
                    <a:bodyPr/>
                    <a:lstStyle/>
                    <a:p>
                      <a:r>
                        <a:rPr lang="en-US" dirty="0"/>
                        <a:t>Exponentiation</a:t>
                      </a:r>
                    </a:p>
                  </a:txBody>
                  <a:tcPr/>
                </a:tc>
                <a:tc>
                  <a:txBody>
                    <a:bodyPr/>
                    <a:lstStyle/>
                    <a:p>
                      <a:r>
                        <a:rPr lang="en-US" dirty="0"/>
                        <a:t>a**b</a:t>
                      </a:r>
                    </a:p>
                  </a:txBody>
                  <a:tcPr/>
                </a:tc>
                <a:tc>
                  <a:txBody>
                    <a:bodyPr/>
                    <a:lstStyle/>
                    <a:p>
                      <a:r>
                        <a:rPr lang="en-US" dirty="0"/>
                        <a:t>Returns the result of a to the power of b</a:t>
                      </a:r>
                    </a:p>
                  </a:txBody>
                  <a:tcPr/>
                </a:tc>
                <a:extLst>
                  <a:ext uri="{0D108BD9-81ED-4DB2-BD59-A6C34878D82A}">
                    <a16:rowId xmlns:a16="http://schemas.microsoft.com/office/drawing/2014/main" val="3345643632"/>
                  </a:ext>
                </a:extLst>
              </a:tr>
            </a:tbl>
          </a:graphicData>
        </a:graphic>
      </p:graphicFrame>
      <p:sp>
        <p:nvSpPr>
          <p:cNvPr id="8" name="TextBox 7">
            <a:extLst>
              <a:ext uri="{FF2B5EF4-FFF2-40B4-BE49-F238E27FC236}">
                <a16:creationId xmlns:a16="http://schemas.microsoft.com/office/drawing/2014/main" id="{D16C161C-A56C-C427-F95E-D663E99E25C1}"/>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9" name="TextBox 8">
            <a:extLst>
              <a:ext uri="{FF2B5EF4-FFF2-40B4-BE49-F238E27FC236}">
                <a16:creationId xmlns:a16="http://schemas.microsoft.com/office/drawing/2014/main" id="{649A0BA4-89F6-5DCB-AA98-7C5E9D06BD76}"/>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222463046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Order of Operations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18</a:t>
            </a:fld>
            <a:endParaRPr lang="en-GB"/>
          </a:p>
        </p:txBody>
      </p:sp>
      <p:sp>
        <p:nvSpPr>
          <p:cNvPr id="3" name="Content Placeholder 2">
            <a:extLst>
              <a:ext uri="{FF2B5EF4-FFF2-40B4-BE49-F238E27FC236}">
                <a16:creationId xmlns:a16="http://schemas.microsoft.com/office/drawing/2014/main" id="{C721DE20-D793-5101-4263-6B0AEF084494}"/>
              </a:ext>
            </a:extLst>
          </p:cNvPr>
          <p:cNvSpPr>
            <a:spLocks noGrp="1"/>
          </p:cNvSpPr>
          <p:nvPr>
            <p:ph idx="1"/>
          </p:nvPr>
        </p:nvSpPr>
        <p:spPr>
          <a:xfrm>
            <a:off x="325439" y="1229194"/>
            <a:ext cx="11549856" cy="1206708"/>
          </a:xfrm>
        </p:spPr>
        <p:txBody>
          <a:bodyPr>
            <a:noAutofit/>
          </a:bodyPr>
          <a:lstStyle/>
          <a:p>
            <a:pPr marL="457200" indent="-457200">
              <a:buFont typeface="Arial" panose="020B0604020202020204" pitchFamily="34" charset="0"/>
              <a:buChar char="•"/>
            </a:pPr>
            <a:r>
              <a:rPr lang="en-GB" sz="3200" dirty="0"/>
              <a:t>Operations follow the normal P-E-DM-AS order:</a:t>
            </a:r>
          </a:p>
        </p:txBody>
      </p:sp>
      <p:sp>
        <p:nvSpPr>
          <p:cNvPr id="9" name="TextBox 8">
            <a:extLst>
              <a:ext uri="{FF2B5EF4-FFF2-40B4-BE49-F238E27FC236}">
                <a16:creationId xmlns:a16="http://schemas.microsoft.com/office/drawing/2014/main" id="{649A0BA4-89F6-5DCB-AA98-7C5E9D06BD76}"/>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graphicFrame>
        <p:nvGraphicFramePr>
          <p:cNvPr id="10" name="Table 9">
            <a:extLst>
              <a:ext uri="{FF2B5EF4-FFF2-40B4-BE49-F238E27FC236}">
                <a16:creationId xmlns:a16="http://schemas.microsoft.com/office/drawing/2014/main" id="{35C43D64-E259-8D04-A44A-57BB85A9027A}"/>
              </a:ext>
            </a:extLst>
          </p:cNvPr>
          <p:cNvGraphicFramePr>
            <a:graphicFrameLocks noGrp="1"/>
          </p:cNvGraphicFramePr>
          <p:nvPr>
            <p:extLst>
              <p:ext uri="{D42A27DB-BD31-4B8C-83A1-F6EECF244321}">
                <p14:modId xmlns:p14="http://schemas.microsoft.com/office/powerpoint/2010/main" val="1354591593"/>
              </p:ext>
            </p:extLst>
          </p:nvPr>
        </p:nvGraphicFramePr>
        <p:xfrm>
          <a:off x="3522406" y="1978964"/>
          <a:ext cx="5147188" cy="1854200"/>
        </p:xfrm>
        <a:graphic>
          <a:graphicData uri="http://schemas.openxmlformats.org/drawingml/2006/table">
            <a:tbl>
              <a:tblPr firstRow="1" bandRow="1">
                <a:tableStyleId>{5C22544A-7EE6-4342-B048-85BDC9FD1C3A}</a:tableStyleId>
              </a:tblPr>
              <a:tblGrid>
                <a:gridCol w="2573594">
                  <a:extLst>
                    <a:ext uri="{9D8B030D-6E8A-4147-A177-3AD203B41FA5}">
                      <a16:colId xmlns:a16="http://schemas.microsoft.com/office/drawing/2014/main" val="2643627365"/>
                    </a:ext>
                  </a:extLst>
                </a:gridCol>
                <a:gridCol w="2573594">
                  <a:extLst>
                    <a:ext uri="{9D8B030D-6E8A-4147-A177-3AD203B41FA5}">
                      <a16:colId xmlns:a16="http://schemas.microsoft.com/office/drawing/2014/main" val="3021597726"/>
                    </a:ext>
                  </a:extLst>
                </a:gridCol>
              </a:tblGrid>
              <a:tr h="370840">
                <a:tc>
                  <a:txBody>
                    <a:bodyPr/>
                    <a:lstStyle/>
                    <a:p>
                      <a:r>
                        <a:rPr lang="en-US" dirty="0"/>
                        <a:t>Operators</a:t>
                      </a:r>
                    </a:p>
                  </a:txBody>
                  <a:tcPr/>
                </a:tc>
                <a:tc>
                  <a:txBody>
                    <a:bodyPr/>
                    <a:lstStyle/>
                    <a:p>
                      <a:r>
                        <a:rPr lang="en-US" dirty="0"/>
                        <a:t>Priority</a:t>
                      </a:r>
                    </a:p>
                  </a:txBody>
                  <a:tcPr/>
                </a:tc>
                <a:extLst>
                  <a:ext uri="{0D108BD9-81ED-4DB2-BD59-A6C34878D82A}">
                    <a16:rowId xmlns:a16="http://schemas.microsoft.com/office/drawing/2014/main" val="90011764"/>
                  </a:ext>
                </a:extLst>
              </a:tr>
              <a:tr h="370840">
                <a:tc>
                  <a:txBody>
                    <a:bodyPr/>
                    <a:lstStyle/>
                    <a:p>
                      <a:r>
                        <a:rPr lang="en-US" dirty="0"/>
                        <a:t>Parentheses</a:t>
                      </a:r>
                    </a:p>
                  </a:txBody>
                  <a:tcPr/>
                </a:tc>
                <a:tc>
                  <a:txBody>
                    <a:bodyPr/>
                    <a:lstStyle/>
                    <a:p>
                      <a:r>
                        <a:rPr lang="en-US" dirty="0"/>
                        <a:t>Inside to outside</a:t>
                      </a:r>
                    </a:p>
                  </a:txBody>
                  <a:tcPr/>
                </a:tc>
                <a:extLst>
                  <a:ext uri="{0D108BD9-81ED-4DB2-BD59-A6C34878D82A}">
                    <a16:rowId xmlns:a16="http://schemas.microsoft.com/office/drawing/2014/main" val="2232980088"/>
                  </a:ext>
                </a:extLst>
              </a:tr>
              <a:tr h="370840">
                <a:tc>
                  <a:txBody>
                    <a:bodyPr/>
                    <a:lstStyle/>
                    <a:p>
                      <a:r>
                        <a:rPr lang="en-US" dirty="0"/>
                        <a:t>Exponentiation</a:t>
                      </a:r>
                    </a:p>
                  </a:txBody>
                  <a:tcPr/>
                </a:tc>
                <a:tc>
                  <a:txBody>
                    <a:bodyPr/>
                    <a:lstStyle/>
                    <a:p>
                      <a:r>
                        <a:rPr lang="en-US" dirty="0"/>
                        <a:t>Right to left</a:t>
                      </a:r>
                    </a:p>
                  </a:txBody>
                  <a:tcPr/>
                </a:tc>
                <a:extLst>
                  <a:ext uri="{0D108BD9-81ED-4DB2-BD59-A6C34878D82A}">
                    <a16:rowId xmlns:a16="http://schemas.microsoft.com/office/drawing/2014/main" val="3630187029"/>
                  </a:ext>
                </a:extLst>
              </a:tr>
              <a:tr h="370840">
                <a:tc>
                  <a:txBody>
                    <a:bodyPr/>
                    <a:lstStyle/>
                    <a:p>
                      <a:r>
                        <a:rPr lang="en-US" dirty="0"/>
                        <a:t>Multiplication, division</a:t>
                      </a:r>
                    </a:p>
                  </a:txBody>
                  <a:tcPr/>
                </a:tc>
                <a:tc>
                  <a:txBody>
                    <a:bodyPr/>
                    <a:lstStyle/>
                    <a:p>
                      <a:r>
                        <a:rPr lang="en-US" dirty="0"/>
                        <a:t>Left to right</a:t>
                      </a:r>
                    </a:p>
                  </a:txBody>
                  <a:tcPr/>
                </a:tc>
                <a:extLst>
                  <a:ext uri="{0D108BD9-81ED-4DB2-BD59-A6C34878D82A}">
                    <a16:rowId xmlns:a16="http://schemas.microsoft.com/office/drawing/2014/main" val="1278026174"/>
                  </a:ext>
                </a:extLst>
              </a:tr>
              <a:tr h="370840">
                <a:tc>
                  <a:txBody>
                    <a:bodyPr/>
                    <a:lstStyle/>
                    <a:p>
                      <a:r>
                        <a:rPr lang="en-US" dirty="0"/>
                        <a:t>Addition, subtraction</a:t>
                      </a:r>
                    </a:p>
                  </a:txBody>
                  <a:tcPr/>
                </a:tc>
                <a:tc>
                  <a:txBody>
                    <a:bodyPr/>
                    <a:lstStyle/>
                    <a:p>
                      <a:r>
                        <a:rPr lang="en-US" dirty="0"/>
                        <a:t>Left to right</a:t>
                      </a:r>
                    </a:p>
                  </a:txBody>
                  <a:tcPr/>
                </a:tc>
                <a:extLst>
                  <a:ext uri="{0D108BD9-81ED-4DB2-BD59-A6C34878D82A}">
                    <a16:rowId xmlns:a16="http://schemas.microsoft.com/office/drawing/2014/main" val="405235141"/>
                  </a:ext>
                </a:extLst>
              </a:tr>
            </a:tbl>
          </a:graphicData>
        </a:graphic>
      </p:graphicFrame>
      <p:sp>
        <p:nvSpPr>
          <p:cNvPr id="11" name="TextBox 10">
            <a:extLst>
              <a:ext uri="{FF2B5EF4-FFF2-40B4-BE49-F238E27FC236}">
                <a16:creationId xmlns:a16="http://schemas.microsoft.com/office/drawing/2014/main" id="{3CE2047C-E83D-84F9-02C3-26704590B789}"/>
              </a:ext>
            </a:extLst>
          </p:cNvPr>
          <p:cNvSpPr txBox="1"/>
          <p:nvPr/>
        </p:nvSpPr>
        <p:spPr>
          <a:xfrm>
            <a:off x="517159" y="3833164"/>
            <a:ext cx="11358135" cy="2308324"/>
          </a:xfrm>
          <a:prstGeom prst="rect">
            <a:avLst/>
          </a:prstGeom>
          <a:noFill/>
        </p:spPr>
        <p:txBody>
          <a:bodyPr wrap="square" rtlCol="0">
            <a:spAutoFit/>
          </a:bodyPr>
          <a:lstStyle/>
          <a:p>
            <a:pPr marL="285750" indent="-285750">
              <a:buFont typeface="Arial" panose="020B0604020202020204" pitchFamily="34" charset="0"/>
              <a:buChar char="•"/>
            </a:pPr>
            <a:r>
              <a:rPr lang="en-US" dirty="0"/>
              <a:t>For example:</a:t>
            </a:r>
          </a:p>
          <a:p>
            <a:pPr marL="285750" indent="-285750">
              <a:buFont typeface="Arial" panose="020B0604020202020204" pitchFamily="34" charset="0"/>
              <a:buChar char="•"/>
            </a:pPr>
            <a:r>
              <a:rPr lang="en-US" dirty="0"/>
              <a:t>-2**2**3/(3*2+(4/2))</a:t>
            </a:r>
          </a:p>
          <a:p>
            <a:pPr marL="285750" indent="-285750">
              <a:buFont typeface="Arial" panose="020B0604020202020204" pitchFamily="34" charset="0"/>
              <a:buChar char="•"/>
            </a:pPr>
            <a:r>
              <a:rPr lang="en-US" dirty="0"/>
              <a:t>-2**2**3/(3*2+2)</a:t>
            </a:r>
          </a:p>
          <a:p>
            <a:pPr marL="285750" indent="-285750">
              <a:buFont typeface="Arial" panose="020B0604020202020204" pitchFamily="34" charset="0"/>
              <a:buChar char="•"/>
            </a:pPr>
            <a:r>
              <a:rPr lang="en-US" dirty="0"/>
              <a:t>-2**2**3/(6+2)</a:t>
            </a:r>
          </a:p>
          <a:p>
            <a:pPr marL="285750" indent="-285750">
              <a:buFont typeface="Arial" panose="020B0604020202020204" pitchFamily="34" charset="0"/>
              <a:buChar char="•"/>
            </a:pPr>
            <a:r>
              <a:rPr lang="en-US" dirty="0"/>
              <a:t>-2**2**3/8</a:t>
            </a:r>
          </a:p>
          <a:p>
            <a:pPr marL="285750" indent="-285750">
              <a:buFont typeface="Arial" panose="020B0604020202020204" pitchFamily="34" charset="0"/>
              <a:buChar char="•"/>
            </a:pPr>
            <a:r>
              <a:rPr lang="en-US" dirty="0"/>
              <a:t>-2**8/8</a:t>
            </a:r>
          </a:p>
          <a:p>
            <a:pPr marL="285750" indent="-285750">
              <a:buFont typeface="Arial" panose="020B0604020202020204" pitchFamily="34" charset="0"/>
              <a:buChar char="•"/>
            </a:pPr>
            <a:r>
              <a:rPr lang="en-US" dirty="0"/>
              <a:t>-256/8</a:t>
            </a:r>
          </a:p>
          <a:p>
            <a:pPr marL="285750" indent="-285750">
              <a:buFont typeface="Arial" panose="020B0604020202020204" pitchFamily="34" charset="0"/>
              <a:buChar char="•"/>
            </a:pPr>
            <a:r>
              <a:rPr lang="en-US" dirty="0"/>
              <a:t>-32</a:t>
            </a:r>
          </a:p>
        </p:txBody>
      </p:sp>
    </p:spTree>
    <p:extLst>
      <p:ext uri="{BB962C8B-B14F-4D97-AF65-F5344CB8AC3E}">
        <p14:creationId xmlns:p14="http://schemas.microsoft.com/office/powerpoint/2010/main" val="384765915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Mathematical Operators II</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19</a:t>
            </a:fld>
            <a:endParaRPr lang="en-GB"/>
          </a:p>
        </p:txBody>
      </p:sp>
      <p:sp>
        <p:nvSpPr>
          <p:cNvPr id="8" name="TextBox 7">
            <a:extLst>
              <a:ext uri="{FF2B5EF4-FFF2-40B4-BE49-F238E27FC236}">
                <a16:creationId xmlns:a16="http://schemas.microsoft.com/office/drawing/2014/main" id="{D16C161C-A56C-C427-F95E-D663E99E25C1}"/>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graphicFrame>
        <p:nvGraphicFramePr>
          <p:cNvPr id="12" name="Table 11">
            <a:extLst>
              <a:ext uri="{FF2B5EF4-FFF2-40B4-BE49-F238E27FC236}">
                <a16:creationId xmlns:a16="http://schemas.microsoft.com/office/drawing/2014/main" id="{5CBA93B7-2C18-B34A-C476-55D1B1323A5E}"/>
              </a:ext>
            </a:extLst>
          </p:cNvPr>
          <p:cNvGraphicFramePr>
            <a:graphicFrameLocks noGrp="1"/>
          </p:cNvGraphicFramePr>
          <p:nvPr>
            <p:extLst>
              <p:ext uri="{D42A27DB-BD31-4B8C-83A1-F6EECF244321}">
                <p14:modId xmlns:p14="http://schemas.microsoft.com/office/powerpoint/2010/main" val="1148347032"/>
              </p:ext>
            </p:extLst>
          </p:nvPr>
        </p:nvGraphicFramePr>
        <p:xfrm>
          <a:off x="325438" y="1271753"/>
          <a:ext cx="11541125" cy="4698078"/>
        </p:xfrm>
        <a:graphic>
          <a:graphicData uri="http://schemas.openxmlformats.org/drawingml/2006/table">
            <a:tbl>
              <a:tblPr firstRow="1" bandRow="1">
                <a:tableStyleId>{5C22544A-7EE6-4342-B048-85BDC9FD1C3A}</a:tableStyleId>
              </a:tblPr>
              <a:tblGrid>
                <a:gridCol w="2627624">
                  <a:extLst>
                    <a:ext uri="{9D8B030D-6E8A-4147-A177-3AD203B41FA5}">
                      <a16:colId xmlns:a16="http://schemas.microsoft.com/office/drawing/2014/main" val="2842650198"/>
                    </a:ext>
                  </a:extLst>
                </a:gridCol>
                <a:gridCol w="1993248">
                  <a:extLst>
                    <a:ext uri="{9D8B030D-6E8A-4147-A177-3AD203B41FA5}">
                      <a16:colId xmlns:a16="http://schemas.microsoft.com/office/drawing/2014/main" val="1520776198"/>
                    </a:ext>
                  </a:extLst>
                </a:gridCol>
                <a:gridCol w="6920253">
                  <a:extLst>
                    <a:ext uri="{9D8B030D-6E8A-4147-A177-3AD203B41FA5}">
                      <a16:colId xmlns:a16="http://schemas.microsoft.com/office/drawing/2014/main" val="2294331910"/>
                    </a:ext>
                  </a:extLst>
                </a:gridCol>
              </a:tblGrid>
              <a:tr h="395633">
                <a:tc>
                  <a:txBody>
                    <a:bodyPr/>
                    <a:lstStyle/>
                    <a:p>
                      <a:r>
                        <a:rPr lang="en-US" dirty="0"/>
                        <a:t>Mathematical Operations</a:t>
                      </a:r>
                    </a:p>
                  </a:txBody>
                  <a:tcPr/>
                </a:tc>
                <a:tc>
                  <a:txBody>
                    <a:bodyPr/>
                    <a:lstStyle/>
                    <a:p>
                      <a:r>
                        <a:rPr lang="en-US" dirty="0"/>
                        <a:t>Example</a:t>
                      </a:r>
                    </a:p>
                  </a:txBody>
                  <a:tcPr/>
                </a:tc>
                <a:tc>
                  <a:txBody>
                    <a:bodyPr/>
                    <a:lstStyle/>
                    <a:p>
                      <a:r>
                        <a:rPr lang="en-US" dirty="0"/>
                        <a:t>Effect</a:t>
                      </a:r>
                    </a:p>
                  </a:txBody>
                  <a:tcPr/>
                </a:tc>
                <a:extLst>
                  <a:ext uri="{0D108BD9-81ED-4DB2-BD59-A6C34878D82A}">
                    <a16:rowId xmlns:a16="http://schemas.microsoft.com/office/drawing/2014/main" val="492409429"/>
                  </a:ext>
                </a:extLst>
              </a:tr>
              <a:tr h="395633">
                <a:tc>
                  <a:txBody>
                    <a:bodyPr/>
                    <a:lstStyle/>
                    <a:p>
                      <a:r>
                        <a:rPr lang="en-US" dirty="0"/>
                        <a:t>Sin</a:t>
                      </a:r>
                    </a:p>
                  </a:txBody>
                  <a:tcPr/>
                </a:tc>
                <a:tc>
                  <a:txBody>
                    <a:bodyPr/>
                    <a:lstStyle/>
                    <a:p>
                      <a:r>
                        <a:rPr lang="en-US" dirty="0"/>
                        <a:t>sin(a)</a:t>
                      </a:r>
                    </a:p>
                  </a:txBody>
                  <a:tcPr/>
                </a:tc>
                <a:tc>
                  <a:txBody>
                    <a:bodyPr/>
                    <a:lstStyle/>
                    <a:p>
                      <a:r>
                        <a:rPr lang="en-US" dirty="0"/>
                        <a:t>Returns the sine of a (with a in radians)</a:t>
                      </a:r>
                    </a:p>
                  </a:txBody>
                  <a:tcPr/>
                </a:tc>
                <a:extLst>
                  <a:ext uri="{0D108BD9-81ED-4DB2-BD59-A6C34878D82A}">
                    <a16:rowId xmlns:a16="http://schemas.microsoft.com/office/drawing/2014/main" val="3351112251"/>
                  </a:ext>
                </a:extLst>
              </a:tr>
              <a:tr h="395633">
                <a:tc>
                  <a:txBody>
                    <a:bodyPr/>
                    <a:lstStyle/>
                    <a:p>
                      <a:r>
                        <a:rPr lang="en-US" dirty="0" err="1"/>
                        <a:t>Acos</a:t>
                      </a:r>
                      <a:endParaRPr lang="en-US" dirty="0"/>
                    </a:p>
                  </a:txBody>
                  <a:tcPr/>
                </a:tc>
                <a:tc>
                  <a:txBody>
                    <a:bodyPr/>
                    <a:lstStyle/>
                    <a:p>
                      <a:r>
                        <a:rPr lang="en-US" dirty="0" err="1"/>
                        <a:t>acos</a:t>
                      </a:r>
                      <a:r>
                        <a:rPr lang="en-US" dirty="0"/>
                        <a:t>(a)</a:t>
                      </a:r>
                    </a:p>
                  </a:txBody>
                  <a:tcPr/>
                </a:tc>
                <a:tc>
                  <a:txBody>
                    <a:bodyPr/>
                    <a:lstStyle/>
                    <a:p>
                      <a:r>
                        <a:rPr lang="en-US" dirty="0"/>
                        <a:t>Returns the </a:t>
                      </a:r>
                      <a:r>
                        <a:rPr lang="en-US" dirty="0" err="1"/>
                        <a:t>arcosine</a:t>
                      </a:r>
                      <a:r>
                        <a:rPr lang="en-US" dirty="0"/>
                        <a:t> of the value a (in radians)</a:t>
                      </a:r>
                    </a:p>
                  </a:txBody>
                  <a:tcPr/>
                </a:tc>
                <a:extLst>
                  <a:ext uri="{0D108BD9-81ED-4DB2-BD59-A6C34878D82A}">
                    <a16:rowId xmlns:a16="http://schemas.microsoft.com/office/drawing/2014/main" val="201766709"/>
                  </a:ext>
                </a:extLst>
              </a:tr>
              <a:tr h="396974">
                <a:tc>
                  <a:txBody>
                    <a:bodyPr/>
                    <a:lstStyle/>
                    <a:p>
                      <a:r>
                        <a:rPr lang="en-US" dirty="0"/>
                        <a:t>Tanh</a:t>
                      </a:r>
                    </a:p>
                  </a:txBody>
                  <a:tcPr/>
                </a:tc>
                <a:tc>
                  <a:txBody>
                    <a:bodyPr/>
                    <a:lstStyle/>
                    <a:p>
                      <a:r>
                        <a:rPr lang="en-US" dirty="0"/>
                        <a:t>tanh(a)</a:t>
                      </a:r>
                    </a:p>
                  </a:txBody>
                  <a:tcPr/>
                </a:tc>
                <a:tc>
                  <a:txBody>
                    <a:bodyPr/>
                    <a:lstStyle/>
                    <a:p>
                      <a:r>
                        <a:rPr lang="en-US" dirty="0"/>
                        <a:t>Returns the hyperbolic tangent of a (in radians)</a:t>
                      </a:r>
                    </a:p>
                  </a:txBody>
                  <a:tcPr/>
                </a:tc>
                <a:extLst>
                  <a:ext uri="{0D108BD9-81ED-4DB2-BD59-A6C34878D82A}">
                    <a16:rowId xmlns:a16="http://schemas.microsoft.com/office/drawing/2014/main" val="2138577847"/>
                  </a:ext>
                </a:extLst>
              </a:tr>
              <a:tr h="344774">
                <a:tc>
                  <a:txBody>
                    <a:bodyPr/>
                    <a:lstStyle/>
                    <a:p>
                      <a:r>
                        <a:rPr lang="en-US" dirty="0"/>
                        <a:t>Abs</a:t>
                      </a:r>
                    </a:p>
                  </a:txBody>
                  <a:tcPr/>
                </a:tc>
                <a:tc>
                  <a:txBody>
                    <a:bodyPr/>
                    <a:lstStyle/>
                    <a:p>
                      <a:r>
                        <a:rPr lang="en-US" dirty="0"/>
                        <a:t>abs(a)</a:t>
                      </a:r>
                    </a:p>
                  </a:txBody>
                  <a:tcPr/>
                </a:tc>
                <a:tc>
                  <a:txBody>
                    <a:bodyPr/>
                    <a:lstStyle/>
                    <a:p>
                      <a:r>
                        <a:rPr lang="en-US" dirty="0"/>
                        <a:t>Returns the absolute value of a</a:t>
                      </a:r>
                    </a:p>
                  </a:txBody>
                  <a:tcPr/>
                </a:tc>
                <a:extLst>
                  <a:ext uri="{0D108BD9-81ED-4DB2-BD59-A6C34878D82A}">
                    <a16:rowId xmlns:a16="http://schemas.microsoft.com/office/drawing/2014/main" val="2718905147"/>
                  </a:ext>
                </a:extLst>
              </a:tr>
              <a:tr h="395633">
                <a:tc>
                  <a:txBody>
                    <a:bodyPr/>
                    <a:lstStyle/>
                    <a:p>
                      <a:r>
                        <a:rPr lang="en-US" dirty="0"/>
                        <a:t>Max(</a:t>
                      </a:r>
                      <a:r>
                        <a:rPr lang="en-US" dirty="0" err="1"/>
                        <a:t>a,b</a:t>
                      </a:r>
                      <a:r>
                        <a:rPr lang="en-US" dirty="0"/>
                        <a:t>,[c,…])</a:t>
                      </a:r>
                    </a:p>
                  </a:txBody>
                  <a:tcPr/>
                </a:tc>
                <a:tc>
                  <a:txBody>
                    <a:bodyPr/>
                    <a:lstStyle/>
                    <a:p>
                      <a:r>
                        <a:rPr lang="en-US" dirty="0"/>
                        <a:t>max(a, b)</a:t>
                      </a:r>
                    </a:p>
                  </a:txBody>
                  <a:tcPr/>
                </a:tc>
                <a:tc>
                  <a:txBody>
                    <a:bodyPr/>
                    <a:lstStyle/>
                    <a:p>
                      <a:r>
                        <a:rPr lang="en-US" dirty="0"/>
                        <a:t>Returns the maximum value of a, b, c….</a:t>
                      </a:r>
                    </a:p>
                  </a:txBody>
                  <a:tcPr/>
                </a:tc>
                <a:extLst>
                  <a:ext uri="{0D108BD9-81ED-4DB2-BD59-A6C34878D82A}">
                    <a16:rowId xmlns:a16="http://schemas.microsoft.com/office/drawing/2014/main" val="2627324450"/>
                  </a:ext>
                </a:extLst>
              </a:tr>
              <a:tr h="395633">
                <a:tc>
                  <a:txBody>
                    <a:bodyPr/>
                    <a:lstStyle/>
                    <a:p>
                      <a:r>
                        <a:rPr lang="en-US" dirty="0"/>
                        <a:t>Min(</a:t>
                      </a:r>
                      <a:r>
                        <a:rPr lang="en-US" dirty="0" err="1"/>
                        <a:t>a,b</a:t>
                      </a:r>
                      <a:r>
                        <a:rPr lang="en-US" dirty="0"/>
                        <a:t>,[c,…])</a:t>
                      </a:r>
                    </a:p>
                  </a:txBody>
                  <a:tcPr/>
                </a:tc>
                <a:tc>
                  <a:txBody>
                    <a:bodyPr/>
                    <a:lstStyle/>
                    <a:p>
                      <a:r>
                        <a:rPr lang="en-US" dirty="0"/>
                        <a:t>m</a:t>
                      </a:r>
                      <a:r>
                        <a:rPr lang="en-US"/>
                        <a:t>in</a:t>
                      </a:r>
                      <a:r>
                        <a:rPr lang="en-US" dirty="0"/>
                        <a:t>(a, b)</a:t>
                      </a:r>
                    </a:p>
                  </a:txBody>
                  <a:tcPr/>
                </a:tc>
                <a:tc>
                  <a:txBody>
                    <a:bodyPr/>
                    <a:lstStyle/>
                    <a:p>
                      <a:r>
                        <a:rPr lang="en-US" dirty="0"/>
                        <a:t>Returns the minimum value of a, b, c….</a:t>
                      </a:r>
                    </a:p>
                  </a:txBody>
                  <a:tcPr/>
                </a:tc>
                <a:extLst>
                  <a:ext uri="{0D108BD9-81ED-4DB2-BD59-A6C34878D82A}">
                    <a16:rowId xmlns:a16="http://schemas.microsoft.com/office/drawing/2014/main" val="3345643632"/>
                  </a:ext>
                </a:extLst>
              </a:tr>
              <a:tr h="395633">
                <a:tc>
                  <a:txBody>
                    <a:bodyPr/>
                    <a:lstStyle/>
                    <a:p>
                      <a:r>
                        <a:rPr lang="en-US" dirty="0"/>
                        <a:t>Modulo</a:t>
                      </a:r>
                    </a:p>
                  </a:txBody>
                  <a:tcPr/>
                </a:tc>
                <a:tc>
                  <a:txBody>
                    <a:bodyPr/>
                    <a:lstStyle/>
                    <a:p>
                      <a:r>
                        <a:rPr lang="en-US" dirty="0"/>
                        <a:t>modulo(</a:t>
                      </a:r>
                      <a:r>
                        <a:rPr lang="en-US" dirty="0" err="1"/>
                        <a:t>a,b</a:t>
                      </a:r>
                      <a:r>
                        <a:rPr lang="en-US" dirty="0"/>
                        <a:t>)</a:t>
                      </a:r>
                    </a:p>
                  </a:txBody>
                  <a:tcPr/>
                </a:tc>
                <a:tc>
                  <a:txBody>
                    <a:bodyPr/>
                    <a:lstStyle/>
                    <a:p>
                      <a:r>
                        <a:rPr lang="en-US" dirty="0"/>
                        <a:t>Returns the remainder when a is divided by b</a:t>
                      </a:r>
                    </a:p>
                  </a:txBody>
                  <a:tcPr/>
                </a:tc>
                <a:extLst>
                  <a:ext uri="{0D108BD9-81ED-4DB2-BD59-A6C34878D82A}">
                    <a16:rowId xmlns:a16="http://schemas.microsoft.com/office/drawing/2014/main" val="1117057908"/>
                  </a:ext>
                </a:extLst>
              </a:tr>
              <a:tr h="395633">
                <a:tc>
                  <a:txBody>
                    <a:bodyPr/>
                    <a:lstStyle/>
                    <a:p>
                      <a:r>
                        <a:rPr lang="en-US" dirty="0"/>
                        <a:t>Exponential</a:t>
                      </a:r>
                    </a:p>
                  </a:txBody>
                  <a:tcPr/>
                </a:tc>
                <a:tc>
                  <a:txBody>
                    <a:bodyPr/>
                    <a:lstStyle/>
                    <a:p>
                      <a:r>
                        <a:rPr lang="en-US" dirty="0"/>
                        <a:t>exp(a)</a:t>
                      </a:r>
                    </a:p>
                  </a:txBody>
                  <a:tcPr/>
                </a:tc>
                <a:tc>
                  <a:txBody>
                    <a:bodyPr/>
                    <a:lstStyle/>
                    <a:p>
                      <a:r>
                        <a:rPr lang="en-US" dirty="0"/>
                        <a:t>Returns </a:t>
                      </a:r>
                      <a:r>
                        <a:rPr lang="en-US" dirty="0" err="1"/>
                        <a:t>e</a:t>
                      </a:r>
                      <a:r>
                        <a:rPr lang="en-US" baseline="30000" dirty="0" err="1"/>
                        <a:t>a</a:t>
                      </a:r>
                      <a:endParaRPr lang="en-US" baseline="30000" dirty="0"/>
                    </a:p>
                  </a:txBody>
                  <a:tcPr/>
                </a:tc>
                <a:extLst>
                  <a:ext uri="{0D108BD9-81ED-4DB2-BD59-A6C34878D82A}">
                    <a16:rowId xmlns:a16="http://schemas.microsoft.com/office/drawing/2014/main" val="736341903"/>
                  </a:ext>
                </a:extLst>
              </a:tr>
              <a:tr h="395633">
                <a:tc>
                  <a:txBody>
                    <a:bodyPr/>
                    <a:lstStyle/>
                    <a:p>
                      <a:r>
                        <a:rPr lang="en-US" dirty="0"/>
                        <a:t>Natural log</a:t>
                      </a:r>
                    </a:p>
                  </a:txBody>
                  <a:tcPr/>
                </a:tc>
                <a:tc>
                  <a:txBody>
                    <a:bodyPr/>
                    <a:lstStyle/>
                    <a:p>
                      <a:r>
                        <a:rPr lang="en-US" dirty="0"/>
                        <a:t>log(a)</a:t>
                      </a:r>
                    </a:p>
                  </a:txBody>
                  <a:tcPr/>
                </a:tc>
                <a:tc>
                  <a:txBody>
                    <a:bodyPr/>
                    <a:lstStyle/>
                    <a:p>
                      <a:r>
                        <a:rPr lang="en-US" dirty="0"/>
                        <a:t>Returns ln(a)</a:t>
                      </a:r>
                    </a:p>
                  </a:txBody>
                  <a:tcPr/>
                </a:tc>
                <a:extLst>
                  <a:ext uri="{0D108BD9-81ED-4DB2-BD59-A6C34878D82A}">
                    <a16:rowId xmlns:a16="http://schemas.microsoft.com/office/drawing/2014/main" val="1772680169"/>
                  </a:ext>
                </a:extLst>
              </a:tr>
              <a:tr h="395633">
                <a:tc>
                  <a:txBody>
                    <a:bodyPr/>
                    <a:lstStyle/>
                    <a:p>
                      <a:r>
                        <a:rPr lang="en-US" dirty="0"/>
                        <a:t>Log base 10</a:t>
                      </a:r>
                    </a:p>
                  </a:txBody>
                  <a:tcPr/>
                </a:tc>
                <a:tc>
                  <a:txBody>
                    <a:bodyPr/>
                    <a:lstStyle/>
                    <a:p>
                      <a:r>
                        <a:rPr lang="en-US" dirty="0"/>
                        <a:t>log10(a)</a:t>
                      </a:r>
                    </a:p>
                  </a:txBody>
                  <a:tcPr/>
                </a:tc>
                <a:tc>
                  <a:txBody>
                    <a:bodyPr/>
                    <a:lstStyle/>
                    <a:p>
                      <a:r>
                        <a:rPr lang="en-US" dirty="0"/>
                        <a:t>Returns log</a:t>
                      </a:r>
                      <a:r>
                        <a:rPr lang="en-US" baseline="-25000" dirty="0"/>
                        <a:t>10</a:t>
                      </a:r>
                      <a:r>
                        <a:rPr lang="en-US" dirty="0"/>
                        <a:t>(a)</a:t>
                      </a:r>
                    </a:p>
                  </a:txBody>
                  <a:tcPr/>
                </a:tc>
                <a:extLst>
                  <a:ext uri="{0D108BD9-81ED-4DB2-BD59-A6C34878D82A}">
                    <a16:rowId xmlns:a16="http://schemas.microsoft.com/office/drawing/2014/main" val="1559346785"/>
                  </a:ext>
                </a:extLst>
              </a:tr>
              <a:tr h="395633">
                <a:tc>
                  <a:txBody>
                    <a:bodyPr/>
                    <a:lstStyle/>
                    <a:p>
                      <a:r>
                        <a:rPr lang="en-US" dirty="0"/>
                        <a:t>Square Root</a:t>
                      </a:r>
                    </a:p>
                  </a:txBody>
                  <a:tcPr/>
                </a:tc>
                <a:tc>
                  <a:txBody>
                    <a:bodyPr/>
                    <a:lstStyle/>
                    <a:p>
                      <a:r>
                        <a:rPr lang="en-US" dirty="0"/>
                        <a:t>sqrt(a)</a:t>
                      </a:r>
                    </a:p>
                  </a:txBody>
                  <a:tcPr/>
                </a:tc>
                <a:tc>
                  <a:txBody>
                    <a:bodyPr/>
                    <a:lstStyle/>
                    <a:p>
                      <a:r>
                        <a:rPr lang="en-US" dirty="0"/>
                        <a:t>Returns the square root of a</a:t>
                      </a:r>
                    </a:p>
                  </a:txBody>
                  <a:tcPr/>
                </a:tc>
                <a:extLst>
                  <a:ext uri="{0D108BD9-81ED-4DB2-BD59-A6C34878D82A}">
                    <a16:rowId xmlns:a16="http://schemas.microsoft.com/office/drawing/2014/main" val="2870728540"/>
                  </a:ext>
                </a:extLst>
              </a:tr>
            </a:tbl>
          </a:graphicData>
        </a:graphic>
      </p:graphicFrame>
    </p:spTree>
    <p:extLst>
      <p:ext uri="{BB962C8B-B14F-4D97-AF65-F5344CB8AC3E}">
        <p14:creationId xmlns:p14="http://schemas.microsoft.com/office/powerpoint/2010/main" val="26734473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Arrays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20</a:t>
            </a:fld>
            <a:endParaRPr lang="en-GB"/>
          </a:p>
        </p:txBody>
      </p:sp>
      <p:sp>
        <p:nvSpPr>
          <p:cNvPr id="3" name="Content Placeholder 2">
            <a:extLst>
              <a:ext uri="{FF2B5EF4-FFF2-40B4-BE49-F238E27FC236}">
                <a16:creationId xmlns:a16="http://schemas.microsoft.com/office/drawing/2014/main" id="{6157602F-3093-6C86-1337-21F19F301CE4}"/>
              </a:ext>
            </a:extLst>
          </p:cNvPr>
          <p:cNvSpPr>
            <a:spLocks noGrp="1"/>
          </p:cNvSpPr>
          <p:nvPr>
            <p:ph idx="1"/>
          </p:nvPr>
        </p:nvSpPr>
        <p:spPr>
          <a:xfrm>
            <a:off x="457199" y="1600200"/>
            <a:ext cx="11418095" cy="4380875"/>
          </a:xfrm>
        </p:spPr>
        <p:txBody>
          <a:bodyPr>
            <a:normAutofit/>
          </a:bodyPr>
          <a:lstStyle/>
          <a:p>
            <a:pPr marL="457200" indent="-457200">
              <a:buFont typeface="Arial" panose="020B0604020202020204" pitchFamily="34" charset="0"/>
              <a:buChar char="•"/>
            </a:pPr>
            <a:r>
              <a:rPr lang="en-GB" sz="3000" dirty="0"/>
              <a:t>Arrays are a single variable which contain multiple values of  a particular type of data</a:t>
            </a:r>
          </a:p>
          <a:p>
            <a:pPr marL="619191" lvl="2" indent="-457200"/>
            <a:r>
              <a:rPr lang="en-GB" sz="2600" dirty="0"/>
              <a:t>Arrays can be of any data type</a:t>
            </a:r>
          </a:p>
          <a:p>
            <a:pPr marL="457200" indent="-457200">
              <a:buFont typeface="Arial" panose="020B0604020202020204" pitchFamily="34" charset="0"/>
              <a:buChar char="•"/>
            </a:pPr>
            <a:r>
              <a:rPr lang="en-GB" sz="3000" dirty="0"/>
              <a:t>Arrays are one of the things Fortran does really well</a:t>
            </a:r>
          </a:p>
          <a:p>
            <a:pPr marL="504891" lvl="2" indent="-342900"/>
            <a:r>
              <a:rPr lang="en-GB" sz="2200" dirty="0"/>
              <a:t>Easy to have arrays with multiple dimensions</a:t>
            </a:r>
          </a:p>
          <a:p>
            <a:pPr marL="504891" lvl="2" indent="-342900"/>
            <a:r>
              <a:rPr lang="en-GB" sz="2200" dirty="0"/>
              <a:t>Many standard array operations natively supported</a:t>
            </a:r>
          </a:p>
          <a:p>
            <a:pPr marL="504891" lvl="2" indent="-342900"/>
            <a:r>
              <a:rPr lang="en-GB" sz="2200" dirty="0"/>
              <a:t>Computationally fast</a:t>
            </a:r>
          </a:p>
          <a:p>
            <a:pPr marL="457200" indent="-457200">
              <a:buFont typeface="Arial" panose="020B0604020202020204" pitchFamily="34" charset="0"/>
              <a:buChar char="•"/>
            </a:pPr>
            <a:r>
              <a:rPr lang="en-GB" sz="3000" dirty="0"/>
              <a:t>However:</a:t>
            </a:r>
          </a:p>
          <a:p>
            <a:pPr marL="504891" lvl="2" indent="-342900"/>
            <a:r>
              <a:rPr lang="en-GB" sz="2200" dirty="0"/>
              <a:t>Need to define number of items in advance</a:t>
            </a:r>
          </a:p>
          <a:p>
            <a:pPr marL="504891" lvl="2" indent="-342900"/>
            <a:r>
              <a:rPr lang="en-GB" sz="2200" dirty="0"/>
              <a:t>No native “jagged arrays”</a:t>
            </a:r>
          </a:p>
          <a:p>
            <a:pPr lvl="1"/>
            <a:endParaRPr lang="en-GB" sz="2200" dirty="0"/>
          </a:p>
          <a:p>
            <a:endParaRPr lang="en-GB" sz="3000" dirty="0"/>
          </a:p>
        </p:txBody>
      </p:sp>
    </p:spTree>
    <p:extLst>
      <p:ext uri="{BB962C8B-B14F-4D97-AF65-F5344CB8AC3E}">
        <p14:creationId xmlns:p14="http://schemas.microsoft.com/office/powerpoint/2010/main" val="399564987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Arrays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21</a:t>
            </a:fld>
            <a:endParaRPr lang="en-GB"/>
          </a:p>
        </p:txBody>
      </p:sp>
      <p:graphicFrame>
        <p:nvGraphicFramePr>
          <p:cNvPr id="9" name="Table 8">
            <a:extLst>
              <a:ext uri="{FF2B5EF4-FFF2-40B4-BE49-F238E27FC236}">
                <a16:creationId xmlns:a16="http://schemas.microsoft.com/office/drawing/2014/main" id="{2052E3E3-8791-3777-5D5E-FC442DEC77BC}"/>
              </a:ext>
            </a:extLst>
          </p:cNvPr>
          <p:cNvGraphicFramePr>
            <a:graphicFrameLocks noGrp="1"/>
          </p:cNvGraphicFramePr>
          <p:nvPr>
            <p:extLst>
              <p:ext uri="{D42A27DB-BD31-4B8C-83A1-F6EECF244321}">
                <p14:modId xmlns:p14="http://schemas.microsoft.com/office/powerpoint/2010/main" val="1266494698"/>
              </p:ext>
            </p:extLst>
          </p:nvPr>
        </p:nvGraphicFramePr>
        <p:xfrm>
          <a:off x="3168117" y="1599675"/>
          <a:ext cx="7115454" cy="1112520"/>
        </p:xfrm>
        <a:graphic>
          <a:graphicData uri="http://schemas.openxmlformats.org/drawingml/2006/table">
            <a:tbl>
              <a:tblPr firstRow="1" bandRow="1">
                <a:tableStyleId>{5C22544A-7EE6-4342-B048-85BDC9FD1C3A}</a:tableStyleId>
              </a:tblPr>
              <a:tblGrid>
                <a:gridCol w="1185909">
                  <a:extLst>
                    <a:ext uri="{9D8B030D-6E8A-4147-A177-3AD203B41FA5}">
                      <a16:colId xmlns:a16="http://schemas.microsoft.com/office/drawing/2014/main" val="1476452651"/>
                    </a:ext>
                  </a:extLst>
                </a:gridCol>
                <a:gridCol w="1185909">
                  <a:extLst>
                    <a:ext uri="{9D8B030D-6E8A-4147-A177-3AD203B41FA5}">
                      <a16:colId xmlns:a16="http://schemas.microsoft.com/office/drawing/2014/main" val="3641059061"/>
                    </a:ext>
                  </a:extLst>
                </a:gridCol>
                <a:gridCol w="1185909">
                  <a:extLst>
                    <a:ext uri="{9D8B030D-6E8A-4147-A177-3AD203B41FA5}">
                      <a16:colId xmlns:a16="http://schemas.microsoft.com/office/drawing/2014/main" val="603530982"/>
                    </a:ext>
                  </a:extLst>
                </a:gridCol>
                <a:gridCol w="1185909">
                  <a:extLst>
                    <a:ext uri="{9D8B030D-6E8A-4147-A177-3AD203B41FA5}">
                      <a16:colId xmlns:a16="http://schemas.microsoft.com/office/drawing/2014/main" val="178500759"/>
                    </a:ext>
                  </a:extLst>
                </a:gridCol>
                <a:gridCol w="1185909">
                  <a:extLst>
                    <a:ext uri="{9D8B030D-6E8A-4147-A177-3AD203B41FA5}">
                      <a16:colId xmlns:a16="http://schemas.microsoft.com/office/drawing/2014/main" val="2402744358"/>
                    </a:ext>
                  </a:extLst>
                </a:gridCol>
                <a:gridCol w="1185909">
                  <a:extLst>
                    <a:ext uri="{9D8B030D-6E8A-4147-A177-3AD203B41FA5}">
                      <a16:colId xmlns:a16="http://schemas.microsoft.com/office/drawing/2014/main" val="4141433178"/>
                    </a:ext>
                  </a:extLst>
                </a:gridCol>
              </a:tblGrid>
              <a:tr h="370840">
                <a:tc gridSpan="6">
                  <a:txBody>
                    <a:bodyPr/>
                    <a:lstStyle/>
                    <a:p>
                      <a:pPr algn="ctr"/>
                      <a:r>
                        <a:rPr lang="en-GB" dirty="0"/>
                        <a:t>array1d</a:t>
                      </a:r>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445301134"/>
                  </a:ext>
                </a:extLst>
              </a:tr>
              <a:tr h="370840">
                <a:tc>
                  <a:txBody>
                    <a:bodyPr/>
                    <a:lstStyle/>
                    <a:p>
                      <a:r>
                        <a:rPr lang="en-GB" dirty="0"/>
                        <a:t>1</a:t>
                      </a:r>
                    </a:p>
                  </a:txBody>
                  <a:tcPr/>
                </a:tc>
                <a:tc>
                  <a:txBody>
                    <a:bodyPr/>
                    <a:lstStyle/>
                    <a:p>
                      <a:r>
                        <a:rPr lang="en-GB" dirty="0"/>
                        <a:t>2</a:t>
                      </a:r>
                    </a:p>
                  </a:txBody>
                  <a:tcPr/>
                </a:tc>
                <a:tc>
                  <a:txBody>
                    <a:bodyPr/>
                    <a:lstStyle/>
                    <a:p>
                      <a:r>
                        <a:rPr lang="en-GB" dirty="0"/>
                        <a:t>3</a:t>
                      </a:r>
                    </a:p>
                  </a:txBody>
                  <a:tcPr/>
                </a:tc>
                <a:tc>
                  <a:txBody>
                    <a:bodyPr/>
                    <a:lstStyle/>
                    <a:p>
                      <a:r>
                        <a:rPr lang="en-GB" dirty="0"/>
                        <a:t>4</a:t>
                      </a:r>
                    </a:p>
                  </a:txBody>
                  <a:tcPr/>
                </a:tc>
                <a:tc>
                  <a:txBody>
                    <a:bodyPr/>
                    <a:lstStyle/>
                    <a:p>
                      <a:r>
                        <a:rPr lang="en-GB" dirty="0"/>
                        <a:t>5</a:t>
                      </a:r>
                    </a:p>
                  </a:txBody>
                  <a:tcPr/>
                </a:tc>
                <a:tc>
                  <a:txBody>
                    <a:bodyPr/>
                    <a:lstStyle/>
                    <a:p>
                      <a:r>
                        <a:rPr lang="en-GB" dirty="0"/>
                        <a:t>6</a:t>
                      </a:r>
                    </a:p>
                  </a:txBody>
                  <a:tcPr/>
                </a:tc>
                <a:extLst>
                  <a:ext uri="{0D108BD9-81ED-4DB2-BD59-A6C34878D82A}">
                    <a16:rowId xmlns:a16="http://schemas.microsoft.com/office/drawing/2014/main" val="4061467943"/>
                  </a:ext>
                </a:extLst>
              </a:tr>
              <a:tr h="370840">
                <a:tc>
                  <a:txBody>
                    <a:bodyPr/>
                    <a:lstStyle/>
                    <a:p>
                      <a:r>
                        <a:rPr lang="en-GB" dirty="0"/>
                        <a:t>1</a:t>
                      </a:r>
                    </a:p>
                  </a:txBody>
                  <a:tcPr/>
                </a:tc>
                <a:tc>
                  <a:txBody>
                    <a:bodyPr/>
                    <a:lstStyle/>
                    <a:p>
                      <a:r>
                        <a:rPr lang="en-GB" dirty="0"/>
                        <a:t>10</a:t>
                      </a:r>
                    </a:p>
                  </a:txBody>
                  <a:tcPr/>
                </a:tc>
                <a:tc>
                  <a:txBody>
                    <a:bodyPr/>
                    <a:lstStyle/>
                    <a:p>
                      <a:r>
                        <a:rPr lang="en-GB" dirty="0"/>
                        <a:t>15</a:t>
                      </a:r>
                    </a:p>
                  </a:txBody>
                  <a:tcPr/>
                </a:tc>
                <a:tc>
                  <a:txBody>
                    <a:bodyPr/>
                    <a:lstStyle/>
                    <a:p>
                      <a:r>
                        <a:rPr lang="en-GB" dirty="0"/>
                        <a:t>2</a:t>
                      </a:r>
                    </a:p>
                  </a:txBody>
                  <a:tcPr/>
                </a:tc>
                <a:tc>
                  <a:txBody>
                    <a:bodyPr/>
                    <a:lstStyle/>
                    <a:p>
                      <a:r>
                        <a:rPr lang="en-GB" dirty="0"/>
                        <a:t>8</a:t>
                      </a:r>
                    </a:p>
                  </a:txBody>
                  <a:tcPr/>
                </a:tc>
                <a:tc>
                  <a:txBody>
                    <a:bodyPr/>
                    <a:lstStyle/>
                    <a:p>
                      <a:r>
                        <a:rPr lang="en-GB" dirty="0"/>
                        <a:t>7</a:t>
                      </a:r>
                    </a:p>
                  </a:txBody>
                  <a:tcPr/>
                </a:tc>
                <a:extLst>
                  <a:ext uri="{0D108BD9-81ED-4DB2-BD59-A6C34878D82A}">
                    <a16:rowId xmlns:a16="http://schemas.microsoft.com/office/drawing/2014/main" val="1089936608"/>
                  </a:ext>
                </a:extLst>
              </a:tr>
            </a:tbl>
          </a:graphicData>
        </a:graphic>
      </p:graphicFrame>
      <p:sp>
        <p:nvSpPr>
          <p:cNvPr id="10" name="TextBox 9">
            <a:extLst>
              <a:ext uri="{FF2B5EF4-FFF2-40B4-BE49-F238E27FC236}">
                <a16:creationId xmlns:a16="http://schemas.microsoft.com/office/drawing/2014/main" id="{EFC98D82-71F0-E954-66D1-7D4DCC4D59A5}"/>
              </a:ext>
            </a:extLst>
          </p:cNvPr>
          <p:cNvSpPr txBox="1"/>
          <p:nvPr/>
        </p:nvSpPr>
        <p:spPr>
          <a:xfrm>
            <a:off x="457200" y="1419741"/>
            <a:ext cx="1746354" cy="369332"/>
          </a:xfrm>
          <a:prstGeom prst="rect">
            <a:avLst/>
          </a:prstGeom>
          <a:noFill/>
        </p:spPr>
        <p:txBody>
          <a:bodyPr wrap="square" rtlCol="0">
            <a:spAutoFit/>
          </a:bodyPr>
          <a:lstStyle/>
          <a:p>
            <a:r>
              <a:rPr lang="en-GB" dirty="0"/>
              <a:t>Variable Name</a:t>
            </a:r>
          </a:p>
        </p:txBody>
      </p:sp>
      <p:sp>
        <p:nvSpPr>
          <p:cNvPr id="11" name="TextBox 10">
            <a:extLst>
              <a:ext uri="{FF2B5EF4-FFF2-40B4-BE49-F238E27FC236}">
                <a16:creationId xmlns:a16="http://schemas.microsoft.com/office/drawing/2014/main" id="{B5F5C449-40E0-7BD4-ACE5-E3FD5E106321}"/>
              </a:ext>
            </a:extLst>
          </p:cNvPr>
          <p:cNvSpPr txBox="1"/>
          <p:nvPr/>
        </p:nvSpPr>
        <p:spPr>
          <a:xfrm>
            <a:off x="457200" y="1971269"/>
            <a:ext cx="809469" cy="369332"/>
          </a:xfrm>
          <a:prstGeom prst="rect">
            <a:avLst/>
          </a:prstGeom>
          <a:noFill/>
        </p:spPr>
        <p:txBody>
          <a:bodyPr wrap="square" rtlCol="0">
            <a:spAutoFit/>
          </a:bodyPr>
          <a:lstStyle/>
          <a:p>
            <a:r>
              <a:rPr lang="en-GB" dirty="0"/>
              <a:t>Index</a:t>
            </a:r>
          </a:p>
        </p:txBody>
      </p:sp>
      <p:sp>
        <p:nvSpPr>
          <p:cNvPr id="12" name="TextBox 11">
            <a:extLst>
              <a:ext uri="{FF2B5EF4-FFF2-40B4-BE49-F238E27FC236}">
                <a16:creationId xmlns:a16="http://schemas.microsoft.com/office/drawing/2014/main" id="{DF55004C-251E-E36B-DF70-74919067C6CA}"/>
              </a:ext>
            </a:extLst>
          </p:cNvPr>
          <p:cNvSpPr txBox="1"/>
          <p:nvPr/>
        </p:nvSpPr>
        <p:spPr>
          <a:xfrm>
            <a:off x="457200" y="2527529"/>
            <a:ext cx="809469" cy="369332"/>
          </a:xfrm>
          <a:prstGeom prst="rect">
            <a:avLst/>
          </a:prstGeom>
          <a:noFill/>
        </p:spPr>
        <p:txBody>
          <a:bodyPr wrap="square" rtlCol="0">
            <a:spAutoFit/>
          </a:bodyPr>
          <a:lstStyle/>
          <a:p>
            <a:r>
              <a:rPr lang="en-GB" dirty="0"/>
              <a:t>Value</a:t>
            </a:r>
          </a:p>
        </p:txBody>
      </p:sp>
      <p:cxnSp>
        <p:nvCxnSpPr>
          <p:cNvPr id="13" name="Straight Arrow Connector 12">
            <a:extLst>
              <a:ext uri="{FF2B5EF4-FFF2-40B4-BE49-F238E27FC236}">
                <a16:creationId xmlns:a16="http://schemas.microsoft.com/office/drawing/2014/main" id="{64FD6267-A0A0-D7F2-C1C4-B9271E1A7A21}"/>
              </a:ext>
            </a:extLst>
          </p:cNvPr>
          <p:cNvCxnSpPr>
            <a:cxnSpLocks/>
            <a:stCxn id="10" idx="3"/>
          </p:cNvCxnSpPr>
          <p:nvPr/>
        </p:nvCxnSpPr>
        <p:spPr>
          <a:xfrm>
            <a:off x="2203554" y="1604407"/>
            <a:ext cx="964564" cy="1846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E940325-8B5A-D98C-18A3-E86B08493256}"/>
              </a:ext>
            </a:extLst>
          </p:cNvPr>
          <p:cNvCxnSpPr>
            <a:cxnSpLocks/>
            <a:stCxn id="11" idx="3"/>
            <a:endCxn id="9" idx="1"/>
          </p:cNvCxnSpPr>
          <p:nvPr/>
        </p:nvCxnSpPr>
        <p:spPr>
          <a:xfrm>
            <a:off x="1266669" y="2155935"/>
            <a:ext cx="19014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AE14AA3-D4C4-59FF-36D7-5793478ABB60}"/>
              </a:ext>
            </a:extLst>
          </p:cNvPr>
          <p:cNvCxnSpPr>
            <a:cxnSpLocks/>
            <a:stCxn id="12" idx="3"/>
          </p:cNvCxnSpPr>
          <p:nvPr/>
        </p:nvCxnSpPr>
        <p:spPr>
          <a:xfrm flipV="1">
            <a:off x="1266669" y="2527529"/>
            <a:ext cx="1901449" cy="1846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312D05D-8308-144B-21AB-A1DE9AD0C685}"/>
              </a:ext>
            </a:extLst>
          </p:cNvPr>
          <p:cNvSpPr txBox="1"/>
          <p:nvPr/>
        </p:nvSpPr>
        <p:spPr>
          <a:xfrm>
            <a:off x="662151" y="3258207"/>
            <a:ext cx="10528005" cy="2677656"/>
          </a:xfrm>
          <a:prstGeom prst="rect">
            <a:avLst/>
          </a:prstGeom>
          <a:noFill/>
        </p:spPr>
        <p:txBody>
          <a:bodyPr wrap="square" rtlCol="0">
            <a:spAutoFit/>
          </a:bodyPr>
          <a:lstStyle/>
          <a:p>
            <a:r>
              <a:rPr lang="en-GB" sz="2800" dirty="0">
                <a:solidFill>
                  <a:schemeClr val="accent5"/>
                </a:solidFill>
              </a:rPr>
              <a:t>integer</a:t>
            </a:r>
            <a:r>
              <a:rPr lang="en-GB" sz="2800" dirty="0"/>
              <a:t>, </a:t>
            </a:r>
            <a:r>
              <a:rPr lang="en-GB" sz="2800" dirty="0">
                <a:solidFill>
                  <a:schemeClr val="accent5"/>
                </a:solidFill>
              </a:rPr>
              <a:t>dimension</a:t>
            </a:r>
            <a:r>
              <a:rPr lang="en-GB" sz="2800" dirty="0"/>
              <a:t>(</a:t>
            </a:r>
            <a:r>
              <a:rPr lang="en-GB" sz="2800" dirty="0">
                <a:solidFill>
                  <a:schemeClr val="accent2"/>
                </a:solidFill>
              </a:rPr>
              <a:t>6</a:t>
            </a:r>
            <a:r>
              <a:rPr lang="en-GB" sz="2800" dirty="0"/>
              <a:t>)	::	array1d</a:t>
            </a:r>
          </a:p>
          <a:p>
            <a:endParaRPr lang="en-GB" sz="2800" dirty="0"/>
          </a:p>
          <a:p>
            <a:r>
              <a:rPr lang="en-GB" sz="2800" dirty="0"/>
              <a:t>array1d=</a:t>
            </a:r>
            <a:r>
              <a:rPr lang="en-GB" sz="2800" dirty="0">
                <a:solidFill>
                  <a:schemeClr val="accent2"/>
                </a:solidFill>
              </a:rPr>
              <a:t>1</a:t>
            </a:r>
          </a:p>
          <a:p>
            <a:r>
              <a:rPr lang="en-GB" sz="2800" dirty="0"/>
              <a:t>array1d(2)=</a:t>
            </a:r>
            <a:r>
              <a:rPr lang="en-GB" sz="2800" dirty="0">
                <a:solidFill>
                  <a:schemeClr val="accent2"/>
                </a:solidFill>
              </a:rPr>
              <a:t>10</a:t>
            </a:r>
          </a:p>
          <a:p>
            <a:r>
              <a:rPr lang="en-GB" sz="2800" dirty="0"/>
              <a:t>array1d(3:6)=</a:t>
            </a:r>
            <a:r>
              <a:rPr lang="en-GB" sz="2800" dirty="0">
                <a:solidFill>
                  <a:schemeClr val="accent2"/>
                </a:solidFill>
              </a:rPr>
              <a:t>15</a:t>
            </a:r>
          </a:p>
          <a:p>
            <a:r>
              <a:rPr lang="en-GB" sz="2800" dirty="0"/>
              <a:t>array1d(4:6)=(/</a:t>
            </a:r>
            <a:r>
              <a:rPr lang="en-GB" sz="2800" dirty="0">
                <a:solidFill>
                  <a:schemeClr val="accent2"/>
                </a:solidFill>
              </a:rPr>
              <a:t>2</a:t>
            </a:r>
            <a:r>
              <a:rPr lang="en-GB" sz="2800" dirty="0"/>
              <a:t>,</a:t>
            </a:r>
            <a:r>
              <a:rPr lang="en-GB" sz="2800" dirty="0">
                <a:solidFill>
                  <a:schemeClr val="accent2"/>
                </a:solidFill>
              </a:rPr>
              <a:t>8</a:t>
            </a:r>
            <a:r>
              <a:rPr lang="en-GB" sz="2800" dirty="0"/>
              <a:t>,</a:t>
            </a:r>
            <a:r>
              <a:rPr lang="en-GB" sz="2800" dirty="0">
                <a:solidFill>
                  <a:schemeClr val="accent2"/>
                </a:solidFill>
              </a:rPr>
              <a:t>7</a:t>
            </a:r>
            <a:r>
              <a:rPr lang="en-GB" sz="2800" dirty="0"/>
              <a:t>/)</a:t>
            </a:r>
          </a:p>
        </p:txBody>
      </p:sp>
      <p:sp>
        <p:nvSpPr>
          <p:cNvPr id="21" name="TextBox 20">
            <a:extLst>
              <a:ext uri="{FF2B5EF4-FFF2-40B4-BE49-F238E27FC236}">
                <a16:creationId xmlns:a16="http://schemas.microsoft.com/office/drawing/2014/main" id="{3EF02EC7-08E8-F4F1-85BA-B64EC3336509}"/>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6064993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Multi-Dimensional Arrays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22</a:t>
            </a:fld>
            <a:endParaRPr lang="en-GB"/>
          </a:p>
        </p:txBody>
      </p:sp>
      <p:sp>
        <p:nvSpPr>
          <p:cNvPr id="21" name="TextBox 20">
            <a:extLst>
              <a:ext uri="{FF2B5EF4-FFF2-40B4-BE49-F238E27FC236}">
                <a16:creationId xmlns:a16="http://schemas.microsoft.com/office/drawing/2014/main" id="{3EF02EC7-08E8-F4F1-85BA-B64EC3336509}"/>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graphicFrame>
        <p:nvGraphicFramePr>
          <p:cNvPr id="3" name="Table 2">
            <a:extLst>
              <a:ext uri="{FF2B5EF4-FFF2-40B4-BE49-F238E27FC236}">
                <a16:creationId xmlns:a16="http://schemas.microsoft.com/office/drawing/2014/main" id="{9F6EC5EA-7432-2D88-00BA-38037AB5A4CC}"/>
              </a:ext>
            </a:extLst>
          </p:cNvPr>
          <p:cNvGraphicFramePr>
            <a:graphicFrameLocks noGrp="1"/>
          </p:cNvGraphicFramePr>
          <p:nvPr>
            <p:extLst>
              <p:ext uri="{D42A27DB-BD31-4B8C-83A1-F6EECF244321}">
                <p14:modId xmlns:p14="http://schemas.microsoft.com/office/powerpoint/2010/main" val="1036862820"/>
              </p:ext>
            </p:extLst>
          </p:nvPr>
        </p:nvGraphicFramePr>
        <p:xfrm>
          <a:off x="1523999" y="1965785"/>
          <a:ext cx="9883515" cy="1483360"/>
        </p:xfrm>
        <a:graphic>
          <a:graphicData uri="http://schemas.openxmlformats.org/drawingml/2006/table">
            <a:tbl>
              <a:tblPr firstRow="1" bandRow="1">
                <a:tableStyleId>{5C22544A-7EE6-4342-B048-85BDC9FD1C3A}</a:tableStyleId>
              </a:tblPr>
              <a:tblGrid>
                <a:gridCol w="1976703">
                  <a:extLst>
                    <a:ext uri="{9D8B030D-6E8A-4147-A177-3AD203B41FA5}">
                      <a16:colId xmlns:a16="http://schemas.microsoft.com/office/drawing/2014/main" val="1043774415"/>
                    </a:ext>
                  </a:extLst>
                </a:gridCol>
                <a:gridCol w="1976703">
                  <a:extLst>
                    <a:ext uri="{9D8B030D-6E8A-4147-A177-3AD203B41FA5}">
                      <a16:colId xmlns:a16="http://schemas.microsoft.com/office/drawing/2014/main" val="798431946"/>
                    </a:ext>
                  </a:extLst>
                </a:gridCol>
                <a:gridCol w="1976703">
                  <a:extLst>
                    <a:ext uri="{9D8B030D-6E8A-4147-A177-3AD203B41FA5}">
                      <a16:colId xmlns:a16="http://schemas.microsoft.com/office/drawing/2014/main" val="3180579139"/>
                    </a:ext>
                  </a:extLst>
                </a:gridCol>
                <a:gridCol w="1976703">
                  <a:extLst>
                    <a:ext uri="{9D8B030D-6E8A-4147-A177-3AD203B41FA5}">
                      <a16:colId xmlns:a16="http://schemas.microsoft.com/office/drawing/2014/main" val="4192867477"/>
                    </a:ext>
                  </a:extLst>
                </a:gridCol>
                <a:gridCol w="1976703">
                  <a:extLst>
                    <a:ext uri="{9D8B030D-6E8A-4147-A177-3AD203B41FA5}">
                      <a16:colId xmlns:a16="http://schemas.microsoft.com/office/drawing/2014/main" val="1503869987"/>
                    </a:ext>
                  </a:extLst>
                </a:gridCol>
              </a:tblGrid>
              <a:tr h="370840">
                <a:tc>
                  <a:txBody>
                    <a:bodyPr/>
                    <a:lstStyle/>
                    <a:p>
                      <a:r>
                        <a:rPr lang="en-GB" dirty="0"/>
                        <a:t>array1</a:t>
                      </a:r>
                    </a:p>
                  </a:txBody>
                  <a:tcPr/>
                </a:tc>
                <a:tc>
                  <a:txBody>
                    <a:bodyPr/>
                    <a:lstStyle/>
                    <a:p>
                      <a:r>
                        <a:rPr lang="en-GB" dirty="0"/>
                        <a:t>1</a:t>
                      </a:r>
                    </a:p>
                  </a:txBody>
                  <a:tcPr/>
                </a:tc>
                <a:tc>
                  <a:txBody>
                    <a:bodyPr/>
                    <a:lstStyle/>
                    <a:p>
                      <a:r>
                        <a:rPr lang="en-GB" dirty="0"/>
                        <a:t>2</a:t>
                      </a:r>
                    </a:p>
                  </a:txBody>
                  <a:tcPr/>
                </a:tc>
                <a:tc>
                  <a:txBody>
                    <a:bodyPr/>
                    <a:lstStyle/>
                    <a:p>
                      <a:r>
                        <a:rPr lang="en-GB" dirty="0"/>
                        <a:t>3</a:t>
                      </a:r>
                    </a:p>
                  </a:txBody>
                  <a:tcPr/>
                </a:tc>
                <a:tc>
                  <a:txBody>
                    <a:bodyPr/>
                    <a:lstStyle/>
                    <a:p>
                      <a:r>
                        <a:rPr lang="en-GB" dirty="0"/>
                        <a:t>4</a:t>
                      </a:r>
                    </a:p>
                  </a:txBody>
                  <a:tcPr/>
                </a:tc>
                <a:extLst>
                  <a:ext uri="{0D108BD9-81ED-4DB2-BD59-A6C34878D82A}">
                    <a16:rowId xmlns:a16="http://schemas.microsoft.com/office/drawing/2014/main" val="3883405611"/>
                  </a:ext>
                </a:extLst>
              </a:tr>
              <a:tr h="370840">
                <a:tc>
                  <a:txBody>
                    <a:bodyPr/>
                    <a:lstStyle/>
                    <a:p>
                      <a:r>
                        <a:rPr lang="en-GB" dirty="0">
                          <a:solidFill>
                            <a:schemeClr val="bg1"/>
                          </a:solidFill>
                        </a:rPr>
                        <a:t>1</a:t>
                      </a:r>
                    </a:p>
                  </a:txBody>
                  <a:tcPr>
                    <a:solidFill>
                      <a:schemeClr val="accent1"/>
                    </a:solidFill>
                  </a:tcPr>
                </a:tc>
                <a:tc>
                  <a:txBody>
                    <a:bodyPr/>
                    <a:lstStyle/>
                    <a:p>
                      <a:r>
                        <a:rPr lang="en-GB" dirty="0"/>
                        <a:t>5</a:t>
                      </a:r>
                    </a:p>
                  </a:txBody>
                  <a:tcPr/>
                </a:tc>
                <a:tc>
                  <a:txBody>
                    <a:bodyPr/>
                    <a:lstStyle/>
                    <a:p>
                      <a:r>
                        <a:rPr lang="en-GB" dirty="0"/>
                        <a:t>10</a:t>
                      </a:r>
                    </a:p>
                  </a:txBody>
                  <a:tcPr/>
                </a:tc>
                <a:tc>
                  <a:txBody>
                    <a:bodyPr/>
                    <a:lstStyle/>
                    <a:p>
                      <a:r>
                        <a:rPr lang="en-GB" dirty="0"/>
                        <a:t>4</a:t>
                      </a:r>
                    </a:p>
                  </a:txBody>
                  <a:tcPr/>
                </a:tc>
                <a:tc>
                  <a:txBody>
                    <a:bodyPr/>
                    <a:lstStyle/>
                    <a:p>
                      <a:r>
                        <a:rPr lang="en-GB" dirty="0"/>
                        <a:t>6</a:t>
                      </a:r>
                    </a:p>
                  </a:txBody>
                  <a:tcPr/>
                </a:tc>
                <a:extLst>
                  <a:ext uri="{0D108BD9-81ED-4DB2-BD59-A6C34878D82A}">
                    <a16:rowId xmlns:a16="http://schemas.microsoft.com/office/drawing/2014/main" val="15756398"/>
                  </a:ext>
                </a:extLst>
              </a:tr>
              <a:tr h="370840">
                <a:tc>
                  <a:txBody>
                    <a:bodyPr/>
                    <a:lstStyle/>
                    <a:p>
                      <a:r>
                        <a:rPr lang="en-GB" dirty="0">
                          <a:solidFill>
                            <a:schemeClr val="bg1"/>
                          </a:solidFill>
                        </a:rPr>
                        <a:t>2</a:t>
                      </a:r>
                    </a:p>
                  </a:txBody>
                  <a:tcPr>
                    <a:solidFill>
                      <a:schemeClr val="accent1"/>
                    </a:solidFill>
                  </a:tcPr>
                </a:tc>
                <a:tc>
                  <a:txBody>
                    <a:bodyPr/>
                    <a:lstStyle/>
                    <a:p>
                      <a:r>
                        <a:rPr lang="en-GB" dirty="0"/>
                        <a:t>1</a:t>
                      </a:r>
                    </a:p>
                  </a:txBody>
                  <a:tcPr/>
                </a:tc>
                <a:tc>
                  <a:txBody>
                    <a:bodyPr/>
                    <a:lstStyle/>
                    <a:p>
                      <a:r>
                        <a:rPr lang="en-GB" dirty="0"/>
                        <a:t>0.5</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783333631"/>
                  </a:ext>
                </a:extLst>
              </a:tr>
              <a:tr h="370840">
                <a:tc>
                  <a:txBody>
                    <a:bodyPr/>
                    <a:lstStyle/>
                    <a:p>
                      <a:r>
                        <a:rPr lang="en-GB" dirty="0">
                          <a:solidFill>
                            <a:schemeClr val="bg1"/>
                          </a:solidFill>
                        </a:rPr>
                        <a:t>3</a:t>
                      </a:r>
                    </a:p>
                  </a:txBody>
                  <a:tcPr>
                    <a:solidFill>
                      <a:schemeClr val="accent1"/>
                    </a:solidFill>
                  </a:tcPr>
                </a:tc>
                <a:tc>
                  <a:txBody>
                    <a:bodyPr/>
                    <a:lstStyle/>
                    <a:p>
                      <a:r>
                        <a:rPr lang="en-GB" dirty="0"/>
                        <a:t>4</a:t>
                      </a:r>
                    </a:p>
                  </a:txBody>
                  <a:tcPr/>
                </a:tc>
                <a:tc>
                  <a:txBody>
                    <a:bodyPr/>
                    <a:lstStyle/>
                    <a:p>
                      <a:r>
                        <a:rPr lang="en-GB" dirty="0"/>
                        <a:t>2</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2276897234"/>
                  </a:ext>
                </a:extLst>
              </a:tr>
            </a:tbl>
          </a:graphicData>
        </a:graphic>
      </p:graphicFrame>
      <p:sp>
        <p:nvSpPr>
          <p:cNvPr id="4" name="TextBox 3">
            <a:extLst>
              <a:ext uri="{FF2B5EF4-FFF2-40B4-BE49-F238E27FC236}">
                <a16:creationId xmlns:a16="http://schemas.microsoft.com/office/drawing/2014/main" id="{CCEBED24-C14A-866F-84DD-47F203517AF6}"/>
              </a:ext>
            </a:extLst>
          </p:cNvPr>
          <p:cNvSpPr txBox="1"/>
          <p:nvPr/>
        </p:nvSpPr>
        <p:spPr>
          <a:xfrm>
            <a:off x="3337034" y="1417638"/>
            <a:ext cx="2717968" cy="369332"/>
          </a:xfrm>
          <a:prstGeom prst="rect">
            <a:avLst/>
          </a:prstGeom>
          <a:noFill/>
        </p:spPr>
        <p:txBody>
          <a:bodyPr wrap="square" rtlCol="0">
            <a:spAutoFit/>
          </a:bodyPr>
          <a:lstStyle/>
          <a:p>
            <a:r>
              <a:rPr lang="en-GB" dirty="0"/>
              <a:t>Column Index</a:t>
            </a:r>
          </a:p>
        </p:txBody>
      </p:sp>
      <p:sp>
        <p:nvSpPr>
          <p:cNvPr id="8" name="TextBox 7">
            <a:extLst>
              <a:ext uri="{FF2B5EF4-FFF2-40B4-BE49-F238E27FC236}">
                <a16:creationId xmlns:a16="http://schemas.microsoft.com/office/drawing/2014/main" id="{2F7F86D6-9B0E-5D79-3879-73D930C9CC83}"/>
              </a:ext>
            </a:extLst>
          </p:cNvPr>
          <p:cNvSpPr txBox="1"/>
          <p:nvPr/>
        </p:nvSpPr>
        <p:spPr>
          <a:xfrm>
            <a:off x="144516" y="3108715"/>
            <a:ext cx="2100249" cy="369332"/>
          </a:xfrm>
          <a:prstGeom prst="rect">
            <a:avLst/>
          </a:prstGeom>
          <a:noFill/>
        </p:spPr>
        <p:txBody>
          <a:bodyPr wrap="square" rtlCol="0">
            <a:spAutoFit/>
          </a:bodyPr>
          <a:lstStyle/>
          <a:p>
            <a:r>
              <a:rPr lang="en-GB" dirty="0"/>
              <a:t>Row Index</a:t>
            </a:r>
          </a:p>
        </p:txBody>
      </p:sp>
      <p:cxnSp>
        <p:nvCxnSpPr>
          <p:cNvPr id="17" name="Straight Arrow Connector 16">
            <a:extLst>
              <a:ext uri="{FF2B5EF4-FFF2-40B4-BE49-F238E27FC236}">
                <a16:creationId xmlns:a16="http://schemas.microsoft.com/office/drawing/2014/main" id="{F4F37B21-512D-2D10-82AA-1DBDB534CD8A}"/>
              </a:ext>
            </a:extLst>
          </p:cNvPr>
          <p:cNvCxnSpPr>
            <a:cxnSpLocks/>
            <a:stCxn id="4" idx="2"/>
            <a:endCxn id="3" idx="0"/>
          </p:cNvCxnSpPr>
          <p:nvPr/>
        </p:nvCxnSpPr>
        <p:spPr>
          <a:xfrm>
            <a:off x="4696018" y="1786970"/>
            <a:ext cx="1769738" cy="1788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211FB8A-2B2A-F9AE-9AF9-AB680AE68891}"/>
              </a:ext>
            </a:extLst>
          </p:cNvPr>
          <p:cNvCxnSpPr>
            <a:cxnSpLocks/>
            <a:stCxn id="8" idx="0"/>
            <a:endCxn id="3" idx="1"/>
          </p:cNvCxnSpPr>
          <p:nvPr/>
        </p:nvCxnSpPr>
        <p:spPr>
          <a:xfrm flipV="1">
            <a:off x="1194641" y="2707465"/>
            <a:ext cx="329358" cy="4012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8917415-F599-E33D-979B-6D7456702878}"/>
              </a:ext>
            </a:extLst>
          </p:cNvPr>
          <p:cNvSpPr txBox="1"/>
          <p:nvPr/>
        </p:nvSpPr>
        <p:spPr>
          <a:xfrm>
            <a:off x="2895598" y="3627960"/>
            <a:ext cx="4554513" cy="369332"/>
          </a:xfrm>
          <a:prstGeom prst="rect">
            <a:avLst/>
          </a:prstGeom>
          <a:noFill/>
        </p:spPr>
        <p:txBody>
          <a:bodyPr wrap="square" rtlCol="0">
            <a:spAutoFit/>
          </a:bodyPr>
          <a:lstStyle/>
          <a:p>
            <a:r>
              <a:rPr lang="en-GB" dirty="0"/>
              <a:t>Value of array1(</a:t>
            </a:r>
            <a:r>
              <a:rPr lang="en-GB" dirty="0" err="1"/>
              <a:t>row_index</a:t>
            </a:r>
            <a:r>
              <a:rPr lang="en-GB" dirty="0"/>
              <a:t>, </a:t>
            </a:r>
            <a:r>
              <a:rPr lang="en-GB" dirty="0" err="1"/>
              <a:t>column_index</a:t>
            </a:r>
            <a:r>
              <a:rPr lang="en-GB" dirty="0"/>
              <a:t>) </a:t>
            </a:r>
          </a:p>
        </p:txBody>
      </p:sp>
      <p:cxnSp>
        <p:nvCxnSpPr>
          <p:cNvPr id="20" name="Straight Arrow Connector 19">
            <a:extLst>
              <a:ext uri="{FF2B5EF4-FFF2-40B4-BE49-F238E27FC236}">
                <a16:creationId xmlns:a16="http://schemas.microsoft.com/office/drawing/2014/main" id="{212DE922-E627-9960-813A-336891CC6BEE}"/>
              </a:ext>
            </a:extLst>
          </p:cNvPr>
          <p:cNvCxnSpPr>
            <a:cxnSpLocks/>
            <a:stCxn id="19" idx="0"/>
          </p:cNvCxnSpPr>
          <p:nvPr/>
        </p:nvCxnSpPr>
        <p:spPr>
          <a:xfrm flipH="1" flipV="1">
            <a:off x="4887310" y="2900855"/>
            <a:ext cx="285545" cy="7271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2F45B7C-43D8-41ED-4670-0E1ABC5974A8}"/>
              </a:ext>
            </a:extLst>
          </p:cNvPr>
          <p:cNvSpPr txBox="1"/>
          <p:nvPr/>
        </p:nvSpPr>
        <p:spPr>
          <a:xfrm>
            <a:off x="457199" y="4176889"/>
            <a:ext cx="8849407" cy="2031325"/>
          </a:xfrm>
          <a:prstGeom prst="rect">
            <a:avLst/>
          </a:prstGeom>
          <a:noFill/>
        </p:spPr>
        <p:txBody>
          <a:bodyPr wrap="square" rtlCol="0">
            <a:spAutoFit/>
          </a:bodyPr>
          <a:lstStyle/>
          <a:p>
            <a:r>
              <a:rPr lang="en-GB" dirty="0"/>
              <a:t>    </a:t>
            </a:r>
            <a:r>
              <a:rPr lang="en-GB" dirty="0">
                <a:solidFill>
                  <a:schemeClr val="accent5"/>
                </a:solidFill>
              </a:rPr>
              <a:t>real</a:t>
            </a:r>
            <a:r>
              <a:rPr lang="en-GB" dirty="0"/>
              <a:t>, </a:t>
            </a:r>
            <a:r>
              <a:rPr lang="en-GB" dirty="0">
                <a:solidFill>
                  <a:schemeClr val="accent5"/>
                </a:solidFill>
              </a:rPr>
              <a:t>dimension</a:t>
            </a:r>
            <a:r>
              <a:rPr lang="en-GB" dirty="0"/>
              <a:t>(</a:t>
            </a:r>
            <a:r>
              <a:rPr lang="en-GB" dirty="0">
                <a:solidFill>
                  <a:schemeClr val="accent2"/>
                </a:solidFill>
              </a:rPr>
              <a:t>3</a:t>
            </a:r>
            <a:r>
              <a:rPr lang="en-GB" dirty="0"/>
              <a:t>,</a:t>
            </a:r>
            <a:r>
              <a:rPr lang="en-GB" dirty="0">
                <a:solidFill>
                  <a:schemeClr val="accent2"/>
                </a:solidFill>
              </a:rPr>
              <a:t>4</a:t>
            </a:r>
            <a:r>
              <a:rPr lang="en-GB" dirty="0"/>
              <a:t>)    :: array1</a:t>
            </a:r>
          </a:p>
          <a:p>
            <a:br>
              <a:rPr lang="en-GB" dirty="0"/>
            </a:br>
            <a:r>
              <a:rPr lang="en-GB" dirty="0"/>
              <a:t>    array1=</a:t>
            </a:r>
            <a:r>
              <a:rPr lang="en-GB" dirty="0">
                <a:solidFill>
                  <a:schemeClr val="accent2"/>
                </a:solidFill>
              </a:rPr>
              <a:t>4</a:t>
            </a:r>
          </a:p>
          <a:p>
            <a:r>
              <a:rPr lang="en-GB" dirty="0"/>
              <a:t>    array1(</a:t>
            </a:r>
            <a:r>
              <a:rPr lang="en-GB" dirty="0">
                <a:solidFill>
                  <a:schemeClr val="accent2"/>
                </a:solidFill>
              </a:rPr>
              <a:t>2</a:t>
            </a:r>
            <a:r>
              <a:rPr lang="en-GB" dirty="0"/>
              <a:t>,</a:t>
            </a:r>
            <a:r>
              <a:rPr lang="en-GB" dirty="0">
                <a:solidFill>
                  <a:schemeClr val="accent2"/>
                </a:solidFill>
              </a:rPr>
              <a:t>1</a:t>
            </a:r>
            <a:r>
              <a:rPr lang="en-GB" dirty="0"/>
              <a:t>)=1</a:t>
            </a:r>
          </a:p>
          <a:p>
            <a:r>
              <a:rPr lang="en-GB" dirty="0"/>
              <a:t>    array1(</a:t>
            </a:r>
            <a:r>
              <a:rPr lang="en-GB" dirty="0">
                <a:solidFill>
                  <a:schemeClr val="accent2"/>
                </a:solidFill>
              </a:rPr>
              <a:t>1</a:t>
            </a:r>
            <a:r>
              <a:rPr lang="en-GB" dirty="0"/>
              <a:t>,:)=(/</a:t>
            </a:r>
            <a:r>
              <a:rPr lang="en-GB" dirty="0">
                <a:solidFill>
                  <a:schemeClr val="accent2"/>
                </a:solidFill>
              </a:rPr>
              <a:t>5</a:t>
            </a:r>
            <a:r>
              <a:rPr lang="en-GB" dirty="0"/>
              <a:t>,</a:t>
            </a:r>
            <a:r>
              <a:rPr lang="en-GB" dirty="0">
                <a:solidFill>
                  <a:schemeClr val="accent2"/>
                </a:solidFill>
              </a:rPr>
              <a:t>10</a:t>
            </a:r>
            <a:r>
              <a:rPr lang="en-GB" dirty="0"/>
              <a:t>,</a:t>
            </a:r>
            <a:r>
              <a:rPr lang="en-GB" dirty="0">
                <a:solidFill>
                  <a:schemeClr val="accent2"/>
                </a:solidFill>
              </a:rPr>
              <a:t>4</a:t>
            </a:r>
            <a:r>
              <a:rPr lang="en-GB" dirty="0"/>
              <a:t>,</a:t>
            </a:r>
            <a:r>
              <a:rPr lang="en-GB" dirty="0">
                <a:solidFill>
                  <a:schemeClr val="accent2"/>
                </a:solidFill>
              </a:rPr>
              <a:t>6</a:t>
            </a:r>
            <a:r>
              <a:rPr lang="en-GB" dirty="0"/>
              <a:t>/)</a:t>
            </a:r>
          </a:p>
          <a:p>
            <a:r>
              <a:rPr lang="en-GB" dirty="0"/>
              <a:t>    array1(</a:t>
            </a:r>
            <a:r>
              <a:rPr lang="en-GB" dirty="0">
                <a:solidFill>
                  <a:schemeClr val="accent2"/>
                </a:solidFill>
              </a:rPr>
              <a:t>2</a:t>
            </a:r>
            <a:r>
              <a:rPr lang="en-GB" dirty="0"/>
              <a:t>:,</a:t>
            </a:r>
            <a:r>
              <a:rPr lang="en-GB" dirty="0">
                <a:solidFill>
                  <a:schemeClr val="accent2"/>
                </a:solidFill>
              </a:rPr>
              <a:t>2</a:t>
            </a:r>
            <a:r>
              <a:rPr lang="en-GB" dirty="0"/>
              <a:t>:)=array1(</a:t>
            </a:r>
            <a:r>
              <a:rPr lang="en-GB" dirty="0">
                <a:solidFill>
                  <a:schemeClr val="accent2"/>
                </a:solidFill>
              </a:rPr>
              <a:t>2</a:t>
            </a:r>
            <a:r>
              <a:rPr lang="en-GB" dirty="0"/>
              <a:t>:, :</a:t>
            </a:r>
            <a:r>
              <a:rPr lang="en-GB" dirty="0">
                <a:solidFill>
                  <a:schemeClr val="accent2"/>
                </a:solidFill>
              </a:rPr>
              <a:t>3</a:t>
            </a:r>
            <a:r>
              <a:rPr lang="en-GB" dirty="0"/>
              <a:t>)/</a:t>
            </a:r>
            <a:r>
              <a:rPr lang="en-GB" dirty="0">
                <a:solidFill>
                  <a:schemeClr val="accent2"/>
                </a:solidFill>
              </a:rPr>
              <a:t>2</a:t>
            </a:r>
          </a:p>
          <a:p>
            <a:endParaRPr lang="en-GB" dirty="0"/>
          </a:p>
        </p:txBody>
      </p:sp>
    </p:spTree>
    <p:extLst>
      <p:ext uri="{BB962C8B-B14F-4D97-AF65-F5344CB8AC3E}">
        <p14:creationId xmlns:p14="http://schemas.microsoft.com/office/powerpoint/2010/main" val="160732082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Array Operators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23</a:t>
            </a:fld>
            <a:endParaRPr lang="en-GB"/>
          </a:p>
        </p:txBody>
      </p:sp>
      <p:sp>
        <p:nvSpPr>
          <p:cNvPr id="21" name="TextBox 20">
            <a:extLst>
              <a:ext uri="{FF2B5EF4-FFF2-40B4-BE49-F238E27FC236}">
                <a16:creationId xmlns:a16="http://schemas.microsoft.com/office/drawing/2014/main" id="{3EF02EC7-08E8-F4F1-85BA-B64EC3336509}"/>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graphicFrame>
        <p:nvGraphicFramePr>
          <p:cNvPr id="28" name="Table 27">
            <a:extLst>
              <a:ext uri="{FF2B5EF4-FFF2-40B4-BE49-F238E27FC236}">
                <a16:creationId xmlns:a16="http://schemas.microsoft.com/office/drawing/2014/main" id="{D940666D-1A22-5A61-43BE-D150174F045B}"/>
              </a:ext>
            </a:extLst>
          </p:cNvPr>
          <p:cNvGraphicFramePr>
            <a:graphicFrameLocks noGrp="1"/>
          </p:cNvGraphicFramePr>
          <p:nvPr>
            <p:extLst>
              <p:ext uri="{D42A27DB-BD31-4B8C-83A1-F6EECF244321}">
                <p14:modId xmlns:p14="http://schemas.microsoft.com/office/powerpoint/2010/main" val="550771965"/>
              </p:ext>
            </p:extLst>
          </p:nvPr>
        </p:nvGraphicFramePr>
        <p:xfrm>
          <a:off x="457199" y="1093078"/>
          <a:ext cx="11418095" cy="5192715"/>
        </p:xfrm>
        <a:graphic>
          <a:graphicData uri="http://schemas.openxmlformats.org/drawingml/2006/table">
            <a:tbl>
              <a:tblPr firstRow="1" bandRow="1">
                <a:tableStyleId>{5C22544A-7EE6-4342-B048-85BDC9FD1C3A}</a:tableStyleId>
              </a:tblPr>
              <a:tblGrid>
                <a:gridCol w="2384238">
                  <a:extLst>
                    <a:ext uri="{9D8B030D-6E8A-4147-A177-3AD203B41FA5}">
                      <a16:colId xmlns:a16="http://schemas.microsoft.com/office/drawing/2014/main" val="2842650198"/>
                    </a:ext>
                  </a:extLst>
                </a:gridCol>
                <a:gridCol w="2624849">
                  <a:extLst>
                    <a:ext uri="{9D8B030D-6E8A-4147-A177-3AD203B41FA5}">
                      <a16:colId xmlns:a16="http://schemas.microsoft.com/office/drawing/2014/main" val="1520776198"/>
                    </a:ext>
                  </a:extLst>
                </a:gridCol>
                <a:gridCol w="6409008">
                  <a:extLst>
                    <a:ext uri="{9D8B030D-6E8A-4147-A177-3AD203B41FA5}">
                      <a16:colId xmlns:a16="http://schemas.microsoft.com/office/drawing/2014/main" val="2294331910"/>
                    </a:ext>
                  </a:extLst>
                </a:gridCol>
              </a:tblGrid>
              <a:tr h="319836">
                <a:tc>
                  <a:txBody>
                    <a:bodyPr/>
                    <a:lstStyle/>
                    <a:p>
                      <a:r>
                        <a:rPr lang="en-US" dirty="0"/>
                        <a:t>Operator</a:t>
                      </a:r>
                    </a:p>
                  </a:txBody>
                  <a:tcPr/>
                </a:tc>
                <a:tc>
                  <a:txBody>
                    <a:bodyPr/>
                    <a:lstStyle/>
                    <a:p>
                      <a:r>
                        <a:rPr lang="en-US" dirty="0"/>
                        <a:t>Example</a:t>
                      </a:r>
                    </a:p>
                  </a:txBody>
                  <a:tcPr/>
                </a:tc>
                <a:tc>
                  <a:txBody>
                    <a:bodyPr/>
                    <a:lstStyle/>
                    <a:p>
                      <a:r>
                        <a:rPr lang="en-US" dirty="0"/>
                        <a:t>Effect</a:t>
                      </a:r>
                    </a:p>
                  </a:txBody>
                  <a:tcPr/>
                </a:tc>
                <a:extLst>
                  <a:ext uri="{0D108BD9-81ED-4DB2-BD59-A6C34878D82A}">
                    <a16:rowId xmlns:a16="http://schemas.microsoft.com/office/drawing/2014/main" val="492409429"/>
                  </a:ext>
                </a:extLst>
              </a:tr>
              <a:tr h="319836">
                <a:tc>
                  <a:txBody>
                    <a:bodyPr/>
                    <a:lstStyle/>
                    <a:p>
                      <a:r>
                        <a:rPr lang="en-US" sz="1600" dirty="0"/>
                        <a:t>Addition</a:t>
                      </a:r>
                    </a:p>
                  </a:txBody>
                  <a:tcPr/>
                </a:tc>
                <a:tc>
                  <a:txBody>
                    <a:bodyPr/>
                    <a:lstStyle/>
                    <a:p>
                      <a:r>
                        <a:rPr lang="en-US" sz="1600" dirty="0" err="1"/>
                        <a:t>a+b</a:t>
                      </a:r>
                      <a:endParaRPr lang="en-US" sz="1600" dirty="0"/>
                    </a:p>
                  </a:txBody>
                  <a:tcPr/>
                </a:tc>
                <a:tc>
                  <a:txBody>
                    <a:bodyPr/>
                    <a:lstStyle/>
                    <a:p>
                      <a:r>
                        <a:rPr lang="en-US" sz="1600" dirty="0"/>
                        <a:t>Returns vector sum of a and b</a:t>
                      </a:r>
                    </a:p>
                  </a:txBody>
                  <a:tcPr/>
                </a:tc>
                <a:extLst>
                  <a:ext uri="{0D108BD9-81ED-4DB2-BD59-A6C34878D82A}">
                    <a16:rowId xmlns:a16="http://schemas.microsoft.com/office/drawing/2014/main" val="3351112251"/>
                  </a:ext>
                </a:extLst>
              </a:tr>
              <a:tr h="319836">
                <a:tc>
                  <a:txBody>
                    <a:bodyPr/>
                    <a:lstStyle/>
                    <a:p>
                      <a:r>
                        <a:rPr lang="en-US" sz="1600" dirty="0"/>
                        <a:t>Subtraction</a:t>
                      </a:r>
                    </a:p>
                  </a:txBody>
                  <a:tcPr/>
                </a:tc>
                <a:tc>
                  <a:txBody>
                    <a:bodyPr/>
                    <a:lstStyle/>
                    <a:p>
                      <a:r>
                        <a:rPr lang="en-US" sz="1600" dirty="0"/>
                        <a:t>a-b</a:t>
                      </a:r>
                    </a:p>
                  </a:txBody>
                  <a:tcPr/>
                </a:tc>
                <a:tc>
                  <a:txBody>
                    <a:bodyPr/>
                    <a:lstStyle/>
                    <a:p>
                      <a:r>
                        <a:rPr lang="en-US" sz="1600" dirty="0"/>
                        <a:t>Returns vector difference between a and b</a:t>
                      </a:r>
                    </a:p>
                  </a:txBody>
                  <a:tcPr/>
                </a:tc>
                <a:extLst>
                  <a:ext uri="{0D108BD9-81ED-4DB2-BD59-A6C34878D82A}">
                    <a16:rowId xmlns:a16="http://schemas.microsoft.com/office/drawing/2014/main" val="201766709"/>
                  </a:ext>
                </a:extLst>
              </a:tr>
              <a:tr h="552443">
                <a:tc>
                  <a:txBody>
                    <a:bodyPr/>
                    <a:lstStyle/>
                    <a:p>
                      <a:r>
                        <a:rPr lang="en-US" sz="1600" dirty="0"/>
                        <a:t>Division</a:t>
                      </a:r>
                    </a:p>
                  </a:txBody>
                  <a:tcPr/>
                </a:tc>
                <a:tc>
                  <a:txBody>
                    <a:bodyPr/>
                    <a:lstStyle/>
                    <a:p>
                      <a:r>
                        <a:rPr lang="en-US" sz="1600" dirty="0"/>
                        <a:t>a/b</a:t>
                      </a:r>
                    </a:p>
                  </a:txBody>
                  <a:tcPr/>
                </a:tc>
                <a:tc>
                  <a:txBody>
                    <a:bodyPr/>
                    <a:lstStyle/>
                    <a:p>
                      <a:r>
                        <a:rPr lang="en-US" sz="1600" dirty="0"/>
                        <a:t>Value </a:t>
                      </a:r>
                      <a:r>
                        <a:rPr lang="en-US" sz="1600" dirty="0" err="1"/>
                        <a:t>i</a:t>
                      </a:r>
                      <a:r>
                        <a:rPr lang="en-US" sz="1600" dirty="0"/>
                        <a:t> of the returned array will be equal to value </a:t>
                      </a:r>
                      <a:r>
                        <a:rPr lang="en-US" sz="1600" dirty="0" err="1"/>
                        <a:t>i</a:t>
                      </a:r>
                      <a:r>
                        <a:rPr lang="en-US" sz="1600" dirty="0"/>
                        <a:t> in a divided by value </a:t>
                      </a:r>
                      <a:r>
                        <a:rPr lang="en-US" sz="1600" dirty="0" err="1"/>
                        <a:t>i</a:t>
                      </a:r>
                      <a:r>
                        <a:rPr lang="en-US" sz="1600" dirty="0"/>
                        <a:t> in b</a:t>
                      </a:r>
                    </a:p>
                  </a:txBody>
                  <a:tcPr/>
                </a:tc>
                <a:extLst>
                  <a:ext uri="{0D108BD9-81ED-4DB2-BD59-A6C34878D82A}">
                    <a16:rowId xmlns:a16="http://schemas.microsoft.com/office/drawing/2014/main" val="2718905147"/>
                  </a:ext>
                </a:extLst>
              </a:tr>
              <a:tr h="552443">
                <a:tc>
                  <a:txBody>
                    <a:bodyPr/>
                    <a:lstStyle/>
                    <a:p>
                      <a:r>
                        <a:rPr lang="en-US" sz="1600" dirty="0"/>
                        <a:t>Multiplication</a:t>
                      </a:r>
                    </a:p>
                  </a:txBody>
                  <a:tcPr/>
                </a:tc>
                <a:tc>
                  <a:txBody>
                    <a:bodyPr/>
                    <a:lstStyle/>
                    <a:p>
                      <a:r>
                        <a:rPr lang="en-US" sz="1600" dirty="0"/>
                        <a:t>c=a*b</a:t>
                      </a:r>
                    </a:p>
                  </a:txBody>
                  <a:tcPr/>
                </a:tc>
                <a:tc>
                  <a:txBody>
                    <a:bodyPr/>
                    <a:lstStyle/>
                    <a:p>
                      <a:r>
                        <a:rPr lang="en-US" sz="1600" dirty="0"/>
                        <a:t>Value </a:t>
                      </a:r>
                      <a:r>
                        <a:rPr lang="en-US" sz="1600" dirty="0" err="1"/>
                        <a:t>i</a:t>
                      </a:r>
                      <a:r>
                        <a:rPr lang="en-US" sz="1600" dirty="0"/>
                        <a:t> of the returned array will be equal to value </a:t>
                      </a:r>
                      <a:r>
                        <a:rPr lang="en-US" sz="1600" dirty="0" err="1"/>
                        <a:t>i</a:t>
                      </a:r>
                      <a:r>
                        <a:rPr lang="en-US" sz="1600" dirty="0"/>
                        <a:t> in a multiplied by value </a:t>
                      </a:r>
                      <a:r>
                        <a:rPr lang="en-US" sz="1600" dirty="0" err="1"/>
                        <a:t>i</a:t>
                      </a:r>
                      <a:r>
                        <a:rPr lang="en-US" sz="1600" dirty="0"/>
                        <a:t> in b</a:t>
                      </a:r>
                    </a:p>
                  </a:txBody>
                  <a:tcPr/>
                </a:tc>
                <a:extLst>
                  <a:ext uri="{0D108BD9-81ED-4DB2-BD59-A6C34878D82A}">
                    <a16:rowId xmlns:a16="http://schemas.microsoft.com/office/drawing/2014/main" val="2627324450"/>
                  </a:ext>
                </a:extLst>
              </a:tr>
              <a:tr h="552443">
                <a:tc>
                  <a:txBody>
                    <a:bodyPr/>
                    <a:lstStyle/>
                    <a:p>
                      <a:r>
                        <a:rPr lang="en-US" sz="1600" dirty="0"/>
                        <a:t>Exponentiation</a:t>
                      </a:r>
                    </a:p>
                  </a:txBody>
                  <a:tcPr/>
                </a:tc>
                <a:tc>
                  <a:txBody>
                    <a:bodyPr/>
                    <a:lstStyle/>
                    <a:p>
                      <a:r>
                        <a:rPr lang="en-US" sz="1600" dirty="0"/>
                        <a:t>c=a**b</a:t>
                      </a:r>
                    </a:p>
                  </a:txBody>
                  <a:tcPr/>
                </a:tc>
                <a:tc>
                  <a:txBody>
                    <a:bodyPr/>
                    <a:lstStyle/>
                    <a:p>
                      <a:r>
                        <a:rPr lang="en-US" sz="1600" dirty="0"/>
                        <a:t>value </a:t>
                      </a:r>
                      <a:r>
                        <a:rPr lang="en-US" sz="1600" dirty="0" err="1"/>
                        <a:t>i</a:t>
                      </a:r>
                      <a:r>
                        <a:rPr lang="en-US" sz="1600" dirty="0"/>
                        <a:t> of the returned array will be equal to value </a:t>
                      </a:r>
                      <a:r>
                        <a:rPr lang="en-US" sz="1600" dirty="0" err="1"/>
                        <a:t>i</a:t>
                      </a:r>
                      <a:r>
                        <a:rPr lang="en-US" sz="1600" dirty="0"/>
                        <a:t> in a to the power of value </a:t>
                      </a:r>
                      <a:r>
                        <a:rPr lang="en-US" sz="1600" dirty="0" err="1"/>
                        <a:t>i</a:t>
                      </a:r>
                      <a:r>
                        <a:rPr lang="en-US" sz="1600" dirty="0"/>
                        <a:t> in b</a:t>
                      </a:r>
                    </a:p>
                  </a:txBody>
                  <a:tcPr/>
                </a:tc>
                <a:extLst>
                  <a:ext uri="{0D108BD9-81ED-4DB2-BD59-A6C34878D82A}">
                    <a16:rowId xmlns:a16="http://schemas.microsoft.com/office/drawing/2014/main" val="3345643632"/>
                  </a:ext>
                </a:extLst>
              </a:tr>
              <a:tr h="489440">
                <a:tc>
                  <a:txBody>
                    <a:bodyPr/>
                    <a:lstStyle/>
                    <a:p>
                      <a:r>
                        <a:rPr lang="en-US" sz="1600" dirty="0"/>
                        <a:t>Dot Product</a:t>
                      </a:r>
                    </a:p>
                  </a:txBody>
                  <a:tcPr/>
                </a:tc>
                <a:tc>
                  <a:txBody>
                    <a:bodyPr/>
                    <a:lstStyle/>
                    <a:p>
                      <a:r>
                        <a:rPr lang="en-US" sz="1600" dirty="0" err="1"/>
                        <a:t>dot_product</a:t>
                      </a:r>
                      <a:r>
                        <a:rPr lang="en-US" sz="1600" dirty="0"/>
                        <a:t>(</a:t>
                      </a:r>
                      <a:r>
                        <a:rPr lang="en-US" sz="1600" dirty="0" err="1"/>
                        <a:t>a,b</a:t>
                      </a:r>
                      <a:r>
                        <a:rPr lang="en-US" sz="1600" dirty="0"/>
                        <a:t>)</a:t>
                      </a:r>
                    </a:p>
                  </a:txBody>
                  <a:tcPr/>
                </a:tc>
                <a:tc>
                  <a:txBody>
                    <a:bodyPr/>
                    <a:lstStyle/>
                    <a:p>
                      <a:r>
                        <a:rPr lang="en-US" sz="1600" dirty="0"/>
                        <a:t>Returns a single value equal to the do product of a and b</a:t>
                      </a:r>
                    </a:p>
                  </a:txBody>
                  <a:tcPr/>
                </a:tc>
                <a:extLst>
                  <a:ext uri="{0D108BD9-81ED-4DB2-BD59-A6C34878D82A}">
                    <a16:rowId xmlns:a16="http://schemas.microsoft.com/office/drawing/2014/main" val="2822039338"/>
                  </a:ext>
                </a:extLst>
              </a:tr>
              <a:tr h="552443">
                <a:tc>
                  <a:txBody>
                    <a:bodyPr/>
                    <a:lstStyle/>
                    <a:p>
                      <a:r>
                        <a:rPr lang="en-US" sz="1600" dirty="0"/>
                        <a:t>Matrix multiplication</a:t>
                      </a:r>
                    </a:p>
                  </a:txBody>
                  <a:tcPr/>
                </a:tc>
                <a:tc>
                  <a:txBody>
                    <a:bodyPr/>
                    <a:lstStyle/>
                    <a:p>
                      <a:r>
                        <a:rPr lang="en-US" sz="1600" dirty="0" err="1"/>
                        <a:t>matmul</a:t>
                      </a:r>
                      <a:r>
                        <a:rPr lang="en-US" sz="1600" dirty="0"/>
                        <a:t>(</a:t>
                      </a:r>
                      <a:r>
                        <a:rPr lang="en-US" sz="1600" dirty="0" err="1"/>
                        <a:t>m,b</a:t>
                      </a:r>
                      <a:r>
                        <a:rPr lang="en-US" sz="1600" dirty="0"/>
                        <a:t>)</a:t>
                      </a:r>
                    </a:p>
                  </a:txBody>
                  <a:tcPr/>
                </a:tc>
                <a:tc>
                  <a:txBody>
                    <a:bodyPr/>
                    <a:lstStyle/>
                    <a:p>
                      <a:r>
                        <a:rPr lang="en-US" sz="1600" dirty="0"/>
                        <a:t>Returns a 1d array given a 2d matrix operator multiplying a 1d array b</a:t>
                      </a:r>
                    </a:p>
                  </a:txBody>
                  <a:tcPr/>
                </a:tc>
                <a:extLst>
                  <a:ext uri="{0D108BD9-81ED-4DB2-BD59-A6C34878D82A}">
                    <a16:rowId xmlns:a16="http://schemas.microsoft.com/office/drawing/2014/main" val="2090479095"/>
                  </a:ext>
                </a:extLst>
              </a:tr>
              <a:tr h="402075">
                <a:tc>
                  <a:txBody>
                    <a:bodyPr/>
                    <a:lstStyle/>
                    <a:p>
                      <a:r>
                        <a:rPr lang="en-US" sz="1600" dirty="0"/>
                        <a:t>Minimum</a:t>
                      </a:r>
                    </a:p>
                  </a:txBody>
                  <a:tcPr/>
                </a:tc>
                <a:tc>
                  <a:txBody>
                    <a:bodyPr/>
                    <a:lstStyle/>
                    <a:p>
                      <a:r>
                        <a:rPr lang="en-US" sz="1600" dirty="0" err="1"/>
                        <a:t>minval</a:t>
                      </a:r>
                      <a:r>
                        <a:rPr lang="en-US" sz="1600" dirty="0"/>
                        <a:t>(a)</a:t>
                      </a:r>
                    </a:p>
                  </a:txBody>
                  <a:tcPr/>
                </a:tc>
                <a:tc>
                  <a:txBody>
                    <a:bodyPr/>
                    <a:lstStyle/>
                    <a:p>
                      <a:r>
                        <a:rPr lang="en-US" sz="1600" dirty="0"/>
                        <a:t>Returns minimum value in a</a:t>
                      </a:r>
                    </a:p>
                  </a:txBody>
                  <a:tcPr/>
                </a:tc>
                <a:extLst>
                  <a:ext uri="{0D108BD9-81ED-4DB2-BD59-A6C34878D82A}">
                    <a16:rowId xmlns:a16="http://schemas.microsoft.com/office/drawing/2014/main" val="845523735"/>
                  </a:ext>
                </a:extLst>
              </a:tr>
              <a:tr h="489440">
                <a:tc>
                  <a:txBody>
                    <a:bodyPr/>
                    <a:lstStyle/>
                    <a:p>
                      <a:r>
                        <a:rPr lang="en-US" sz="1600" dirty="0"/>
                        <a:t>Maximum location</a:t>
                      </a:r>
                    </a:p>
                  </a:txBody>
                  <a:tcPr/>
                </a:tc>
                <a:tc>
                  <a:txBody>
                    <a:bodyPr/>
                    <a:lstStyle/>
                    <a:p>
                      <a:r>
                        <a:rPr lang="en-US" sz="1600" dirty="0" err="1"/>
                        <a:t>maxloc</a:t>
                      </a:r>
                      <a:r>
                        <a:rPr lang="en-US" sz="1600" dirty="0"/>
                        <a:t>(a)</a:t>
                      </a:r>
                    </a:p>
                  </a:txBody>
                  <a:tcPr/>
                </a:tc>
                <a:tc>
                  <a:txBody>
                    <a:bodyPr/>
                    <a:lstStyle/>
                    <a:p>
                      <a:r>
                        <a:rPr lang="en-US" sz="1600" dirty="0"/>
                        <a:t>Returns the indices of the maximum value in the array as a 1d array</a:t>
                      </a:r>
                    </a:p>
                  </a:txBody>
                  <a:tcPr/>
                </a:tc>
                <a:extLst>
                  <a:ext uri="{0D108BD9-81ED-4DB2-BD59-A6C34878D82A}">
                    <a16:rowId xmlns:a16="http://schemas.microsoft.com/office/drawing/2014/main" val="4233435334"/>
                  </a:ext>
                </a:extLst>
              </a:tr>
              <a:tr h="489440">
                <a:tc>
                  <a:txBody>
                    <a:bodyPr/>
                    <a:lstStyle/>
                    <a:p>
                      <a:r>
                        <a:rPr lang="en-US" sz="1600" dirty="0"/>
                        <a:t>Sum</a:t>
                      </a:r>
                    </a:p>
                  </a:txBody>
                  <a:tcPr/>
                </a:tc>
                <a:tc>
                  <a:txBody>
                    <a:bodyPr/>
                    <a:lstStyle/>
                    <a:p>
                      <a:r>
                        <a:rPr lang="en-US" sz="1600" dirty="0"/>
                        <a:t>sum(a)</a:t>
                      </a:r>
                    </a:p>
                  </a:txBody>
                  <a:tcPr/>
                </a:tc>
                <a:tc>
                  <a:txBody>
                    <a:bodyPr/>
                    <a:lstStyle/>
                    <a:p>
                      <a:r>
                        <a:rPr lang="en-US" sz="1600" dirty="0"/>
                        <a:t>Returns the sum of the array</a:t>
                      </a:r>
                    </a:p>
                  </a:txBody>
                  <a:tcPr/>
                </a:tc>
                <a:extLst>
                  <a:ext uri="{0D108BD9-81ED-4DB2-BD59-A6C34878D82A}">
                    <a16:rowId xmlns:a16="http://schemas.microsoft.com/office/drawing/2014/main" val="2591952012"/>
                  </a:ext>
                </a:extLst>
              </a:tr>
            </a:tbl>
          </a:graphicData>
        </a:graphic>
      </p:graphicFrame>
      <p:sp>
        <p:nvSpPr>
          <p:cNvPr id="29" name="TextBox 28">
            <a:extLst>
              <a:ext uri="{FF2B5EF4-FFF2-40B4-BE49-F238E27FC236}">
                <a16:creationId xmlns:a16="http://schemas.microsoft.com/office/drawing/2014/main" id="{28540F58-C931-0B2E-AB27-0CB47361198A}"/>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53493027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Allocatable Arrays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24</a:t>
            </a:fld>
            <a:endParaRPr lang="en-GB"/>
          </a:p>
        </p:txBody>
      </p:sp>
      <p:sp>
        <p:nvSpPr>
          <p:cNvPr id="21" name="TextBox 20">
            <a:extLst>
              <a:ext uri="{FF2B5EF4-FFF2-40B4-BE49-F238E27FC236}">
                <a16:creationId xmlns:a16="http://schemas.microsoft.com/office/drawing/2014/main" id="{3EF02EC7-08E8-F4F1-85BA-B64EC3336509}"/>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fontScale="92500" lnSpcReduction="20000"/>
          </a:bodyPr>
          <a:lstStyle/>
          <a:p>
            <a:pPr marL="457200" indent="-457200">
              <a:buFont typeface="Arial" panose="020B0604020202020204" pitchFamily="34" charset="0"/>
              <a:buChar char="•"/>
            </a:pPr>
            <a:r>
              <a:rPr lang="en-GB" sz="3100" dirty="0"/>
              <a:t>It’s possible to declare an array without specifying its length using:</a:t>
            </a:r>
          </a:p>
          <a:p>
            <a:r>
              <a:rPr lang="en-GB" sz="3100" dirty="0">
                <a:solidFill>
                  <a:schemeClr val="accent5"/>
                </a:solidFill>
              </a:rPr>
              <a:t>	integer</a:t>
            </a:r>
            <a:r>
              <a:rPr lang="en-GB" sz="3100" dirty="0"/>
              <a:t>, </a:t>
            </a:r>
            <a:r>
              <a:rPr lang="en-GB" sz="3100" dirty="0">
                <a:solidFill>
                  <a:schemeClr val="accent5"/>
                </a:solidFill>
              </a:rPr>
              <a:t>dimension</a:t>
            </a:r>
            <a:r>
              <a:rPr lang="en-GB" sz="3100" dirty="0"/>
              <a:t>(:), allocatable	::	</a:t>
            </a:r>
            <a:r>
              <a:rPr lang="en-GB" sz="3100" dirty="0" err="1"/>
              <a:t>array_name</a:t>
            </a:r>
            <a:endParaRPr lang="en-GB" sz="3100" dirty="0"/>
          </a:p>
          <a:p>
            <a:pPr marL="457200" indent="-457200">
              <a:buFont typeface="Arial" panose="020B0604020202020204" pitchFamily="34" charset="0"/>
              <a:buChar char="•"/>
            </a:pPr>
            <a:r>
              <a:rPr lang="en-GB" sz="3100" dirty="0"/>
              <a:t>You may then allocate an array later to define its length using</a:t>
            </a:r>
          </a:p>
          <a:p>
            <a:r>
              <a:rPr lang="en-GB" sz="3100" dirty="0"/>
              <a:t>	</a:t>
            </a:r>
            <a:r>
              <a:rPr lang="en-GB" sz="3100" dirty="0">
                <a:solidFill>
                  <a:schemeClr val="accent5"/>
                </a:solidFill>
              </a:rPr>
              <a:t>allocate</a:t>
            </a:r>
            <a:r>
              <a:rPr lang="en-GB" sz="3100" dirty="0"/>
              <a:t>(</a:t>
            </a:r>
            <a:r>
              <a:rPr lang="en-GB" sz="3100" dirty="0" err="1"/>
              <a:t>array_name</a:t>
            </a:r>
            <a:r>
              <a:rPr lang="en-GB" sz="3100" dirty="0"/>
              <a:t>(size))</a:t>
            </a:r>
          </a:p>
          <a:p>
            <a:pPr marL="457200" indent="-457200">
              <a:buFont typeface="Arial" panose="020B0604020202020204" pitchFamily="34" charset="0"/>
              <a:buChar char="•"/>
            </a:pPr>
            <a:r>
              <a:rPr lang="en-GB" sz="3100" dirty="0"/>
              <a:t>Cannot assign to an entry in an array before it’s allocated</a:t>
            </a:r>
          </a:p>
          <a:p>
            <a:pPr marL="457200" indent="-457200">
              <a:buFont typeface="Arial" panose="020B0604020202020204" pitchFamily="34" charset="0"/>
              <a:buChar char="•"/>
            </a:pPr>
            <a:r>
              <a:rPr lang="en-GB" sz="3100" dirty="0"/>
              <a:t>Can assign an allocated array of the same dimension to an unallocated array to allocate it </a:t>
            </a:r>
          </a:p>
          <a:p>
            <a:pPr marL="457200" indent="-457200">
              <a:buFont typeface="Arial" panose="020B0604020202020204" pitchFamily="34" charset="0"/>
              <a:buChar char="•"/>
            </a:pPr>
            <a:r>
              <a:rPr lang="en-GB" sz="3100" dirty="0"/>
              <a:t>Can check if an array is allocated using:</a:t>
            </a:r>
          </a:p>
          <a:p>
            <a:pPr marL="457200" lvl="1"/>
            <a:r>
              <a:rPr lang="en-GB" sz="3100" dirty="0">
                <a:solidFill>
                  <a:schemeClr val="accent5"/>
                </a:solidFill>
              </a:rPr>
              <a:t>  allocated</a:t>
            </a:r>
            <a:r>
              <a:rPr lang="en-GB" sz="3100" dirty="0"/>
              <a:t>(</a:t>
            </a:r>
            <a:r>
              <a:rPr lang="en-GB" sz="3100" dirty="0" err="1"/>
              <a:t>array_name</a:t>
            </a:r>
            <a:r>
              <a:rPr lang="en-GB" sz="3100" dirty="0"/>
              <a:t>)</a:t>
            </a:r>
          </a:p>
          <a:p>
            <a:pPr marL="457200" indent="-457200">
              <a:buFont typeface="Arial" panose="020B0604020202020204" pitchFamily="34" charset="0"/>
              <a:buChar char="•"/>
            </a:pPr>
            <a:r>
              <a:rPr lang="en-GB" sz="3100" dirty="0"/>
              <a:t>Can check the size of an array using</a:t>
            </a:r>
          </a:p>
          <a:p>
            <a:pPr marL="457200" lvl="1"/>
            <a:r>
              <a:rPr lang="en-GB" sz="3100" dirty="0">
                <a:solidFill>
                  <a:schemeClr val="accent5"/>
                </a:solidFill>
              </a:rPr>
              <a:t>  size</a:t>
            </a:r>
            <a:r>
              <a:rPr lang="en-GB" sz="3100" dirty="0"/>
              <a:t>(</a:t>
            </a:r>
            <a:r>
              <a:rPr lang="en-GB" sz="3100" dirty="0" err="1"/>
              <a:t>array_name</a:t>
            </a:r>
            <a:r>
              <a:rPr lang="en-GB" sz="3100" dirty="0"/>
              <a:t>, </a:t>
            </a:r>
            <a:r>
              <a:rPr lang="en-GB" sz="3100" dirty="0" err="1"/>
              <a:t>dimension_number</a:t>
            </a:r>
            <a:r>
              <a:rPr lang="en-GB" sz="3100" dirty="0"/>
              <a:t>)</a:t>
            </a:r>
          </a:p>
          <a:p>
            <a:pPr marL="457200" indent="-457200">
              <a:buFont typeface="Arial" panose="020B0604020202020204" pitchFamily="34" charset="0"/>
              <a:buChar char="•"/>
            </a:pPr>
            <a:r>
              <a:rPr lang="en-GB" sz="3100" dirty="0"/>
              <a:t>Can deallocate an array using</a:t>
            </a:r>
          </a:p>
          <a:p>
            <a:pPr marL="457200" lvl="1"/>
            <a:r>
              <a:rPr lang="en-GB" sz="3100" dirty="0">
                <a:solidFill>
                  <a:schemeClr val="accent5"/>
                </a:solidFill>
              </a:rPr>
              <a:t>  deallocate</a:t>
            </a:r>
            <a:r>
              <a:rPr lang="en-GB" sz="3100" dirty="0"/>
              <a:t>(</a:t>
            </a:r>
            <a:r>
              <a:rPr lang="en-GB" sz="3100" dirty="0" err="1"/>
              <a:t>array_name</a:t>
            </a:r>
            <a:r>
              <a:rPr lang="en-GB" sz="3100" dirty="0"/>
              <a:t>)</a:t>
            </a:r>
          </a:p>
          <a:p>
            <a:pPr lvl="1"/>
            <a:endParaRPr lang="en-GB" sz="2200" dirty="0"/>
          </a:p>
          <a:p>
            <a:endParaRPr lang="en-GB" sz="3000" dirty="0"/>
          </a:p>
        </p:txBody>
      </p:sp>
    </p:spTree>
    <p:extLst>
      <p:ext uri="{BB962C8B-B14F-4D97-AF65-F5344CB8AC3E}">
        <p14:creationId xmlns:p14="http://schemas.microsoft.com/office/powerpoint/2010/main" val="26051898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err="1"/>
              <a:t>Logicals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25</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err="1"/>
              <a:t>Logicals</a:t>
            </a:r>
            <a:r>
              <a:rPr lang="en-GB" sz="3200" dirty="0"/>
              <a:t> are a type of variable</a:t>
            </a:r>
          </a:p>
          <a:p>
            <a:pPr marL="504891" lvl="2" indent="-342900"/>
            <a:r>
              <a:rPr lang="en-GB" sz="2800" dirty="0"/>
              <a:t>May be True or False</a:t>
            </a:r>
          </a:p>
          <a:p>
            <a:pPr marL="342900" indent="-342900">
              <a:buFont typeface="Arial" panose="020B0604020202020204" pitchFamily="34" charset="0"/>
              <a:buChar char="•"/>
            </a:pPr>
            <a:r>
              <a:rPr lang="en-GB" sz="3200" dirty="0"/>
              <a:t>Can be operated on with logical operations</a:t>
            </a:r>
          </a:p>
          <a:p>
            <a:pPr marL="342900" indent="-342900">
              <a:buFont typeface="Arial" panose="020B0604020202020204" pitchFamily="34" charset="0"/>
              <a:buChar char="•"/>
            </a:pPr>
            <a:r>
              <a:rPr lang="en-GB" sz="3200" dirty="0"/>
              <a:t>Commonly used to control the flow of the program</a:t>
            </a:r>
          </a:p>
          <a:p>
            <a:pPr marL="342900" indent="-342900">
              <a:buFont typeface="Arial" panose="020B0604020202020204" pitchFamily="34" charset="0"/>
              <a:buChar char="•"/>
            </a:pPr>
            <a:endParaRPr lang="en-GB" sz="3200" dirty="0"/>
          </a:p>
          <a:p>
            <a:r>
              <a:rPr lang="en-GB" sz="3200" dirty="0">
                <a:solidFill>
                  <a:schemeClr val="accent5"/>
                </a:solidFill>
              </a:rPr>
              <a:t>logical</a:t>
            </a:r>
            <a:r>
              <a:rPr lang="en-GB" sz="3200" dirty="0"/>
              <a:t>	::	logical1, logical2</a:t>
            </a:r>
          </a:p>
          <a:p>
            <a:endParaRPr lang="en-GB" sz="3200" dirty="0"/>
          </a:p>
          <a:p>
            <a:r>
              <a:rPr lang="en-GB" sz="3200" dirty="0"/>
              <a:t>logical1 =</a:t>
            </a:r>
            <a:r>
              <a:rPr lang="en-GB" sz="3200" dirty="0">
                <a:solidFill>
                  <a:schemeClr val="accent5"/>
                </a:solidFill>
              </a:rPr>
              <a:t> .true.</a:t>
            </a:r>
          </a:p>
          <a:p>
            <a:r>
              <a:rPr lang="en-GB" sz="3200" dirty="0"/>
              <a:t>logical2 = </a:t>
            </a:r>
            <a:r>
              <a:rPr lang="en-GB" sz="3200" dirty="0">
                <a:solidFill>
                  <a:schemeClr val="accent5"/>
                </a:solidFill>
              </a:rPr>
              <a:t>.false.</a:t>
            </a:r>
            <a:endParaRPr lang="en-GB" sz="3000" dirty="0"/>
          </a:p>
        </p:txBody>
      </p:sp>
    </p:spTree>
    <p:extLst>
      <p:ext uri="{BB962C8B-B14F-4D97-AF65-F5344CB8AC3E}">
        <p14:creationId xmlns:p14="http://schemas.microsoft.com/office/powerpoint/2010/main" val="363771412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Boolean Operators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26</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a:t>Boolean operators operate on one or more </a:t>
            </a:r>
            <a:r>
              <a:rPr lang="en-GB" sz="3200" dirty="0" err="1"/>
              <a:t>logicals</a:t>
            </a:r>
            <a:r>
              <a:rPr lang="en-GB" sz="3200" dirty="0"/>
              <a:t> and returns  logical</a:t>
            </a:r>
          </a:p>
          <a:p>
            <a:pPr marL="457200" indent="-457200">
              <a:buFont typeface="Arial" panose="020B0604020202020204" pitchFamily="34" charset="0"/>
              <a:buChar char="•"/>
            </a:pPr>
            <a:r>
              <a:rPr lang="en-GB" sz="3200" dirty="0"/>
              <a:t>Can be combined</a:t>
            </a:r>
          </a:p>
          <a:p>
            <a:pPr marL="619191" lvl="2" indent="-457200"/>
            <a:r>
              <a:rPr lang="en-GB" sz="2800" dirty="0"/>
              <a:t>Easiest to use parentheses</a:t>
            </a:r>
          </a:p>
          <a:p>
            <a:pPr marL="0" indent="0">
              <a:buNone/>
            </a:pPr>
            <a:endParaRPr lang="en-GB" sz="2800" dirty="0"/>
          </a:p>
          <a:p>
            <a:pPr marL="0" indent="0">
              <a:buNone/>
            </a:pPr>
            <a:r>
              <a:rPr lang="en-GB" sz="3200" dirty="0"/>
              <a:t>logical2 = .not. logical1</a:t>
            </a:r>
          </a:p>
          <a:p>
            <a:pPr marL="0" indent="0">
              <a:buNone/>
            </a:pPr>
            <a:r>
              <a:rPr lang="en-GB" sz="3200" dirty="0"/>
              <a:t>logical3 = logical1 .and. logical2</a:t>
            </a:r>
          </a:p>
          <a:p>
            <a:pPr marL="0" indent="0">
              <a:buNone/>
            </a:pPr>
            <a:r>
              <a:rPr lang="en-GB" sz="3200" dirty="0"/>
              <a:t>logical3 = logical1 .or. logical2</a:t>
            </a:r>
          </a:p>
          <a:p>
            <a:pPr marL="0" indent="0">
              <a:buNone/>
            </a:pPr>
            <a:r>
              <a:rPr lang="en-GB" sz="3200" dirty="0"/>
              <a:t>logical3 = .not. (logical1 .and. logical2)</a:t>
            </a:r>
            <a:endParaRPr lang="en-GB" sz="3000" dirty="0"/>
          </a:p>
        </p:txBody>
      </p:sp>
    </p:spTree>
    <p:extLst>
      <p:ext uri="{BB962C8B-B14F-4D97-AF65-F5344CB8AC3E}">
        <p14:creationId xmlns:p14="http://schemas.microsoft.com/office/powerpoint/2010/main" val="179368103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Comparison Operators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27</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a:t>Comparison operators compare two values and return a logical</a:t>
            </a:r>
            <a:endParaRPr lang="en-GB" sz="4400" dirty="0"/>
          </a:p>
          <a:p>
            <a:pPr marL="0" indent="0">
              <a:buNone/>
            </a:pPr>
            <a:endParaRPr lang="en-GB" sz="3200" dirty="0"/>
          </a:p>
          <a:p>
            <a:pPr marL="0" indent="0">
              <a:buNone/>
            </a:pPr>
            <a:r>
              <a:rPr lang="en-GB" sz="3200" dirty="0"/>
              <a:t>logical1 = real1==real2</a:t>
            </a:r>
          </a:p>
          <a:p>
            <a:pPr marL="0" indent="0">
              <a:buNone/>
            </a:pPr>
            <a:r>
              <a:rPr lang="en-GB" sz="3200" dirty="0"/>
              <a:t>logical1 = real1 &gt; real2</a:t>
            </a:r>
          </a:p>
          <a:p>
            <a:pPr marL="0" indent="0">
              <a:buNone/>
            </a:pPr>
            <a:r>
              <a:rPr lang="en-GB" sz="3200" dirty="0"/>
              <a:t>logical1 = real1 &lt;= real2</a:t>
            </a:r>
          </a:p>
          <a:p>
            <a:pPr marL="0" indent="0">
              <a:buNone/>
            </a:pPr>
            <a:r>
              <a:rPr lang="en-GB" sz="3200" dirty="0"/>
              <a:t>logical1 = real1/=real2</a:t>
            </a:r>
          </a:p>
          <a:p>
            <a:pPr marL="0" indent="0">
              <a:buNone/>
            </a:pPr>
            <a:r>
              <a:rPr lang="en-GB" sz="3200" dirty="0"/>
              <a:t>logical3 = logical1 .</a:t>
            </a:r>
            <a:r>
              <a:rPr lang="en-GB" sz="3200" dirty="0" err="1"/>
              <a:t>eqv</a:t>
            </a:r>
            <a:r>
              <a:rPr lang="en-GB" sz="3200" dirty="0"/>
              <a:t>. logical2</a:t>
            </a:r>
          </a:p>
          <a:p>
            <a:pPr marL="0" indent="0">
              <a:buNone/>
            </a:pPr>
            <a:r>
              <a:rPr lang="en-GB" sz="3200" dirty="0"/>
              <a:t>logical3 = logical1 .</a:t>
            </a:r>
            <a:r>
              <a:rPr lang="en-GB" sz="3200" dirty="0" err="1"/>
              <a:t>neqv</a:t>
            </a:r>
            <a:r>
              <a:rPr lang="en-GB" sz="3200" dirty="0"/>
              <a:t>. logical2</a:t>
            </a:r>
          </a:p>
        </p:txBody>
      </p:sp>
      <p:sp>
        <p:nvSpPr>
          <p:cNvPr id="4" name="TextBox 3">
            <a:extLst>
              <a:ext uri="{FF2B5EF4-FFF2-40B4-BE49-F238E27FC236}">
                <a16:creationId xmlns:a16="http://schemas.microsoft.com/office/drawing/2014/main" id="{72D8A833-023F-2D77-14EA-88A7D7AE3B5C}"/>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17037087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Precision and Comparison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28</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a:t>Reals in Fortran will often be approximations to values</a:t>
            </a:r>
          </a:p>
          <a:p>
            <a:pPr marL="457200" indent="-457200">
              <a:buFont typeface="Arial" panose="020B0604020202020204" pitchFamily="34" charset="0"/>
              <a:buChar char="•"/>
            </a:pPr>
            <a:r>
              <a:rPr lang="en-GB" sz="3200" dirty="0"/>
              <a:t>Means comparing reals will not always behave as expected</a:t>
            </a:r>
          </a:p>
          <a:p>
            <a:pPr marL="457200" indent="-457200">
              <a:buFont typeface="Arial" panose="020B0604020202020204" pitchFamily="34" charset="0"/>
              <a:buChar char="•"/>
            </a:pPr>
            <a:r>
              <a:rPr lang="en-GB" sz="3200" dirty="0"/>
              <a:t>Care should be taken when comparing reals</a:t>
            </a:r>
          </a:p>
          <a:p>
            <a:pPr marL="504891" lvl="2" indent="-342900"/>
            <a:r>
              <a:rPr lang="en-GB" sz="2800" dirty="0"/>
              <a:t>Calculations, rounding an approximations may mean values are not exactly what you expect</a:t>
            </a:r>
          </a:p>
          <a:p>
            <a:pPr marL="457200" indent="-457200">
              <a:buFont typeface="Arial" panose="020B0604020202020204" pitchFamily="34" charset="0"/>
              <a:buChar char="•"/>
            </a:pPr>
            <a:r>
              <a:rPr lang="en-GB" sz="3200" dirty="0"/>
              <a:t>Reals may be declared to have higher precision</a:t>
            </a:r>
          </a:p>
          <a:p>
            <a:pPr marL="504891" lvl="2" indent="-342900"/>
            <a:r>
              <a:rPr lang="en-GB" sz="2800" dirty="0"/>
              <a:t>Doesn’t fundamentally solve this problem</a:t>
            </a:r>
          </a:p>
          <a:p>
            <a:pPr marL="504891" lvl="2" indent="-342900"/>
            <a:r>
              <a:rPr lang="en-GB" sz="2800" dirty="0"/>
              <a:t>Reduces effects of inaccuracy</a:t>
            </a:r>
          </a:p>
          <a:p>
            <a:pPr marL="0" indent="0">
              <a:buNone/>
            </a:pPr>
            <a:endParaRPr lang="en-GB" sz="2800" dirty="0"/>
          </a:p>
          <a:p>
            <a:pPr marL="0" indent="0">
              <a:buNone/>
            </a:pPr>
            <a:endParaRPr lang="en-GB" sz="2600" dirty="0"/>
          </a:p>
          <a:p>
            <a:pPr marL="0" indent="0">
              <a:buNone/>
            </a:pPr>
            <a:endParaRPr lang="en-GB" sz="2600" dirty="0"/>
          </a:p>
          <a:p>
            <a:pPr marL="0" indent="0">
              <a:buNone/>
            </a:pPr>
            <a:endParaRPr lang="en-GB" sz="3000" dirty="0"/>
          </a:p>
        </p:txBody>
      </p:sp>
      <p:sp>
        <p:nvSpPr>
          <p:cNvPr id="4" name="TextBox 3">
            <a:extLst>
              <a:ext uri="{FF2B5EF4-FFF2-40B4-BE49-F238E27FC236}">
                <a16:creationId xmlns:a16="http://schemas.microsoft.com/office/drawing/2014/main" id="{6752BAFB-471C-F1A5-E7EC-CFB7C4AD7547}"/>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337474988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Conditionals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29</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a:t>Conditionals allow the flow of a program to be controlled through the value of logical expressions</a:t>
            </a:r>
          </a:p>
          <a:p>
            <a:pPr marL="457200" indent="-457200">
              <a:buFont typeface="Arial" panose="020B0604020202020204" pitchFamily="34" charset="0"/>
              <a:buChar char="•"/>
            </a:pPr>
            <a:r>
              <a:rPr lang="en-GB" sz="3200" dirty="0"/>
              <a:t>Vital for structuring your code to handle different cases</a:t>
            </a:r>
          </a:p>
          <a:p>
            <a:pPr marL="457200" indent="-457200">
              <a:buFont typeface="Arial" panose="020B0604020202020204" pitchFamily="34" charset="0"/>
              <a:buChar char="•"/>
            </a:pPr>
            <a:r>
              <a:rPr lang="en-GB" sz="3200" dirty="0"/>
              <a:t>Most common is the “if”, “else if”, “else” construct</a:t>
            </a:r>
            <a:endParaRPr lang="en-GB" sz="2600" dirty="0"/>
          </a:p>
          <a:p>
            <a:pPr marL="0" indent="0">
              <a:buNone/>
            </a:pPr>
            <a:endParaRPr lang="en-GB" sz="3000" dirty="0"/>
          </a:p>
        </p:txBody>
      </p:sp>
    </p:spTree>
    <p:extLst>
      <p:ext uri="{BB962C8B-B14F-4D97-AF65-F5344CB8AC3E}">
        <p14:creationId xmlns:p14="http://schemas.microsoft.com/office/powerpoint/2010/main" val="398132289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If, else if, else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30</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fontScale="92500" lnSpcReduction="20000"/>
          </a:bodyPr>
          <a:lstStyle/>
          <a:p>
            <a:pPr marL="0" indent="0">
              <a:buNone/>
            </a:pPr>
            <a:r>
              <a:rPr lang="en-GB" sz="3200" dirty="0">
                <a:solidFill>
                  <a:schemeClr val="accent1"/>
                </a:solidFill>
              </a:rPr>
              <a:t>if</a:t>
            </a:r>
            <a:r>
              <a:rPr lang="en-GB" sz="3200" dirty="0"/>
              <a:t> (logical1)</a:t>
            </a:r>
            <a:r>
              <a:rPr lang="en-GB" sz="3200" dirty="0">
                <a:solidFill>
                  <a:schemeClr val="accent1"/>
                </a:solidFill>
              </a:rPr>
              <a:t>then</a:t>
            </a:r>
          </a:p>
          <a:p>
            <a:pPr marL="0" indent="0">
              <a:buNone/>
            </a:pPr>
            <a:r>
              <a:rPr lang="en-GB" sz="3200" dirty="0"/>
              <a:t>	[code to be executed if [logical expression 1] true]</a:t>
            </a:r>
          </a:p>
          <a:p>
            <a:pPr marL="0" indent="0">
              <a:buNone/>
            </a:pPr>
            <a:r>
              <a:rPr lang="en-GB" sz="3200" dirty="0">
                <a:solidFill>
                  <a:schemeClr val="accent1"/>
                </a:solidFill>
              </a:rPr>
              <a:t>else if </a:t>
            </a:r>
            <a:r>
              <a:rPr lang="en-GB" sz="3200" dirty="0"/>
              <a:t>(logical2) </a:t>
            </a:r>
            <a:r>
              <a:rPr lang="en-GB" sz="3200" dirty="0">
                <a:solidFill>
                  <a:schemeClr val="accent1"/>
                </a:solidFill>
              </a:rPr>
              <a:t>then</a:t>
            </a:r>
          </a:p>
          <a:p>
            <a:pPr marL="0" indent="0">
              <a:buNone/>
            </a:pPr>
            <a:r>
              <a:rPr lang="en-GB" sz="3200" dirty="0"/>
              <a:t>	[code to be executed if logical1 false and logical2 true]</a:t>
            </a:r>
          </a:p>
          <a:p>
            <a:pPr marL="0" indent="0">
              <a:buNone/>
            </a:pPr>
            <a:r>
              <a:rPr lang="en-GB" sz="3200" dirty="0">
                <a:solidFill>
                  <a:schemeClr val="accent1"/>
                </a:solidFill>
              </a:rPr>
              <a:t>else if </a:t>
            </a:r>
            <a:r>
              <a:rPr lang="en-GB" sz="3200" dirty="0"/>
              <a:t>(logical3) </a:t>
            </a:r>
            <a:r>
              <a:rPr lang="en-GB" sz="3200" dirty="0">
                <a:solidFill>
                  <a:schemeClr val="accent1"/>
                </a:solidFill>
              </a:rPr>
              <a:t>then</a:t>
            </a:r>
          </a:p>
          <a:p>
            <a:pPr marL="0" indent="0">
              <a:buNone/>
            </a:pPr>
            <a:r>
              <a:rPr lang="en-GB" sz="3200" dirty="0"/>
              <a:t>	[code to be executed if logical 3 true and logical1 and logical2 false]</a:t>
            </a:r>
          </a:p>
          <a:p>
            <a:pPr marL="0" indent="0">
              <a:buNone/>
            </a:pPr>
            <a:r>
              <a:rPr lang="en-GB" sz="3200" dirty="0">
                <a:solidFill>
                  <a:schemeClr val="accent1"/>
                </a:solidFill>
              </a:rPr>
              <a:t>else</a:t>
            </a:r>
          </a:p>
          <a:p>
            <a:pPr marL="0" indent="0">
              <a:buNone/>
            </a:pPr>
            <a:r>
              <a:rPr lang="en-GB" sz="3200" dirty="0"/>
              <a:t>	[code to be executed if logical1, logical2 and logical3 false]</a:t>
            </a:r>
          </a:p>
          <a:p>
            <a:pPr marL="0" indent="0">
              <a:buNone/>
            </a:pPr>
            <a:r>
              <a:rPr lang="en-GB" sz="3200" dirty="0">
                <a:solidFill>
                  <a:schemeClr val="accent1"/>
                </a:solidFill>
              </a:rPr>
              <a:t>end if</a:t>
            </a:r>
          </a:p>
          <a:p>
            <a:pPr marL="0" indent="0">
              <a:buNone/>
            </a:pPr>
            <a:endParaRPr lang="en-GB" sz="3200" dirty="0"/>
          </a:p>
          <a:p>
            <a:pPr marL="0" indent="0">
              <a:buNone/>
            </a:pPr>
            <a:r>
              <a:rPr lang="en-GB" sz="3200" dirty="0"/>
              <a:t>[code to be executed next]</a:t>
            </a:r>
          </a:p>
        </p:txBody>
      </p:sp>
      <p:sp>
        <p:nvSpPr>
          <p:cNvPr id="4" name="TextBox 3">
            <a:extLst>
              <a:ext uri="{FF2B5EF4-FFF2-40B4-BE49-F238E27FC236}">
                <a16:creationId xmlns:a16="http://schemas.microsoft.com/office/drawing/2014/main" id="{6752BAFB-471C-F1A5-E7EC-CFB7C4AD7547}"/>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8" name="TextBox 7">
            <a:extLst>
              <a:ext uri="{FF2B5EF4-FFF2-40B4-BE49-F238E27FC236}">
                <a16:creationId xmlns:a16="http://schemas.microsoft.com/office/drawing/2014/main" id="{B2F02F4C-44FC-7B71-BFAF-C09A34AAA1F6}"/>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219773497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Loops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31</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4941033"/>
          </a:xfrm>
        </p:spPr>
        <p:txBody>
          <a:bodyPr>
            <a:normAutofit/>
          </a:bodyPr>
          <a:lstStyle/>
          <a:p>
            <a:pPr marL="457200" indent="-457200">
              <a:buFont typeface="Arial" panose="020B0604020202020204" pitchFamily="34" charset="0"/>
              <a:buChar char="•"/>
            </a:pPr>
            <a:r>
              <a:rPr lang="en-GB" sz="3200" dirty="0"/>
              <a:t>Loops are constructs in Fortran which allow a section of code to be executed repeatedly</a:t>
            </a:r>
          </a:p>
          <a:p>
            <a:pPr marL="457200" indent="-457200">
              <a:buFont typeface="Arial" panose="020B0604020202020204" pitchFamily="34" charset="0"/>
              <a:buChar char="•"/>
            </a:pPr>
            <a:r>
              <a:rPr lang="en-GB" sz="3200" dirty="0"/>
              <a:t>The most common types are</a:t>
            </a:r>
          </a:p>
          <a:p>
            <a:pPr marL="504891" lvl="2" indent="-342900"/>
            <a:r>
              <a:rPr lang="en-GB" sz="2800" dirty="0"/>
              <a:t>“do” loops</a:t>
            </a:r>
          </a:p>
          <a:p>
            <a:pPr marL="504891" lvl="2" indent="-342900"/>
            <a:r>
              <a:rPr lang="en-GB" sz="2800" dirty="0"/>
              <a:t>“do while” loops</a:t>
            </a:r>
          </a:p>
          <a:p>
            <a:pPr marL="0" indent="0">
              <a:buNone/>
            </a:pPr>
            <a:endParaRPr lang="en-GB" sz="2800" dirty="0"/>
          </a:p>
          <a:p>
            <a:pPr marL="0" indent="0">
              <a:buNone/>
            </a:pPr>
            <a:endParaRPr lang="en-GB" sz="2600" dirty="0"/>
          </a:p>
          <a:p>
            <a:pPr marL="0" indent="0">
              <a:buNone/>
            </a:pPr>
            <a:endParaRPr lang="en-GB" sz="2600" dirty="0"/>
          </a:p>
          <a:p>
            <a:pPr marL="0" indent="0">
              <a:buNone/>
            </a:pPr>
            <a:endParaRPr lang="en-GB" sz="3000" dirty="0"/>
          </a:p>
        </p:txBody>
      </p:sp>
    </p:spTree>
    <p:extLst>
      <p:ext uri="{BB962C8B-B14F-4D97-AF65-F5344CB8AC3E}">
        <p14:creationId xmlns:p14="http://schemas.microsoft.com/office/powerpoint/2010/main" val="319143700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Do Loops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32</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2143593"/>
          </a:xfrm>
        </p:spPr>
        <p:txBody>
          <a:bodyPr>
            <a:normAutofit/>
          </a:bodyPr>
          <a:lstStyle/>
          <a:p>
            <a:pPr marL="457200" indent="-457200">
              <a:buFont typeface="Arial" panose="020B0604020202020204" pitchFamily="34" charset="0"/>
              <a:buChar char="•"/>
            </a:pPr>
            <a:r>
              <a:rPr lang="en-GB" sz="3200" dirty="0"/>
              <a:t>Do loops use an integer loop counter which changes by a specified amount each time the loop is executed</a:t>
            </a:r>
          </a:p>
          <a:p>
            <a:pPr marL="457200" indent="-457200">
              <a:buFont typeface="Arial" panose="020B0604020202020204" pitchFamily="34" charset="0"/>
              <a:buChar char="•"/>
            </a:pPr>
            <a:r>
              <a:rPr lang="en-GB" sz="3200" dirty="0"/>
              <a:t>When the loop counter exceeds a specified value, the loop stops executing</a:t>
            </a:r>
            <a:endParaRPr lang="en-GB" sz="3600" dirty="0"/>
          </a:p>
        </p:txBody>
      </p:sp>
      <p:sp>
        <p:nvSpPr>
          <p:cNvPr id="4" name="TextBox 3">
            <a:extLst>
              <a:ext uri="{FF2B5EF4-FFF2-40B4-BE49-F238E27FC236}">
                <a16:creationId xmlns:a16="http://schemas.microsoft.com/office/drawing/2014/main" id="{6752BAFB-471C-F1A5-E7EC-CFB7C4AD7547}"/>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grpSp>
        <p:nvGrpSpPr>
          <p:cNvPr id="20" name="Group 19">
            <a:extLst>
              <a:ext uri="{FF2B5EF4-FFF2-40B4-BE49-F238E27FC236}">
                <a16:creationId xmlns:a16="http://schemas.microsoft.com/office/drawing/2014/main" id="{22F86E47-B257-40F2-E6DD-13F1D48E3D27}"/>
              </a:ext>
            </a:extLst>
          </p:cNvPr>
          <p:cNvGrpSpPr/>
          <p:nvPr/>
        </p:nvGrpSpPr>
        <p:grpSpPr>
          <a:xfrm>
            <a:off x="2094054" y="3592037"/>
            <a:ext cx="8003892" cy="2434312"/>
            <a:chOff x="457201" y="3809394"/>
            <a:chExt cx="8003892" cy="2434312"/>
          </a:xfrm>
        </p:grpSpPr>
        <p:sp>
          <p:nvSpPr>
            <p:cNvPr id="9" name="TextBox 8">
              <a:extLst>
                <a:ext uri="{FF2B5EF4-FFF2-40B4-BE49-F238E27FC236}">
                  <a16:creationId xmlns:a16="http://schemas.microsoft.com/office/drawing/2014/main" id="{CB727721-203D-DCAB-53D1-0659A8C53E73}"/>
                </a:ext>
              </a:extLst>
            </p:cNvPr>
            <p:cNvSpPr txBox="1"/>
            <p:nvPr/>
          </p:nvSpPr>
          <p:spPr>
            <a:xfrm>
              <a:off x="2592729" y="4858711"/>
              <a:ext cx="3646025" cy="1384995"/>
            </a:xfrm>
            <a:prstGeom prst="rect">
              <a:avLst/>
            </a:prstGeom>
            <a:noFill/>
          </p:spPr>
          <p:txBody>
            <a:bodyPr wrap="square" rtlCol="0">
              <a:spAutoFit/>
            </a:bodyPr>
            <a:lstStyle/>
            <a:p>
              <a:r>
                <a:rPr lang="en-GB" sz="2800" dirty="0">
                  <a:solidFill>
                    <a:schemeClr val="accent1"/>
                  </a:solidFill>
                </a:rPr>
                <a:t>do</a:t>
              </a:r>
              <a:r>
                <a:rPr lang="en-GB" sz="2800" dirty="0"/>
                <a:t> counter=</a:t>
              </a:r>
              <a:r>
                <a:rPr lang="en-GB" sz="2800" dirty="0">
                  <a:solidFill>
                    <a:schemeClr val="accent2"/>
                  </a:solidFill>
                </a:rPr>
                <a:t>1</a:t>
              </a:r>
              <a:r>
                <a:rPr lang="en-GB" sz="2800" dirty="0"/>
                <a:t>, </a:t>
              </a:r>
              <a:r>
                <a:rPr lang="en-GB" sz="2800" dirty="0">
                  <a:solidFill>
                    <a:schemeClr val="accent2"/>
                  </a:solidFill>
                </a:rPr>
                <a:t>10</a:t>
              </a:r>
              <a:r>
                <a:rPr lang="en-GB" sz="2800" dirty="0"/>
                <a:t>, </a:t>
              </a:r>
              <a:r>
                <a:rPr lang="en-GB" sz="2800" dirty="0">
                  <a:solidFill>
                    <a:schemeClr val="accent2"/>
                  </a:solidFill>
                </a:rPr>
                <a:t>2</a:t>
              </a:r>
            </a:p>
            <a:p>
              <a:r>
                <a:rPr lang="en-GB" sz="2800" dirty="0"/>
                <a:t>	</a:t>
              </a:r>
              <a:r>
                <a:rPr lang="en-GB" sz="2800" dirty="0">
                  <a:solidFill>
                    <a:schemeClr val="accent1"/>
                  </a:solidFill>
                </a:rPr>
                <a:t>print</a:t>
              </a:r>
              <a:r>
                <a:rPr lang="en-GB" sz="2800" dirty="0"/>
                <a:t>*, counter</a:t>
              </a:r>
            </a:p>
            <a:p>
              <a:r>
                <a:rPr lang="en-GB" sz="2800" dirty="0">
                  <a:solidFill>
                    <a:schemeClr val="accent1"/>
                  </a:solidFill>
                </a:rPr>
                <a:t>end do </a:t>
              </a:r>
            </a:p>
          </p:txBody>
        </p:sp>
        <p:sp>
          <p:nvSpPr>
            <p:cNvPr id="10" name="TextBox 9">
              <a:extLst>
                <a:ext uri="{FF2B5EF4-FFF2-40B4-BE49-F238E27FC236}">
                  <a16:creationId xmlns:a16="http://schemas.microsoft.com/office/drawing/2014/main" id="{D136FC7D-86B2-4EBD-026F-477CB4F5893D}"/>
                </a:ext>
              </a:extLst>
            </p:cNvPr>
            <p:cNvSpPr txBox="1"/>
            <p:nvPr/>
          </p:nvSpPr>
          <p:spPr>
            <a:xfrm>
              <a:off x="729204" y="4144795"/>
              <a:ext cx="1523891" cy="369332"/>
            </a:xfrm>
            <a:prstGeom prst="rect">
              <a:avLst/>
            </a:prstGeom>
            <a:noFill/>
          </p:spPr>
          <p:txBody>
            <a:bodyPr wrap="square" rtlCol="0">
              <a:spAutoFit/>
            </a:bodyPr>
            <a:lstStyle/>
            <a:p>
              <a:r>
                <a:rPr lang="en-GB" dirty="0"/>
                <a:t>Loop counter</a:t>
              </a:r>
            </a:p>
          </p:txBody>
        </p:sp>
        <p:cxnSp>
          <p:nvCxnSpPr>
            <p:cNvPr id="11" name="Straight Arrow Connector 10">
              <a:extLst>
                <a:ext uri="{FF2B5EF4-FFF2-40B4-BE49-F238E27FC236}">
                  <a16:creationId xmlns:a16="http://schemas.microsoft.com/office/drawing/2014/main" id="{E71CE9D9-6009-991C-C0AB-8FFC216B8657}"/>
                </a:ext>
              </a:extLst>
            </p:cNvPr>
            <p:cNvCxnSpPr>
              <a:cxnSpLocks/>
              <a:stCxn id="10" idx="3"/>
            </p:cNvCxnSpPr>
            <p:nvPr/>
          </p:nvCxnSpPr>
          <p:spPr>
            <a:xfrm>
              <a:off x="2253095" y="4329461"/>
              <a:ext cx="1485528" cy="6823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C1BE921-DA10-A591-7942-75AFF4A68885}"/>
                </a:ext>
              </a:extLst>
            </p:cNvPr>
            <p:cNvSpPr txBox="1"/>
            <p:nvPr/>
          </p:nvSpPr>
          <p:spPr>
            <a:xfrm>
              <a:off x="4482928" y="3877519"/>
              <a:ext cx="1377387" cy="379332"/>
            </a:xfrm>
            <a:prstGeom prst="rect">
              <a:avLst/>
            </a:prstGeom>
            <a:noFill/>
          </p:spPr>
          <p:txBody>
            <a:bodyPr wrap="square" rtlCol="0">
              <a:spAutoFit/>
            </a:bodyPr>
            <a:lstStyle/>
            <a:p>
              <a:r>
                <a:rPr lang="en-GB" dirty="0"/>
                <a:t>Initial value</a:t>
              </a:r>
            </a:p>
          </p:txBody>
        </p:sp>
        <p:sp>
          <p:nvSpPr>
            <p:cNvPr id="13" name="TextBox 12">
              <a:extLst>
                <a:ext uri="{FF2B5EF4-FFF2-40B4-BE49-F238E27FC236}">
                  <a16:creationId xmlns:a16="http://schemas.microsoft.com/office/drawing/2014/main" id="{BD126265-4006-01F3-8D2F-B3E54B885444}"/>
                </a:ext>
              </a:extLst>
            </p:cNvPr>
            <p:cNvSpPr txBox="1"/>
            <p:nvPr/>
          </p:nvSpPr>
          <p:spPr>
            <a:xfrm>
              <a:off x="7083706" y="3809394"/>
              <a:ext cx="1377387" cy="369332"/>
            </a:xfrm>
            <a:prstGeom prst="rect">
              <a:avLst/>
            </a:prstGeom>
            <a:noFill/>
          </p:spPr>
          <p:txBody>
            <a:bodyPr wrap="square" rtlCol="0">
              <a:spAutoFit/>
            </a:bodyPr>
            <a:lstStyle/>
            <a:p>
              <a:r>
                <a:rPr lang="en-GB" dirty="0"/>
                <a:t>Final value</a:t>
              </a:r>
            </a:p>
          </p:txBody>
        </p:sp>
        <p:sp>
          <p:nvSpPr>
            <p:cNvPr id="14" name="TextBox 13">
              <a:extLst>
                <a:ext uri="{FF2B5EF4-FFF2-40B4-BE49-F238E27FC236}">
                  <a16:creationId xmlns:a16="http://schemas.microsoft.com/office/drawing/2014/main" id="{C6A9055D-174B-7E1D-E5AF-E639DC90D8F2}"/>
                </a:ext>
              </a:extLst>
            </p:cNvPr>
            <p:cNvSpPr txBox="1"/>
            <p:nvPr/>
          </p:nvSpPr>
          <p:spPr>
            <a:xfrm>
              <a:off x="7288925" y="4525702"/>
              <a:ext cx="986974" cy="369332"/>
            </a:xfrm>
            <a:prstGeom prst="rect">
              <a:avLst/>
            </a:prstGeom>
            <a:noFill/>
          </p:spPr>
          <p:txBody>
            <a:bodyPr wrap="square" rtlCol="0">
              <a:spAutoFit/>
            </a:bodyPr>
            <a:lstStyle/>
            <a:p>
              <a:r>
                <a:rPr lang="en-GB" dirty="0"/>
                <a:t>Step</a:t>
              </a:r>
            </a:p>
          </p:txBody>
        </p:sp>
        <p:cxnSp>
          <p:nvCxnSpPr>
            <p:cNvPr id="15" name="Straight Arrow Connector 14">
              <a:extLst>
                <a:ext uri="{FF2B5EF4-FFF2-40B4-BE49-F238E27FC236}">
                  <a16:creationId xmlns:a16="http://schemas.microsoft.com/office/drawing/2014/main" id="{5ABBCD5C-040F-0BAD-E2CE-5A9968287BB0}"/>
                </a:ext>
              </a:extLst>
            </p:cNvPr>
            <p:cNvCxnSpPr>
              <a:cxnSpLocks/>
              <a:stCxn id="12" idx="2"/>
            </p:cNvCxnSpPr>
            <p:nvPr/>
          </p:nvCxnSpPr>
          <p:spPr>
            <a:xfrm flipH="1">
              <a:off x="4674840" y="4256851"/>
              <a:ext cx="496782" cy="601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DA8078-6C2E-F76C-5C50-82BD632376B7}"/>
                </a:ext>
              </a:extLst>
            </p:cNvPr>
            <p:cNvCxnSpPr>
              <a:cxnSpLocks/>
              <a:stCxn id="13" idx="1"/>
            </p:cNvCxnSpPr>
            <p:nvPr/>
          </p:nvCxnSpPr>
          <p:spPr>
            <a:xfrm flipH="1">
              <a:off x="5301205" y="3994060"/>
              <a:ext cx="1782501" cy="864651"/>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C879297-9A0E-199A-ACDC-1D9F521BEA26}"/>
                </a:ext>
              </a:extLst>
            </p:cNvPr>
            <p:cNvCxnSpPr>
              <a:stCxn id="14" idx="1"/>
            </p:cNvCxnSpPr>
            <p:nvPr/>
          </p:nvCxnSpPr>
          <p:spPr>
            <a:xfrm flipH="1">
              <a:off x="5860315" y="4710368"/>
              <a:ext cx="1428610" cy="301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4E34B17-C2F6-B9C1-E9EF-E287FD223EB0}"/>
                </a:ext>
              </a:extLst>
            </p:cNvPr>
            <p:cNvSpPr txBox="1"/>
            <p:nvPr/>
          </p:nvSpPr>
          <p:spPr>
            <a:xfrm>
              <a:off x="457201" y="5266481"/>
              <a:ext cx="1428636" cy="646331"/>
            </a:xfrm>
            <a:prstGeom prst="rect">
              <a:avLst/>
            </a:prstGeom>
            <a:noFill/>
          </p:spPr>
          <p:txBody>
            <a:bodyPr wrap="square" rtlCol="0">
              <a:spAutoFit/>
            </a:bodyPr>
            <a:lstStyle/>
            <a:p>
              <a:r>
                <a:rPr lang="en-GB" dirty="0"/>
                <a:t>Code to be executed</a:t>
              </a:r>
            </a:p>
          </p:txBody>
        </p:sp>
        <p:cxnSp>
          <p:nvCxnSpPr>
            <p:cNvPr id="19" name="Straight Arrow Connector 18">
              <a:extLst>
                <a:ext uri="{FF2B5EF4-FFF2-40B4-BE49-F238E27FC236}">
                  <a16:creationId xmlns:a16="http://schemas.microsoft.com/office/drawing/2014/main" id="{2A320908-08F4-CD87-C3D2-337EEE2B8D89}"/>
                </a:ext>
              </a:extLst>
            </p:cNvPr>
            <p:cNvCxnSpPr>
              <a:cxnSpLocks/>
              <a:stCxn id="18" idx="3"/>
            </p:cNvCxnSpPr>
            <p:nvPr/>
          </p:nvCxnSpPr>
          <p:spPr>
            <a:xfrm flipV="1">
              <a:off x="1885837" y="5578997"/>
              <a:ext cx="1181454" cy="10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1779503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Do While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33</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2143593"/>
          </a:xfrm>
        </p:spPr>
        <p:txBody>
          <a:bodyPr>
            <a:normAutofit/>
          </a:bodyPr>
          <a:lstStyle/>
          <a:p>
            <a:pPr marL="457200" indent="-457200">
              <a:buFont typeface="Arial" panose="020B0604020202020204" pitchFamily="34" charset="0"/>
              <a:buChar char="•"/>
            </a:pPr>
            <a:r>
              <a:rPr lang="en-GB" sz="3200" dirty="0"/>
              <a:t>Do while loops will execute repeatedly while a specified statement is true</a:t>
            </a:r>
          </a:p>
          <a:p>
            <a:pPr marL="457200" indent="-457200">
              <a:buFont typeface="Arial" panose="020B0604020202020204" pitchFamily="34" charset="0"/>
              <a:buChar char="•"/>
            </a:pPr>
            <a:r>
              <a:rPr lang="en-GB" sz="3200" dirty="0"/>
              <a:t>The next iteration of the loop will be executed if the logical expression in parentheses is true</a:t>
            </a:r>
            <a:endParaRPr lang="en-GB" sz="3600" dirty="0"/>
          </a:p>
        </p:txBody>
      </p:sp>
      <p:sp>
        <p:nvSpPr>
          <p:cNvPr id="4" name="TextBox 3">
            <a:extLst>
              <a:ext uri="{FF2B5EF4-FFF2-40B4-BE49-F238E27FC236}">
                <a16:creationId xmlns:a16="http://schemas.microsoft.com/office/drawing/2014/main" id="{6752BAFB-471C-F1A5-E7EC-CFB7C4AD7547}"/>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grpSp>
        <p:nvGrpSpPr>
          <p:cNvPr id="25" name="Group 24">
            <a:extLst>
              <a:ext uri="{FF2B5EF4-FFF2-40B4-BE49-F238E27FC236}">
                <a16:creationId xmlns:a16="http://schemas.microsoft.com/office/drawing/2014/main" id="{A546A2A0-0407-ADBF-5724-8D0FF10384F8}"/>
              </a:ext>
            </a:extLst>
          </p:cNvPr>
          <p:cNvGrpSpPr/>
          <p:nvPr/>
        </p:nvGrpSpPr>
        <p:grpSpPr>
          <a:xfrm>
            <a:off x="2662272" y="3626594"/>
            <a:ext cx="7186546" cy="2475780"/>
            <a:chOff x="457200" y="3658658"/>
            <a:chExt cx="7186546" cy="2475780"/>
          </a:xfrm>
        </p:grpSpPr>
        <p:sp>
          <p:nvSpPr>
            <p:cNvPr id="8" name="TextBox 7">
              <a:extLst>
                <a:ext uri="{FF2B5EF4-FFF2-40B4-BE49-F238E27FC236}">
                  <a16:creationId xmlns:a16="http://schemas.microsoft.com/office/drawing/2014/main" id="{2E0BDEE4-5ED5-8472-675E-ECC6BF29BCCA}"/>
                </a:ext>
              </a:extLst>
            </p:cNvPr>
            <p:cNvSpPr txBox="1"/>
            <p:nvPr/>
          </p:nvSpPr>
          <p:spPr>
            <a:xfrm>
              <a:off x="2748987" y="3887669"/>
              <a:ext cx="3646025" cy="2246769"/>
            </a:xfrm>
            <a:prstGeom prst="rect">
              <a:avLst/>
            </a:prstGeom>
            <a:noFill/>
          </p:spPr>
          <p:txBody>
            <a:bodyPr wrap="square" rtlCol="0">
              <a:spAutoFit/>
            </a:bodyPr>
            <a:lstStyle/>
            <a:p>
              <a:r>
                <a:rPr lang="en-GB" sz="2800" dirty="0"/>
                <a:t>int1 = 1</a:t>
              </a:r>
            </a:p>
            <a:p>
              <a:r>
                <a:rPr lang="en-GB" sz="2800" dirty="0">
                  <a:solidFill>
                    <a:schemeClr val="accent1"/>
                  </a:solidFill>
                </a:rPr>
                <a:t>do while</a:t>
              </a:r>
              <a:r>
                <a:rPr lang="en-GB" sz="2800" dirty="0"/>
                <a:t> (int1 &lt; 10)</a:t>
              </a:r>
            </a:p>
            <a:p>
              <a:r>
                <a:rPr lang="en-GB" sz="2800" dirty="0">
                  <a:solidFill>
                    <a:schemeClr val="accent2"/>
                  </a:solidFill>
                </a:rPr>
                <a:t>	</a:t>
              </a:r>
              <a:r>
                <a:rPr lang="en-GB" sz="2800" dirty="0"/>
                <a:t>int1 = int1 + </a:t>
              </a:r>
              <a:r>
                <a:rPr lang="en-GB" sz="2800" dirty="0">
                  <a:solidFill>
                    <a:schemeClr val="accent2"/>
                  </a:solidFill>
                </a:rPr>
                <a:t>2</a:t>
              </a:r>
            </a:p>
            <a:p>
              <a:r>
                <a:rPr lang="en-GB" sz="2800" dirty="0"/>
                <a:t>	</a:t>
              </a:r>
              <a:r>
                <a:rPr lang="en-GB" sz="2800" dirty="0">
                  <a:solidFill>
                    <a:schemeClr val="accent1"/>
                  </a:solidFill>
                </a:rPr>
                <a:t>print</a:t>
              </a:r>
              <a:r>
                <a:rPr lang="en-GB" sz="2800" dirty="0"/>
                <a:t>*, int1</a:t>
              </a:r>
            </a:p>
            <a:p>
              <a:r>
                <a:rPr lang="en-GB" sz="2800" dirty="0">
                  <a:solidFill>
                    <a:schemeClr val="accent1"/>
                  </a:solidFill>
                </a:rPr>
                <a:t>end do </a:t>
              </a:r>
            </a:p>
          </p:txBody>
        </p:sp>
        <p:sp>
          <p:nvSpPr>
            <p:cNvPr id="21" name="TextBox 20">
              <a:extLst>
                <a:ext uri="{FF2B5EF4-FFF2-40B4-BE49-F238E27FC236}">
                  <a16:creationId xmlns:a16="http://schemas.microsoft.com/office/drawing/2014/main" id="{7BACC61B-1BA4-897E-D53D-046C369EA426}"/>
                </a:ext>
              </a:extLst>
            </p:cNvPr>
            <p:cNvSpPr txBox="1"/>
            <p:nvPr/>
          </p:nvSpPr>
          <p:spPr>
            <a:xfrm>
              <a:off x="5383624" y="3658658"/>
              <a:ext cx="2260122" cy="369332"/>
            </a:xfrm>
            <a:prstGeom prst="rect">
              <a:avLst/>
            </a:prstGeom>
            <a:noFill/>
          </p:spPr>
          <p:txBody>
            <a:bodyPr wrap="square" rtlCol="0">
              <a:spAutoFit/>
            </a:bodyPr>
            <a:lstStyle/>
            <a:p>
              <a:r>
                <a:rPr lang="en-GB" dirty="0"/>
                <a:t>Logical expression</a:t>
              </a:r>
            </a:p>
          </p:txBody>
        </p:sp>
        <p:cxnSp>
          <p:nvCxnSpPr>
            <p:cNvPr id="22" name="Straight Arrow Connector 21">
              <a:extLst>
                <a:ext uri="{FF2B5EF4-FFF2-40B4-BE49-F238E27FC236}">
                  <a16:creationId xmlns:a16="http://schemas.microsoft.com/office/drawing/2014/main" id="{F8B1625E-0DC8-0C7C-9ACA-7C7C7D4D8DA0}"/>
                </a:ext>
              </a:extLst>
            </p:cNvPr>
            <p:cNvCxnSpPr>
              <a:cxnSpLocks/>
              <a:stCxn id="21" idx="2"/>
            </p:cNvCxnSpPr>
            <p:nvPr/>
          </p:nvCxnSpPr>
          <p:spPr>
            <a:xfrm flipH="1">
              <a:off x="5575537" y="4027990"/>
              <a:ext cx="938148" cy="3635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C23D45-6A24-B34E-192E-C8560CE1EFDB}"/>
                </a:ext>
              </a:extLst>
            </p:cNvPr>
            <p:cNvSpPr txBox="1"/>
            <p:nvPr/>
          </p:nvSpPr>
          <p:spPr>
            <a:xfrm>
              <a:off x="457200" y="5266481"/>
              <a:ext cx="1608881" cy="646331"/>
            </a:xfrm>
            <a:prstGeom prst="rect">
              <a:avLst/>
            </a:prstGeom>
            <a:noFill/>
          </p:spPr>
          <p:txBody>
            <a:bodyPr wrap="square" rtlCol="0">
              <a:spAutoFit/>
            </a:bodyPr>
            <a:lstStyle/>
            <a:p>
              <a:r>
                <a:rPr lang="en-GB" dirty="0"/>
                <a:t>Code to be executed</a:t>
              </a:r>
            </a:p>
          </p:txBody>
        </p:sp>
        <p:cxnSp>
          <p:nvCxnSpPr>
            <p:cNvPr id="24" name="Straight Arrow Connector 23">
              <a:extLst>
                <a:ext uri="{FF2B5EF4-FFF2-40B4-BE49-F238E27FC236}">
                  <a16:creationId xmlns:a16="http://schemas.microsoft.com/office/drawing/2014/main" id="{1E6D017D-7BF5-3B6B-EFB5-EAC80FB776A0}"/>
                </a:ext>
              </a:extLst>
            </p:cNvPr>
            <p:cNvCxnSpPr>
              <a:cxnSpLocks/>
              <a:stCxn id="23" idx="3"/>
            </p:cNvCxnSpPr>
            <p:nvPr/>
          </p:nvCxnSpPr>
          <p:spPr>
            <a:xfrm flipV="1">
              <a:off x="2066081" y="5257800"/>
              <a:ext cx="1093808" cy="331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2718813A-6BEB-F6F1-1FCA-8D3D4A053E31}"/>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287615597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Functions and Subroutines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34</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3665095"/>
          </a:xfrm>
        </p:spPr>
        <p:txBody>
          <a:bodyPr>
            <a:noAutofit/>
          </a:bodyPr>
          <a:lstStyle/>
          <a:p>
            <a:pPr marL="457200" indent="-457200">
              <a:buFont typeface="Arial" panose="020B0604020202020204" pitchFamily="34" charset="0"/>
              <a:buChar char="•"/>
            </a:pPr>
            <a:r>
              <a:rPr lang="en-GB" sz="3200" dirty="0"/>
              <a:t>Functions and subroutines allow you to write a piece of code which can be called repeatedly</a:t>
            </a:r>
          </a:p>
          <a:p>
            <a:pPr marL="457200" indent="-457200">
              <a:buFont typeface="Arial" panose="020B0604020202020204" pitchFamily="34" charset="0"/>
              <a:buChar char="•"/>
            </a:pPr>
            <a:r>
              <a:rPr lang="en-GB" sz="3200" dirty="0"/>
              <a:t>Each time, the code may be called with different values</a:t>
            </a:r>
          </a:p>
          <a:p>
            <a:pPr marL="457200" indent="-457200">
              <a:buFont typeface="Arial" panose="020B0604020202020204" pitchFamily="34" charset="0"/>
              <a:buChar char="•"/>
            </a:pPr>
            <a:r>
              <a:rPr lang="en-GB" sz="3200" dirty="0"/>
              <a:t>Values to be used in the code are passed into it via “arguments”</a:t>
            </a:r>
          </a:p>
          <a:p>
            <a:pPr marL="457200" indent="-457200">
              <a:buFont typeface="Arial" panose="020B0604020202020204" pitchFamily="34" charset="0"/>
              <a:buChar char="•"/>
            </a:pPr>
            <a:r>
              <a:rPr lang="en-GB" sz="3200" dirty="0"/>
              <a:t>Functions return a value</a:t>
            </a:r>
          </a:p>
          <a:p>
            <a:pPr marL="457200" indent="-457200">
              <a:buFont typeface="Arial" panose="020B0604020202020204" pitchFamily="34" charset="0"/>
              <a:buChar char="•"/>
            </a:pPr>
            <a:r>
              <a:rPr lang="en-GB" sz="3200" dirty="0"/>
              <a:t>Subroutines do not return a value</a:t>
            </a:r>
          </a:p>
        </p:txBody>
      </p:sp>
    </p:spTree>
    <p:extLst>
      <p:ext uri="{BB962C8B-B14F-4D97-AF65-F5344CB8AC3E}">
        <p14:creationId xmlns:p14="http://schemas.microsoft.com/office/powerpoint/2010/main" val="353008935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Subroutines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35</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1191718"/>
            <a:ext cx="11409363" cy="3665095"/>
          </a:xfrm>
        </p:spPr>
        <p:txBody>
          <a:bodyPr>
            <a:noAutofit/>
          </a:bodyPr>
          <a:lstStyle/>
          <a:p>
            <a:pPr marL="571500" indent="-571500">
              <a:buFont typeface="Arial" panose="020B0604020202020204" pitchFamily="34" charset="0"/>
              <a:buChar char="•"/>
            </a:pPr>
            <a:r>
              <a:rPr lang="en-GB" sz="3200" dirty="0"/>
              <a:t>A subroutine must be defined within a “contains” section of your code</a:t>
            </a:r>
          </a:p>
          <a:p>
            <a:pPr marL="571500" indent="-571500">
              <a:buFont typeface="Arial" panose="020B0604020202020204" pitchFamily="34" charset="0"/>
              <a:buChar char="•"/>
            </a:pPr>
            <a:r>
              <a:rPr lang="en-GB" sz="3200" dirty="0"/>
              <a:t>May contain it’s own variable declarations</a:t>
            </a:r>
          </a:p>
          <a:p>
            <a:pPr marL="571500" indent="-571500">
              <a:buFont typeface="Arial" panose="020B0604020202020204" pitchFamily="34" charset="0"/>
              <a:buChar char="•"/>
            </a:pPr>
            <a:r>
              <a:rPr lang="en-GB" sz="3200" dirty="0"/>
              <a:t>Variables are not available from elsewhere</a:t>
            </a:r>
          </a:p>
        </p:txBody>
      </p:sp>
    </p:spTree>
    <p:extLst>
      <p:ext uri="{BB962C8B-B14F-4D97-AF65-F5344CB8AC3E}">
        <p14:creationId xmlns:p14="http://schemas.microsoft.com/office/powerpoint/2010/main" val="344663737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Subroutines - Definition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36</a:t>
            </a:fld>
            <a:endParaRPr lang="en-GB"/>
          </a:p>
        </p:txBody>
      </p:sp>
      <p:sp>
        <p:nvSpPr>
          <p:cNvPr id="3" name="Content Placeholder 2">
            <a:extLst>
              <a:ext uri="{FF2B5EF4-FFF2-40B4-BE49-F238E27FC236}">
                <a16:creationId xmlns:a16="http://schemas.microsoft.com/office/drawing/2014/main" id="{2C7A6954-5AE7-6E35-86E6-C550777AAF6E}"/>
              </a:ext>
            </a:extLst>
          </p:cNvPr>
          <p:cNvSpPr>
            <a:spLocks noGrp="1"/>
          </p:cNvSpPr>
          <p:nvPr>
            <p:ph idx="1"/>
          </p:nvPr>
        </p:nvSpPr>
        <p:spPr>
          <a:xfrm>
            <a:off x="457199" y="2181069"/>
            <a:ext cx="11409363" cy="2675744"/>
          </a:xfrm>
        </p:spPr>
        <p:txBody>
          <a:bodyPr>
            <a:noAutofit/>
          </a:bodyPr>
          <a:lstStyle/>
          <a:p>
            <a:pPr marL="0" indent="0">
              <a:buNone/>
            </a:pPr>
            <a:r>
              <a:rPr lang="en-GB" sz="2800" dirty="0">
                <a:solidFill>
                  <a:schemeClr val="accent5"/>
                </a:solidFill>
              </a:rPr>
              <a:t>subroutine</a:t>
            </a:r>
            <a:r>
              <a:rPr lang="en-GB" sz="2800" dirty="0"/>
              <a:t> </a:t>
            </a:r>
            <a:r>
              <a:rPr lang="en-GB" sz="2800" dirty="0" err="1">
                <a:solidFill>
                  <a:schemeClr val="accent3"/>
                </a:solidFill>
              </a:rPr>
              <a:t>sum_product</a:t>
            </a:r>
            <a:r>
              <a:rPr lang="en-GB" sz="2800" dirty="0"/>
              <a:t>(</a:t>
            </a:r>
            <a:r>
              <a:rPr lang="en-GB" sz="2800" dirty="0">
                <a:solidFill>
                  <a:schemeClr val="accent2"/>
                </a:solidFill>
              </a:rPr>
              <a:t>arg1</a:t>
            </a:r>
            <a:r>
              <a:rPr lang="en-GB" sz="2800" dirty="0"/>
              <a:t>, </a:t>
            </a:r>
            <a:r>
              <a:rPr lang="en-GB" sz="2800" dirty="0">
                <a:solidFill>
                  <a:schemeClr val="accent2"/>
                </a:solidFill>
              </a:rPr>
              <a:t>arg2</a:t>
            </a:r>
            <a:r>
              <a:rPr lang="en-GB" sz="2800" dirty="0"/>
              <a:t>, </a:t>
            </a:r>
            <a:r>
              <a:rPr lang="en-GB" sz="2800" dirty="0" err="1">
                <a:solidFill>
                  <a:schemeClr val="accent2"/>
                </a:solidFill>
              </a:rPr>
              <a:t>result_sum</a:t>
            </a:r>
            <a:r>
              <a:rPr lang="en-GB" sz="2800" dirty="0"/>
              <a:t>, </a:t>
            </a:r>
            <a:r>
              <a:rPr lang="en-GB" sz="2800" dirty="0" err="1">
                <a:solidFill>
                  <a:schemeClr val="accent2"/>
                </a:solidFill>
              </a:rPr>
              <a:t>result_product</a:t>
            </a:r>
            <a:r>
              <a:rPr lang="en-GB" sz="2800" dirty="0"/>
              <a:t>)</a:t>
            </a:r>
          </a:p>
          <a:p>
            <a:pPr marL="0" indent="0">
              <a:buNone/>
            </a:pPr>
            <a:endParaRPr lang="en-GB" sz="2800" dirty="0"/>
          </a:p>
          <a:p>
            <a:pPr marL="0" indent="0">
              <a:buNone/>
            </a:pPr>
            <a:r>
              <a:rPr lang="en-GB" sz="2800" dirty="0"/>
              <a:t>	</a:t>
            </a:r>
            <a:r>
              <a:rPr lang="en-GB" sz="2800" dirty="0">
                <a:solidFill>
                  <a:schemeClr val="accent5"/>
                </a:solidFill>
              </a:rPr>
              <a:t>integer </a:t>
            </a:r>
            <a:r>
              <a:rPr lang="en-GB" sz="2800" dirty="0"/>
              <a:t>   ::  arg1, arg2, </a:t>
            </a:r>
            <a:r>
              <a:rPr lang="en-GB" sz="2800" dirty="0" err="1"/>
              <a:t>result_sum</a:t>
            </a:r>
            <a:r>
              <a:rPr lang="en-GB" sz="2800" dirty="0"/>
              <a:t>, </a:t>
            </a:r>
            <a:r>
              <a:rPr lang="en-GB" sz="2800" dirty="0" err="1"/>
              <a:t>result_product</a:t>
            </a:r>
            <a:endParaRPr lang="en-GB" sz="2800" dirty="0"/>
          </a:p>
          <a:p>
            <a:pPr marL="0" indent="0">
              <a:buNone/>
            </a:pPr>
            <a:br>
              <a:rPr lang="en-GB" sz="2800" dirty="0"/>
            </a:br>
            <a:r>
              <a:rPr lang="en-GB" sz="2800" dirty="0"/>
              <a:t>	</a:t>
            </a:r>
            <a:r>
              <a:rPr lang="en-GB" sz="2800" dirty="0" err="1"/>
              <a:t>result_sum</a:t>
            </a:r>
            <a:r>
              <a:rPr lang="en-GB" sz="2800" dirty="0"/>
              <a:t>=arg1+arg2</a:t>
            </a:r>
          </a:p>
          <a:p>
            <a:pPr marL="400050" lvl="1" indent="0">
              <a:buNone/>
            </a:pPr>
            <a:r>
              <a:rPr lang="en-GB" sz="2800" dirty="0"/>
              <a:t> 	</a:t>
            </a:r>
            <a:r>
              <a:rPr lang="en-GB" sz="2800" dirty="0" err="1"/>
              <a:t>result_product</a:t>
            </a:r>
            <a:r>
              <a:rPr lang="en-GB" sz="2800" dirty="0"/>
              <a:t>=arg1*arg2</a:t>
            </a:r>
          </a:p>
          <a:p>
            <a:pPr marL="0" indent="0">
              <a:buNone/>
            </a:pPr>
            <a:endParaRPr lang="en-GB" sz="2800" dirty="0"/>
          </a:p>
          <a:p>
            <a:pPr marL="0" indent="0">
              <a:buNone/>
            </a:pPr>
            <a:r>
              <a:rPr lang="en-GB" sz="2800" dirty="0">
                <a:solidFill>
                  <a:schemeClr val="accent5"/>
                </a:solidFill>
              </a:rPr>
              <a:t>end subroutine </a:t>
            </a:r>
            <a:r>
              <a:rPr lang="en-GB" sz="2800" dirty="0" err="1">
                <a:solidFill>
                  <a:schemeClr val="accent3"/>
                </a:solidFill>
              </a:rPr>
              <a:t>sum_product</a:t>
            </a:r>
            <a:endParaRPr lang="en-GB" sz="2800" dirty="0">
              <a:solidFill>
                <a:schemeClr val="accent3"/>
              </a:solidFill>
            </a:endParaRPr>
          </a:p>
        </p:txBody>
      </p:sp>
      <p:sp>
        <p:nvSpPr>
          <p:cNvPr id="4" name="TextBox 3">
            <a:extLst>
              <a:ext uri="{FF2B5EF4-FFF2-40B4-BE49-F238E27FC236}">
                <a16:creationId xmlns:a16="http://schemas.microsoft.com/office/drawing/2014/main" id="{21263D07-776E-9C03-66CD-3730C2FBE4E5}"/>
              </a:ext>
            </a:extLst>
          </p:cNvPr>
          <p:cNvSpPr txBox="1"/>
          <p:nvPr/>
        </p:nvSpPr>
        <p:spPr>
          <a:xfrm>
            <a:off x="1034142" y="1395866"/>
            <a:ext cx="2600973" cy="461665"/>
          </a:xfrm>
          <a:prstGeom prst="rect">
            <a:avLst/>
          </a:prstGeom>
          <a:noFill/>
        </p:spPr>
        <p:txBody>
          <a:bodyPr wrap="square" rtlCol="0">
            <a:spAutoFit/>
          </a:bodyPr>
          <a:lstStyle/>
          <a:p>
            <a:r>
              <a:rPr lang="en-GB" sz="2400" dirty="0"/>
              <a:t>Subroutine name</a:t>
            </a:r>
          </a:p>
        </p:txBody>
      </p:sp>
      <p:sp>
        <p:nvSpPr>
          <p:cNvPr id="8" name="TextBox 7">
            <a:extLst>
              <a:ext uri="{FF2B5EF4-FFF2-40B4-BE49-F238E27FC236}">
                <a16:creationId xmlns:a16="http://schemas.microsoft.com/office/drawing/2014/main" id="{90681B78-30A2-B627-AFAA-C06DA18D7BD4}"/>
              </a:ext>
            </a:extLst>
          </p:cNvPr>
          <p:cNvSpPr txBox="1"/>
          <p:nvPr/>
        </p:nvSpPr>
        <p:spPr>
          <a:xfrm>
            <a:off x="4572000" y="1417638"/>
            <a:ext cx="2046157" cy="461665"/>
          </a:xfrm>
          <a:prstGeom prst="rect">
            <a:avLst/>
          </a:prstGeom>
          <a:noFill/>
        </p:spPr>
        <p:txBody>
          <a:bodyPr wrap="square" rtlCol="0">
            <a:spAutoFit/>
          </a:bodyPr>
          <a:lstStyle/>
          <a:p>
            <a:r>
              <a:rPr lang="en-GB" sz="2400" dirty="0"/>
              <a:t>Argument list</a:t>
            </a:r>
          </a:p>
        </p:txBody>
      </p:sp>
      <p:cxnSp>
        <p:nvCxnSpPr>
          <p:cNvPr id="9" name="Straight Arrow Connector 8">
            <a:extLst>
              <a:ext uri="{FF2B5EF4-FFF2-40B4-BE49-F238E27FC236}">
                <a16:creationId xmlns:a16="http://schemas.microsoft.com/office/drawing/2014/main" id="{8FF43A6E-C2C2-2E6B-1725-2A8DC408046A}"/>
              </a:ext>
            </a:extLst>
          </p:cNvPr>
          <p:cNvCxnSpPr>
            <a:cxnSpLocks/>
            <a:stCxn id="4" idx="2"/>
          </p:cNvCxnSpPr>
          <p:nvPr/>
        </p:nvCxnSpPr>
        <p:spPr>
          <a:xfrm flipH="1">
            <a:off x="2296886" y="1857531"/>
            <a:ext cx="37743" cy="3522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D1E01EC-C087-EB54-32CA-44F1217AC10C}"/>
              </a:ext>
            </a:extLst>
          </p:cNvPr>
          <p:cNvCxnSpPr>
            <a:cxnSpLocks/>
            <a:stCxn id="8" idx="2"/>
          </p:cNvCxnSpPr>
          <p:nvPr/>
        </p:nvCxnSpPr>
        <p:spPr>
          <a:xfrm flipH="1">
            <a:off x="5486400" y="1879303"/>
            <a:ext cx="108679" cy="3017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021368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Subroutines - Calling</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37</a:t>
            </a:fld>
            <a:endParaRPr lang="en-GB"/>
          </a:p>
        </p:txBody>
      </p:sp>
      <p:sp>
        <p:nvSpPr>
          <p:cNvPr id="13" name="Content Placeholder 6">
            <a:extLst>
              <a:ext uri="{FF2B5EF4-FFF2-40B4-BE49-F238E27FC236}">
                <a16:creationId xmlns:a16="http://schemas.microsoft.com/office/drawing/2014/main" id="{6E1254B3-55A9-E55F-3137-7FD951641D80}"/>
              </a:ext>
            </a:extLst>
          </p:cNvPr>
          <p:cNvSpPr>
            <a:spLocks noGrp="1"/>
          </p:cNvSpPr>
          <p:nvPr>
            <p:ph idx="1"/>
          </p:nvPr>
        </p:nvSpPr>
        <p:spPr>
          <a:xfrm>
            <a:off x="1185076" y="3178629"/>
            <a:ext cx="8936485" cy="444602"/>
          </a:xfrm>
        </p:spPr>
        <p:txBody>
          <a:bodyPr/>
          <a:lstStyle/>
          <a:p>
            <a:pPr marL="0" indent="0">
              <a:buNone/>
            </a:pPr>
            <a:r>
              <a:rPr lang="en-GB" sz="3200" dirty="0">
                <a:solidFill>
                  <a:schemeClr val="accent1"/>
                </a:solidFill>
              </a:rPr>
              <a:t>call</a:t>
            </a:r>
            <a:r>
              <a:rPr lang="en-GB" sz="3200" dirty="0"/>
              <a:t> </a:t>
            </a:r>
            <a:r>
              <a:rPr lang="en-GB" sz="3200" dirty="0" err="1"/>
              <a:t>sum_product</a:t>
            </a:r>
            <a:r>
              <a:rPr lang="en-GB" sz="3200" dirty="0"/>
              <a:t>(</a:t>
            </a:r>
            <a:r>
              <a:rPr lang="en-GB" sz="3200" dirty="0">
                <a:solidFill>
                  <a:schemeClr val="accent2"/>
                </a:solidFill>
              </a:rPr>
              <a:t>3</a:t>
            </a:r>
            <a:r>
              <a:rPr lang="en-GB" sz="3200" dirty="0"/>
              <a:t>,</a:t>
            </a:r>
            <a:r>
              <a:rPr lang="en-GB" sz="3200" dirty="0">
                <a:solidFill>
                  <a:schemeClr val="accent2"/>
                </a:solidFill>
              </a:rPr>
              <a:t>4</a:t>
            </a:r>
            <a:r>
              <a:rPr lang="en-GB" sz="3200" dirty="0"/>
              <a:t>, total, </a:t>
            </a:r>
            <a:r>
              <a:rPr lang="en-GB" sz="3200" dirty="0" err="1"/>
              <a:t>product_current</a:t>
            </a:r>
            <a:r>
              <a:rPr lang="en-GB" sz="3200" dirty="0"/>
              <a:t>)</a:t>
            </a:r>
          </a:p>
        </p:txBody>
      </p:sp>
      <p:sp>
        <p:nvSpPr>
          <p:cNvPr id="14" name="TextBox 13">
            <a:extLst>
              <a:ext uri="{FF2B5EF4-FFF2-40B4-BE49-F238E27FC236}">
                <a16:creationId xmlns:a16="http://schemas.microsoft.com/office/drawing/2014/main" id="{56DF3A43-BD61-8F7A-2C8E-C2A0A2EE5017}"/>
              </a:ext>
            </a:extLst>
          </p:cNvPr>
          <p:cNvSpPr txBox="1"/>
          <p:nvPr/>
        </p:nvSpPr>
        <p:spPr>
          <a:xfrm>
            <a:off x="1586986" y="2386466"/>
            <a:ext cx="2622605" cy="461665"/>
          </a:xfrm>
          <a:prstGeom prst="rect">
            <a:avLst/>
          </a:prstGeom>
          <a:noFill/>
        </p:spPr>
        <p:txBody>
          <a:bodyPr wrap="square" rtlCol="0">
            <a:spAutoFit/>
          </a:bodyPr>
          <a:lstStyle/>
          <a:p>
            <a:r>
              <a:rPr lang="en-GB" sz="2400" dirty="0"/>
              <a:t>Subroutine name</a:t>
            </a:r>
          </a:p>
        </p:txBody>
      </p:sp>
      <p:sp>
        <p:nvSpPr>
          <p:cNvPr id="15" name="TextBox 14">
            <a:extLst>
              <a:ext uri="{FF2B5EF4-FFF2-40B4-BE49-F238E27FC236}">
                <a16:creationId xmlns:a16="http://schemas.microsoft.com/office/drawing/2014/main" id="{7AA5F456-CE98-C89C-8023-7991E77E2EC0}"/>
              </a:ext>
            </a:extLst>
          </p:cNvPr>
          <p:cNvSpPr txBox="1"/>
          <p:nvPr/>
        </p:nvSpPr>
        <p:spPr>
          <a:xfrm>
            <a:off x="5299876" y="2386466"/>
            <a:ext cx="2090275" cy="461665"/>
          </a:xfrm>
          <a:prstGeom prst="rect">
            <a:avLst/>
          </a:prstGeom>
          <a:noFill/>
        </p:spPr>
        <p:txBody>
          <a:bodyPr wrap="square" rtlCol="0">
            <a:spAutoFit/>
          </a:bodyPr>
          <a:lstStyle/>
          <a:p>
            <a:r>
              <a:rPr lang="en-GB" sz="2400" dirty="0"/>
              <a:t>Argument list</a:t>
            </a:r>
          </a:p>
        </p:txBody>
      </p:sp>
      <p:cxnSp>
        <p:nvCxnSpPr>
          <p:cNvPr id="16" name="Straight Arrow Connector 15">
            <a:extLst>
              <a:ext uri="{FF2B5EF4-FFF2-40B4-BE49-F238E27FC236}">
                <a16:creationId xmlns:a16="http://schemas.microsoft.com/office/drawing/2014/main" id="{94E82A2C-E920-CB5C-F807-63BE89641FCD}"/>
              </a:ext>
            </a:extLst>
          </p:cNvPr>
          <p:cNvCxnSpPr>
            <a:cxnSpLocks/>
            <a:stCxn id="14" idx="2"/>
          </p:cNvCxnSpPr>
          <p:nvPr/>
        </p:nvCxnSpPr>
        <p:spPr>
          <a:xfrm>
            <a:off x="2898289" y="2848131"/>
            <a:ext cx="0" cy="3304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AEB2223-C823-B722-F73E-8D9D5E3C1F30}"/>
              </a:ext>
            </a:extLst>
          </p:cNvPr>
          <p:cNvCxnSpPr>
            <a:cxnSpLocks/>
            <a:stCxn id="15" idx="2"/>
          </p:cNvCxnSpPr>
          <p:nvPr/>
        </p:nvCxnSpPr>
        <p:spPr>
          <a:xfrm>
            <a:off x="6345014" y="2848131"/>
            <a:ext cx="0" cy="3304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FD8DE92-B50B-4B72-2936-862BF15B7EFA}"/>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23" name="TextBox 22">
            <a:extLst>
              <a:ext uri="{FF2B5EF4-FFF2-40B4-BE49-F238E27FC236}">
                <a16:creationId xmlns:a16="http://schemas.microsoft.com/office/drawing/2014/main" id="{1E7AA1CE-D129-65D5-D915-A36356985E9C}"/>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269090242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Functions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38</a:t>
            </a:fld>
            <a:endParaRPr lang="en-GB"/>
          </a:p>
        </p:txBody>
      </p:sp>
      <p:sp>
        <p:nvSpPr>
          <p:cNvPr id="8" name="Content Placeholder 6">
            <a:extLst>
              <a:ext uri="{FF2B5EF4-FFF2-40B4-BE49-F238E27FC236}">
                <a16:creationId xmlns:a16="http://schemas.microsoft.com/office/drawing/2014/main" id="{BAAB4D1E-5ED2-A41C-5DD3-EE59DF23E53F}"/>
              </a:ext>
            </a:extLst>
          </p:cNvPr>
          <p:cNvSpPr>
            <a:spLocks noGrp="1"/>
          </p:cNvSpPr>
          <p:nvPr>
            <p:ph idx="1"/>
          </p:nvPr>
        </p:nvSpPr>
        <p:spPr>
          <a:xfrm>
            <a:off x="325439" y="1169234"/>
            <a:ext cx="11549856" cy="4956930"/>
          </a:xfrm>
        </p:spPr>
        <p:txBody>
          <a:bodyPr/>
          <a:lstStyle/>
          <a:p>
            <a:pPr marL="342900" indent="-342900">
              <a:buFont typeface="Arial" panose="020B0604020202020204" pitchFamily="34" charset="0"/>
              <a:buChar char="•"/>
            </a:pPr>
            <a:r>
              <a:rPr lang="en-GB" sz="3200" dirty="0"/>
              <a:t>A function must be defined within a “contains” section of your code</a:t>
            </a:r>
          </a:p>
          <a:p>
            <a:pPr marL="342900" indent="-342900">
              <a:buFont typeface="Arial" panose="020B0604020202020204" pitchFamily="34" charset="0"/>
              <a:buChar char="•"/>
            </a:pPr>
            <a:r>
              <a:rPr lang="en-GB" sz="3200" dirty="0"/>
              <a:t>May contain its own variable declarations</a:t>
            </a:r>
          </a:p>
          <a:p>
            <a:pPr marL="342900" indent="-342900">
              <a:buFont typeface="Arial" panose="020B0604020202020204" pitchFamily="34" charset="0"/>
              <a:buChar char="•"/>
            </a:pPr>
            <a:r>
              <a:rPr lang="en-GB" sz="3200" dirty="0"/>
              <a:t>Variables are not available from elsewhere</a:t>
            </a:r>
          </a:p>
          <a:p>
            <a:pPr marL="342900" indent="-342900">
              <a:buFont typeface="Arial" panose="020B0604020202020204" pitchFamily="34" charset="0"/>
              <a:buChar char="•"/>
            </a:pPr>
            <a:r>
              <a:rPr lang="en-GB" sz="3200" dirty="0"/>
              <a:t>Functions have a type</a:t>
            </a:r>
          </a:p>
          <a:p>
            <a:pPr marL="342900" indent="-342900">
              <a:buFont typeface="Arial" panose="020B0604020202020204" pitchFamily="34" charset="0"/>
              <a:buChar char="•"/>
            </a:pPr>
            <a:r>
              <a:rPr lang="en-GB" sz="3200" dirty="0"/>
              <a:t>Returns a value</a:t>
            </a:r>
          </a:p>
        </p:txBody>
      </p:sp>
    </p:spTree>
    <p:extLst>
      <p:ext uri="{BB962C8B-B14F-4D97-AF65-F5344CB8AC3E}">
        <p14:creationId xmlns:p14="http://schemas.microsoft.com/office/powerpoint/2010/main" val="376144919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Functions - Definition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39</a:t>
            </a:fld>
            <a:endParaRPr lang="en-GB"/>
          </a:p>
        </p:txBody>
      </p:sp>
      <p:sp>
        <p:nvSpPr>
          <p:cNvPr id="9" name="Content Placeholder 6">
            <a:extLst>
              <a:ext uri="{FF2B5EF4-FFF2-40B4-BE49-F238E27FC236}">
                <a16:creationId xmlns:a16="http://schemas.microsoft.com/office/drawing/2014/main" id="{74665D48-6B86-2775-C338-4B0E135D3E0F}"/>
              </a:ext>
            </a:extLst>
          </p:cNvPr>
          <p:cNvSpPr>
            <a:spLocks noGrp="1"/>
          </p:cNvSpPr>
          <p:nvPr>
            <p:ph idx="1"/>
          </p:nvPr>
        </p:nvSpPr>
        <p:spPr>
          <a:xfrm>
            <a:off x="457199" y="1466440"/>
            <a:ext cx="11409363" cy="2252797"/>
          </a:xfrm>
        </p:spPr>
        <p:txBody>
          <a:bodyPr/>
          <a:lstStyle/>
          <a:p>
            <a:pPr marL="0" indent="0">
              <a:buNone/>
            </a:pPr>
            <a:r>
              <a:rPr lang="en-GB" sz="2000" dirty="0">
                <a:solidFill>
                  <a:schemeClr val="accent5"/>
                </a:solidFill>
              </a:rPr>
              <a:t>real function </a:t>
            </a:r>
            <a:r>
              <a:rPr lang="en-GB" sz="2000" dirty="0">
                <a:solidFill>
                  <a:schemeClr val="accent3"/>
                </a:solidFill>
              </a:rPr>
              <a:t>function_name1</a:t>
            </a:r>
            <a:r>
              <a:rPr lang="en-GB" sz="2000" dirty="0"/>
              <a:t>(</a:t>
            </a:r>
            <a:r>
              <a:rPr lang="en-GB" sz="2000" dirty="0">
                <a:solidFill>
                  <a:schemeClr val="accent4"/>
                </a:solidFill>
              </a:rPr>
              <a:t>arg1</a:t>
            </a:r>
            <a:r>
              <a:rPr lang="en-GB" sz="2000" dirty="0"/>
              <a:t>, </a:t>
            </a:r>
            <a:r>
              <a:rPr lang="en-GB" sz="2000" dirty="0">
                <a:solidFill>
                  <a:schemeClr val="accent4"/>
                </a:solidFill>
              </a:rPr>
              <a:t>arg2</a:t>
            </a:r>
            <a:r>
              <a:rPr lang="en-GB" sz="2000" dirty="0"/>
              <a:t>)</a:t>
            </a:r>
          </a:p>
          <a:p>
            <a:pPr marL="0" indent="0">
              <a:buNone/>
            </a:pPr>
            <a:r>
              <a:rPr lang="en-GB" dirty="0">
                <a:solidFill>
                  <a:schemeClr val="accent5"/>
                </a:solidFill>
              </a:rPr>
              <a:t>	</a:t>
            </a:r>
            <a:r>
              <a:rPr lang="en-GB" sz="2000" dirty="0">
                <a:solidFill>
                  <a:schemeClr val="accent5"/>
                </a:solidFill>
              </a:rPr>
              <a:t>real</a:t>
            </a:r>
            <a:r>
              <a:rPr lang="en-GB" sz="2000" dirty="0"/>
              <a:t>	::	arg1, arg2</a:t>
            </a:r>
          </a:p>
          <a:p>
            <a:pPr marL="0" indent="0">
              <a:buNone/>
            </a:pPr>
            <a:endParaRPr lang="en-GB" sz="2000" dirty="0"/>
          </a:p>
          <a:p>
            <a:pPr marL="0" indent="0">
              <a:buNone/>
            </a:pPr>
            <a:r>
              <a:rPr lang="en-GB" sz="2000" dirty="0"/>
              <a:t>	function_name1=arg1*arg2</a:t>
            </a:r>
          </a:p>
          <a:p>
            <a:pPr marL="0" indent="0">
              <a:buNone/>
            </a:pPr>
            <a:endParaRPr lang="en-GB" sz="2000" dirty="0"/>
          </a:p>
          <a:p>
            <a:pPr marL="0" indent="0">
              <a:buNone/>
            </a:pPr>
            <a:r>
              <a:rPr lang="en-GB" sz="2000" dirty="0">
                <a:solidFill>
                  <a:schemeClr val="accent5"/>
                </a:solidFill>
              </a:rPr>
              <a:t>end function </a:t>
            </a:r>
            <a:r>
              <a:rPr lang="en-GB" sz="2000" dirty="0">
                <a:solidFill>
                  <a:schemeClr val="accent3"/>
                </a:solidFill>
              </a:rPr>
              <a:t>function_name1</a:t>
            </a:r>
          </a:p>
        </p:txBody>
      </p:sp>
      <p:cxnSp>
        <p:nvCxnSpPr>
          <p:cNvPr id="10" name="Straight Connector 9">
            <a:extLst>
              <a:ext uri="{FF2B5EF4-FFF2-40B4-BE49-F238E27FC236}">
                <a16:creationId xmlns:a16="http://schemas.microsoft.com/office/drawing/2014/main" id="{FF29C6A3-BCE0-37FF-4728-196349D4709A}"/>
              </a:ext>
            </a:extLst>
          </p:cNvPr>
          <p:cNvCxnSpPr>
            <a:cxnSpLocks/>
          </p:cNvCxnSpPr>
          <p:nvPr/>
        </p:nvCxnSpPr>
        <p:spPr>
          <a:xfrm>
            <a:off x="391318" y="3719237"/>
            <a:ext cx="11409363"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Content Placeholder 6">
            <a:extLst>
              <a:ext uri="{FF2B5EF4-FFF2-40B4-BE49-F238E27FC236}">
                <a16:creationId xmlns:a16="http://schemas.microsoft.com/office/drawing/2014/main" id="{E3F2F9A7-BB53-8AE3-B7C9-7003B97E3BE9}"/>
              </a:ext>
            </a:extLst>
          </p:cNvPr>
          <p:cNvSpPr txBox="1">
            <a:spLocks/>
          </p:cNvSpPr>
          <p:nvPr/>
        </p:nvSpPr>
        <p:spPr>
          <a:xfrm>
            <a:off x="325438" y="3904696"/>
            <a:ext cx="11409363" cy="2303501"/>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2000" dirty="0">
                <a:solidFill>
                  <a:schemeClr val="accent5"/>
                </a:solidFill>
              </a:rPr>
              <a:t>function</a:t>
            </a:r>
            <a:r>
              <a:rPr lang="en-GB" sz="2000" dirty="0"/>
              <a:t> </a:t>
            </a:r>
            <a:r>
              <a:rPr lang="en-GB" sz="2000" dirty="0">
                <a:solidFill>
                  <a:schemeClr val="accent3"/>
                </a:solidFill>
              </a:rPr>
              <a:t>function_name2</a:t>
            </a:r>
            <a:r>
              <a:rPr lang="en-GB" sz="2000" dirty="0"/>
              <a:t>(arg1, arg2)result(evaluation)</a:t>
            </a:r>
          </a:p>
          <a:p>
            <a:pPr marL="0" indent="0">
              <a:buFont typeface="Arial"/>
              <a:buNone/>
            </a:pPr>
            <a:r>
              <a:rPr lang="en-GB" sz="2000" dirty="0"/>
              <a:t>	</a:t>
            </a:r>
            <a:r>
              <a:rPr lang="en-GB" sz="2000" dirty="0">
                <a:solidFill>
                  <a:schemeClr val="accent5"/>
                </a:solidFill>
              </a:rPr>
              <a:t>real</a:t>
            </a:r>
            <a:r>
              <a:rPr lang="en-GB" sz="2000" dirty="0"/>
              <a:t>	::	arg1, arg2, evaluation</a:t>
            </a:r>
          </a:p>
          <a:p>
            <a:pPr marL="0" indent="0">
              <a:buFont typeface="Arial"/>
              <a:buNone/>
            </a:pPr>
            <a:endParaRPr lang="en-GB" sz="2000" dirty="0"/>
          </a:p>
          <a:p>
            <a:pPr marL="0" indent="0">
              <a:buFont typeface="Arial"/>
              <a:buNone/>
            </a:pPr>
            <a:r>
              <a:rPr lang="en-GB" sz="2000" dirty="0"/>
              <a:t>	evaluation=arg1*arg2</a:t>
            </a:r>
          </a:p>
          <a:p>
            <a:pPr marL="0" indent="0">
              <a:buFont typeface="Arial"/>
              <a:buNone/>
            </a:pPr>
            <a:endParaRPr lang="en-GB" sz="2000" dirty="0"/>
          </a:p>
          <a:p>
            <a:pPr marL="0" indent="0">
              <a:buFont typeface="Arial"/>
              <a:buNone/>
            </a:pPr>
            <a:r>
              <a:rPr lang="en-GB" sz="2000" dirty="0">
                <a:solidFill>
                  <a:schemeClr val="accent5"/>
                </a:solidFill>
              </a:rPr>
              <a:t>end function </a:t>
            </a:r>
            <a:r>
              <a:rPr lang="en-GB" sz="2000" dirty="0">
                <a:solidFill>
                  <a:schemeClr val="accent3"/>
                </a:solidFill>
              </a:rPr>
              <a:t>function_name2</a:t>
            </a:r>
          </a:p>
        </p:txBody>
      </p:sp>
    </p:spTree>
    <p:extLst>
      <p:ext uri="{BB962C8B-B14F-4D97-AF65-F5344CB8AC3E}">
        <p14:creationId xmlns:p14="http://schemas.microsoft.com/office/powerpoint/2010/main" val="410352433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Functions - Calling</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40</a:t>
            </a:fld>
            <a:endParaRPr lang="en-GB"/>
          </a:p>
        </p:txBody>
      </p:sp>
      <p:sp>
        <p:nvSpPr>
          <p:cNvPr id="8" name="Content Placeholder 6">
            <a:extLst>
              <a:ext uri="{FF2B5EF4-FFF2-40B4-BE49-F238E27FC236}">
                <a16:creationId xmlns:a16="http://schemas.microsoft.com/office/drawing/2014/main" id="{5EFFB270-A444-4DE2-0DE3-DF516468DA9F}"/>
              </a:ext>
            </a:extLst>
          </p:cNvPr>
          <p:cNvSpPr>
            <a:spLocks noGrp="1"/>
          </p:cNvSpPr>
          <p:nvPr>
            <p:ph idx="1"/>
          </p:nvPr>
        </p:nvSpPr>
        <p:spPr>
          <a:xfrm>
            <a:off x="457199" y="1466440"/>
            <a:ext cx="11541125" cy="4879931"/>
          </a:xfrm>
        </p:spPr>
        <p:txBody>
          <a:bodyPr/>
          <a:lstStyle/>
          <a:p>
            <a:pPr marL="0" indent="0">
              <a:buNone/>
            </a:pPr>
            <a:r>
              <a:rPr lang="en-GB" sz="3200" dirty="0">
                <a:solidFill>
                  <a:schemeClr val="accent5"/>
                </a:solidFill>
              </a:rPr>
              <a:t>real</a:t>
            </a:r>
            <a:r>
              <a:rPr lang="en-GB" sz="3200" dirty="0"/>
              <a:t>    ::  real1, real2</a:t>
            </a:r>
          </a:p>
          <a:p>
            <a:pPr marL="0" indent="0">
              <a:buNone/>
            </a:pPr>
            <a:endParaRPr lang="en-GB" sz="3200" dirty="0"/>
          </a:p>
          <a:p>
            <a:pPr marL="0" indent="0">
              <a:buNone/>
            </a:pPr>
            <a:r>
              <a:rPr lang="en-GB" sz="3200" dirty="0">
                <a:solidFill>
                  <a:schemeClr val="accent1"/>
                </a:solidFill>
              </a:rPr>
              <a:t>print</a:t>
            </a:r>
            <a:r>
              <a:rPr lang="en-GB" sz="3200" dirty="0"/>
              <a:t>*, function_name1(</a:t>
            </a:r>
            <a:r>
              <a:rPr lang="en-GB" sz="3200" dirty="0">
                <a:solidFill>
                  <a:schemeClr val="accent2"/>
                </a:solidFill>
              </a:rPr>
              <a:t>2.0</a:t>
            </a:r>
            <a:r>
              <a:rPr lang="en-GB" sz="3200" dirty="0"/>
              <a:t>, </a:t>
            </a:r>
            <a:r>
              <a:rPr lang="en-GB" sz="3200" dirty="0">
                <a:solidFill>
                  <a:schemeClr val="accent2"/>
                </a:solidFill>
              </a:rPr>
              <a:t>4.0</a:t>
            </a:r>
            <a:r>
              <a:rPr lang="en-GB" sz="3200" dirty="0"/>
              <a:t>)</a:t>
            </a:r>
          </a:p>
          <a:p>
            <a:pPr marL="0" indent="0">
              <a:buNone/>
            </a:pPr>
            <a:r>
              <a:rPr lang="en-GB" sz="3200" dirty="0">
                <a:solidFill>
                  <a:schemeClr val="accent1"/>
                </a:solidFill>
              </a:rPr>
              <a:t>print</a:t>
            </a:r>
            <a:r>
              <a:rPr lang="en-GB" sz="3200" dirty="0"/>
              <a:t>*, function_name2(</a:t>
            </a:r>
            <a:r>
              <a:rPr lang="en-GB" sz="3200" dirty="0">
                <a:solidFill>
                  <a:schemeClr val="accent2"/>
                </a:solidFill>
              </a:rPr>
              <a:t>1.0</a:t>
            </a:r>
            <a:r>
              <a:rPr lang="en-GB" sz="3200" dirty="0"/>
              <a:t>, </a:t>
            </a:r>
            <a:r>
              <a:rPr lang="en-GB" sz="3200" dirty="0">
                <a:solidFill>
                  <a:schemeClr val="accent2"/>
                </a:solidFill>
              </a:rPr>
              <a:t>3.0</a:t>
            </a:r>
            <a:r>
              <a:rPr lang="en-GB" sz="3200" dirty="0"/>
              <a:t>)</a:t>
            </a:r>
          </a:p>
          <a:p>
            <a:pPr marL="0" indent="0">
              <a:buNone/>
            </a:pPr>
            <a:endParaRPr lang="en-GB" sz="3200" dirty="0"/>
          </a:p>
          <a:p>
            <a:pPr marL="0" indent="0">
              <a:buNone/>
            </a:pPr>
            <a:r>
              <a:rPr lang="en-GB" sz="3200" dirty="0"/>
              <a:t>real1=function_name1 (</a:t>
            </a:r>
            <a:r>
              <a:rPr lang="en-GB" sz="3200" dirty="0">
                <a:solidFill>
                  <a:schemeClr val="accent2"/>
                </a:solidFill>
              </a:rPr>
              <a:t>2.0</a:t>
            </a:r>
            <a:r>
              <a:rPr lang="en-GB" sz="3200" dirty="0"/>
              <a:t>, </a:t>
            </a:r>
            <a:r>
              <a:rPr lang="en-GB" sz="3200" dirty="0">
                <a:solidFill>
                  <a:schemeClr val="accent2"/>
                </a:solidFill>
              </a:rPr>
              <a:t>3.0</a:t>
            </a:r>
            <a:r>
              <a:rPr lang="en-GB" sz="3200" dirty="0"/>
              <a:t>)</a:t>
            </a:r>
          </a:p>
          <a:p>
            <a:pPr marL="0" indent="0">
              <a:buNone/>
            </a:pPr>
            <a:r>
              <a:rPr lang="en-GB" sz="3200" dirty="0"/>
              <a:t>real2=function_name2(real1, real1/</a:t>
            </a:r>
            <a:r>
              <a:rPr lang="en-GB" sz="3200" dirty="0">
                <a:solidFill>
                  <a:schemeClr val="accent2"/>
                </a:solidFill>
              </a:rPr>
              <a:t>3.0</a:t>
            </a:r>
            <a:r>
              <a:rPr lang="en-GB" sz="3200" dirty="0"/>
              <a:t>)*</a:t>
            </a:r>
            <a:r>
              <a:rPr lang="en-GB" sz="3200" dirty="0">
                <a:solidFill>
                  <a:schemeClr val="accent2"/>
                </a:solidFill>
              </a:rPr>
              <a:t>2.0</a:t>
            </a:r>
          </a:p>
          <a:p>
            <a:pPr marL="0" indent="0">
              <a:buNone/>
            </a:pPr>
            <a:br>
              <a:rPr lang="en-GB" sz="3200" dirty="0"/>
            </a:br>
            <a:r>
              <a:rPr lang="en-GB" sz="3200" dirty="0">
                <a:solidFill>
                  <a:schemeClr val="accent1"/>
                </a:solidFill>
              </a:rPr>
              <a:t>print</a:t>
            </a:r>
            <a:r>
              <a:rPr lang="en-GB" sz="3200" dirty="0"/>
              <a:t>*, function_name1(real2, function_name2(</a:t>
            </a:r>
            <a:r>
              <a:rPr lang="en-GB" sz="3200" dirty="0">
                <a:solidFill>
                  <a:schemeClr val="accent2"/>
                </a:solidFill>
              </a:rPr>
              <a:t>2.0</a:t>
            </a:r>
            <a:r>
              <a:rPr lang="en-GB" sz="3200" dirty="0"/>
              <a:t>, </a:t>
            </a:r>
            <a:r>
              <a:rPr lang="en-GB" sz="3200" dirty="0">
                <a:solidFill>
                  <a:schemeClr val="accent2"/>
                </a:solidFill>
              </a:rPr>
              <a:t>3.0</a:t>
            </a:r>
            <a:r>
              <a:rPr lang="en-GB" sz="3200" dirty="0"/>
              <a:t>))</a:t>
            </a:r>
          </a:p>
        </p:txBody>
      </p:sp>
      <p:sp>
        <p:nvSpPr>
          <p:cNvPr id="12" name="TextBox 11">
            <a:extLst>
              <a:ext uri="{FF2B5EF4-FFF2-40B4-BE49-F238E27FC236}">
                <a16:creationId xmlns:a16="http://schemas.microsoft.com/office/drawing/2014/main" id="{3801141C-3B76-69BA-A505-E0B7FB786CBC}"/>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13" name="TextBox 12">
            <a:extLst>
              <a:ext uri="{FF2B5EF4-FFF2-40B4-BE49-F238E27FC236}">
                <a16:creationId xmlns:a16="http://schemas.microsoft.com/office/drawing/2014/main" id="{95BEB220-2AF1-8E4A-DA65-ADD5031EA307}"/>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71925114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Extension: Functions – Recursion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41</a:t>
            </a:fld>
            <a:endParaRPr lang="en-GB"/>
          </a:p>
        </p:txBody>
      </p:sp>
      <p:sp>
        <p:nvSpPr>
          <p:cNvPr id="8" name="Content Placeholder 6">
            <a:extLst>
              <a:ext uri="{FF2B5EF4-FFF2-40B4-BE49-F238E27FC236}">
                <a16:creationId xmlns:a16="http://schemas.microsoft.com/office/drawing/2014/main" id="{5EFFB270-A444-4DE2-0DE3-DF516468DA9F}"/>
              </a:ext>
            </a:extLst>
          </p:cNvPr>
          <p:cNvSpPr>
            <a:spLocks noGrp="1"/>
          </p:cNvSpPr>
          <p:nvPr>
            <p:ph idx="1"/>
          </p:nvPr>
        </p:nvSpPr>
        <p:spPr>
          <a:xfrm>
            <a:off x="457199" y="1466440"/>
            <a:ext cx="11541125" cy="4879931"/>
          </a:xfrm>
        </p:spPr>
        <p:txBody>
          <a:bodyPr/>
          <a:lstStyle/>
          <a:p>
            <a:pPr marL="0" indent="0">
              <a:buNone/>
            </a:pPr>
            <a:r>
              <a:rPr lang="en-GB" sz="2800" dirty="0">
                <a:solidFill>
                  <a:schemeClr val="accent5"/>
                </a:solidFill>
              </a:rPr>
              <a:t>recursive function </a:t>
            </a:r>
            <a:r>
              <a:rPr lang="en-GB" sz="2800" dirty="0">
                <a:solidFill>
                  <a:schemeClr val="accent3"/>
                </a:solidFill>
              </a:rPr>
              <a:t>factorial</a:t>
            </a:r>
            <a:r>
              <a:rPr lang="en-GB" sz="2800" dirty="0"/>
              <a:t>(</a:t>
            </a:r>
            <a:r>
              <a:rPr lang="en-GB" sz="2800" dirty="0">
                <a:solidFill>
                  <a:schemeClr val="accent2"/>
                </a:solidFill>
              </a:rPr>
              <a:t>value</a:t>
            </a:r>
            <a:r>
              <a:rPr lang="en-GB" sz="2800" dirty="0"/>
              <a:t>)result(evaluation)</a:t>
            </a:r>
          </a:p>
          <a:p>
            <a:pPr marL="0" indent="0">
              <a:buNone/>
            </a:pPr>
            <a:r>
              <a:rPr lang="en-GB" sz="2800" dirty="0"/>
              <a:t>	integer ::  value, evaluation</a:t>
            </a:r>
          </a:p>
          <a:p>
            <a:pPr marL="0" indent="0">
              <a:buNone/>
            </a:pPr>
            <a:endParaRPr lang="en-GB" sz="2800" dirty="0"/>
          </a:p>
          <a:p>
            <a:pPr marL="400050" lvl="1" indent="0">
              <a:buNone/>
            </a:pPr>
            <a:r>
              <a:rPr lang="en-GB" sz="2800" dirty="0">
                <a:solidFill>
                  <a:schemeClr val="accent1"/>
                </a:solidFill>
              </a:rPr>
              <a:t>	if</a:t>
            </a:r>
            <a:r>
              <a:rPr lang="en-GB" sz="2800" dirty="0"/>
              <a:t> (value==</a:t>
            </a:r>
            <a:r>
              <a:rPr lang="en-GB" sz="2800" dirty="0">
                <a:solidFill>
                  <a:schemeClr val="accent2"/>
                </a:solidFill>
              </a:rPr>
              <a:t>0</a:t>
            </a:r>
            <a:r>
              <a:rPr lang="en-GB" sz="2800" dirty="0"/>
              <a:t> .or. value==</a:t>
            </a:r>
            <a:r>
              <a:rPr lang="en-GB" sz="2800" dirty="0">
                <a:solidFill>
                  <a:schemeClr val="accent2"/>
                </a:solidFill>
              </a:rPr>
              <a:t>1</a:t>
            </a:r>
            <a:r>
              <a:rPr lang="en-GB" sz="2800" dirty="0"/>
              <a:t>)</a:t>
            </a:r>
            <a:r>
              <a:rPr lang="en-GB" sz="2800" dirty="0">
                <a:solidFill>
                  <a:schemeClr val="accent1"/>
                </a:solidFill>
              </a:rPr>
              <a:t>then</a:t>
            </a:r>
          </a:p>
          <a:p>
            <a:pPr marL="400050" lvl="1" indent="0">
              <a:buNone/>
            </a:pPr>
            <a:r>
              <a:rPr lang="en-GB" sz="2800" dirty="0"/>
              <a:t>	  	evaluation=</a:t>
            </a:r>
            <a:r>
              <a:rPr lang="en-GB" sz="2800" dirty="0">
                <a:solidFill>
                  <a:schemeClr val="accent2"/>
                </a:solidFill>
              </a:rPr>
              <a:t>1</a:t>
            </a:r>
          </a:p>
          <a:p>
            <a:pPr marL="400050" lvl="1" indent="0">
              <a:buNone/>
            </a:pPr>
            <a:r>
              <a:rPr lang="en-GB" sz="2800" dirty="0">
                <a:solidFill>
                  <a:schemeClr val="accent1"/>
                </a:solidFill>
              </a:rPr>
              <a:t>	else if</a:t>
            </a:r>
            <a:r>
              <a:rPr lang="en-GB" sz="2800" dirty="0"/>
              <a:t>(value&gt;</a:t>
            </a:r>
            <a:r>
              <a:rPr lang="en-GB" sz="2800" dirty="0">
                <a:solidFill>
                  <a:schemeClr val="accent2"/>
                </a:solidFill>
              </a:rPr>
              <a:t>1</a:t>
            </a:r>
            <a:r>
              <a:rPr lang="en-GB" sz="2800" dirty="0"/>
              <a:t>)then</a:t>
            </a:r>
          </a:p>
          <a:p>
            <a:pPr marL="400050" lvl="1" indent="0">
              <a:buNone/>
            </a:pPr>
            <a:r>
              <a:rPr lang="en-GB" sz="2800" dirty="0"/>
              <a:t>  		evaluation=value*factorial(value-</a:t>
            </a:r>
            <a:r>
              <a:rPr lang="en-GB" sz="2800" dirty="0">
                <a:solidFill>
                  <a:schemeClr val="accent2"/>
                </a:solidFill>
              </a:rPr>
              <a:t>1</a:t>
            </a:r>
            <a:r>
              <a:rPr lang="en-GB" sz="2800" dirty="0"/>
              <a:t>)</a:t>
            </a:r>
          </a:p>
          <a:p>
            <a:pPr marL="400050" lvl="1" indent="0">
              <a:buNone/>
            </a:pPr>
            <a:r>
              <a:rPr lang="en-GB" sz="2800" dirty="0">
                <a:solidFill>
                  <a:schemeClr val="accent1"/>
                </a:solidFill>
              </a:rPr>
              <a:t>	else</a:t>
            </a:r>
          </a:p>
          <a:p>
            <a:pPr marL="400050" lvl="1" indent="0">
              <a:buNone/>
            </a:pPr>
            <a:r>
              <a:rPr lang="en-GB" sz="2800" dirty="0">
                <a:solidFill>
                  <a:schemeClr val="accent1"/>
                </a:solidFill>
              </a:rPr>
              <a:t>  		stop </a:t>
            </a:r>
            <a:r>
              <a:rPr lang="en-GB" sz="2800" dirty="0"/>
              <a:t>"Cannot take the factorial of a negative number"</a:t>
            </a:r>
          </a:p>
          <a:p>
            <a:pPr marL="400050" lvl="1" indent="0">
              <a:buNone/>
            </a:pPr>
            <a:r>
              <a:rPr lang="en-GB" sz="2800" dirty="0">
                <a:solidFill>
                  <a:schemeClr val="accent1"/>
                </a:solidFill>
              </a:rPr>
              <a:t>	end if</a:t>
            </a:r>
          </a:p>
          <a:p>
            <a:pPr marL="0" indent="0">
              <a:buNone/>
            </a:pPr>
            <a:r>
              <a:rPr lang="en-GB" sz="2800" dirty="0">
                <a:solidFill>
                  <a:schemeClr val="accent5"/>
                </a:solidFill>
              </a:rPr>
              <a:t>end function </a:t>
            </a:r>
            <a:r>
              <a:rPr lang="en-GB" sz="2800" dirty="0"/>
              <a:t>factorial</a:t>
            </a:r>
          </a:p>
        </p:txBody>
      </p:sp>
      <p:sp>
        <p:nvSpPr>
          <p:cNvPr id="12" name="TextBox 11">
            <a:extLst>
              <a:ext uri="{FF2B5EF4-FFF2-40B4-BE49-F238E27FC236}">
                <a16:creationId xmlns:a16="http://schemas.microsoft.com/office/drawing/2014/main" id="{3801141C-3B76-69BA-A505-E0B7FB786CBC}"/>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392131906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Deferred Size Arguments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42</a:t>
            </a:fld>
            <a:endParaRPr lang="en-GB"/>
          </a:p>
        </p:txBody>
      </p:sp>
      <p:sp>
        <p:nvSpPr>
          <p:cNvPr id="8" name="Content Placeholder 6">
            <a:extLst>
              <a:ext uri="{FF2B5EF4-FFF2-40B4-BE49-F238E27FC236}">
                <a16:creationId xmlns:a16="http://schemas.microsoft.com/office/drawing/2014/main" id="{5EFFB270-A444-4DE2-0DE3-DF516468DA9F}"/>
              </a:ext>
            </a:extLst>
          </p:cNvPr>
          <p:cNvSpPr>
            <a:spLocks noGrp="1"/>
          </p:cNvSpPr>
          <p:nvPr>
            <p:ph idx="1"/>
          </p:nvPr>
        </p:nvSpPr>
        <p:spPr>
          <a:xfrm>
            <a:off x="457199" y="1466440"/>
            <a:ext cx="11541125" cy="4879931"/>
          </a:xfrm>
        </p:spPr>
        <p:txBody>
          <a:bodyPr/>
          <a:lstStyle/>
          <a:p>
            <a:pPr marL="0" indent="0">
              <a:buNone/>
            </a:pPr>
            <a:r>
              <a:rPr lang="en-GB" sz="2800" dirty="0">
                <a:solidFill>
                  <a:schemeClr val="accent5"/>
                </a:solidFill>
              </a:rPr>
              <a:t>function </a:t>
            </a:r>
            <a:r>
              <a:rPr lang="en-GB" sz="2800" dirty="0" err="1">
                <a:solidFill>
                  <a:schemeClr val="accent3"/>
                </a:solidFill>
              </a:rPr>
              <a:t>sum_of_cubes</a:t>
            </a:r>
            <a:r>
              <a:rPr lang="en-GB" sz="2800" dirty="0"/>
              <a:t>(</a:t>
            </a:r>
            <a:r>
              <a:rPr lang="en-GB" sz="2800" dirty="0">
                <a:solidFill>
                  <a:schemeClr val="accent2"/>
                </a:solidFill>
              </a:rPr>
              <a:t>array</a:t>
            </a:r>
            <a:r>
              <a:rPr lang="en-GB" sz="2800" dirty="0"/>
              <a:t>)result(evaluation) 	</a:t>
            </a:r>
          </a:p>
          <a:p>
            <a:pPr marL="0" indent="0">
              <a:buNone/>
            </a:pPr>
            <a:r>
              <a:rPr lang="en-GB" sz="2800" dirty="0">
                <a:solidFill>
                  <a:schemeClr val="accent5"/>
                </a:solidFill>
              </a:rPr>
              <a:t>	real</a:t>
            </a:r>
            <a:r>
              <a:rPr lang="en-GB" sz="2800" dirty="0"/>
              <a:t>, </a:t>
            </a:r>
            <a:r>
              <a:rPr lang="en-GB" sz="2800" dirty="0">
                <a:solidFill>
                  <a:schemeClr val="accent5"/>
                </a:solidFill>
              </a:rPr>
              <a:t>dimension</a:t>
            </a:r>
            <a:r>
              <a:rPr lang="en-GB" sz="2800" dirty="0"/>
              <a:t>(:) 	::  array</a:t>
            </a:r>
          </a:p>
          <a:p>
            <a:pPr marL="0" indent="0">
              <a:buNone/>
            </a:pPr>
            <a:r>
              <a:rPr lang="en-GB" sz="2800" dirty="0"/>
              <a:t>	</a:t>
            </a:r>
            <a:r>
              <a:rPr lang="en-GB" sz="2800" dirty="0">
                <a:solidFill>
                  <a:schemeClr val="accent5"/>
                </a:solidFill>
              </a:rPr>
              <a:t>real</a:t>
            </a:r>
            <a:r>
              <a:rPr lang="en-GB" sz="2800" dirty="0"/>
              <a:t>                		::  evaluation</a:t>
            </a:r>
          </a:p>
          <a:p>
            <a:pPr marL="0" indent="0">
              <a:buNone/>
            </a:pPr>
            <a:r>
              <a:rPr lang="en-GB" sz="2800" dirty="0"/>
              <a:t>     	</a:t>
            </a:r>
            <a:r>
              <a:rPr lang="en-GB" sz="2800" dirty="0">
                <a:solidFill>
                  <a:schemeClr val="accent5"/>
                </a:solidFill>
              </a:rPr>
              <a:t>integer  </a:t>
            </a:r>
            <a:r>
              <a:rPr lang="en-GB" sz="2800" dirty="0"/>
              <a:t>           		::  ii</a:t>
            </a:r>
          </a:p>
          <a:p>
            <a:pPr marL="0" indent="0">
              <a:buNone/>
            </a:pPr>
            <a:br>
              <a:rPr lang="en-GB" sz="2800" dirty="0"/>
            </a:br>
            <a:r>
              <a:rPr lang="en-GB" sz="2800" dirty="0"/>
              <a:t>	evaluation=</a:t>
            </a:r>
            <a:r>
              <a:rPr lang="en-GB" sz="2800" dirty="0">
                <a:solidFill>
                  <a:schemeClr val="accent2"/>
                </a:solidFill>
              </a:rPr>
              <a:t>0.0</a:t>
            </a:r>
          </a:p>
          <a:p>
            <a:pPr marL="0" indent="0">
              <a:buNone/>
            </a:pPr>
            <a:br>
              <a:rPr lang="en-GB" sz="2800" dirty="0"/>
            </a:br>
            <a:r>
              <a:rPr lang="en-GB" sz="2800" dirty="0"/>
              <a:t>	</a:t>
            </a:r>
            <a:r>
              <a:rPr lang="en-GB" sz="2800" dirty="0">
                <a:solidFill>
                  <a:schemeClr val="accent1"/>
                </a:solidFill>
              </a:rPr>
              <a:t>do</a:t>
            </a:r>
            <a:r>
              <a:rPr lang="en-GB" sz="2800" dirty="0"/>
              <a:t> ii=</a:t>
            </a:r>
            <a:r>
              <a:rPr lang="en-GB" sz="2800" dirty="0">
                <a:solidFill>
                  <a:schemeClr val="accent2"/>
                </a:solidFill>
              </a:rPr>
              <a:t>1</a:t>
            </a:r>
            <a:r>
              <a:rPr lang="en-GB" sz="2800" dirty="0"/>
              <a:t>, </a:t>
            </a:r>
            <a:r>
              <a:rPr lang="en-GB" sz="2800" dirty="0">
                <a:solidFill>
                  <a:schemeClr val="accent5"/>
                </a:solidFill>
              </a:rPr>
              <a:t>size</a:t>
            </a:r>
            <a:r>
              <a:rPr lang="en-GB" sz="2800" dirty="0"/>
              <a:t>(array)</a:t>
            </a:r>
          </a:p>
          <a:p>
            <a:pPr marL="400050" lvl="1" indent="0">
              <a:buNone/>
            </a:pPr>
            <a:r>
              <a:rPr lang="en-GB" sz="2800" dirty="0"/>
              <a:t>		evaluation=</a:t>
            </a:r>
            <a:r>
              <a:rPr lang="en-GB" sz="2800" dirty="0" err="1"/>
              <a:t>evaluation+array</a:t>
            </a:r>
            <a:r>
              <a:rPr lang="en-GB" sz="2800" dirty="0"/>
              <a:t>(ii)**</a:t>
            </a:r>
            <a:r>
              <a:rPr lang="en-GB" sz="2800" dirty="0">
                <a:solidFill>
                  <a:schemeClr val="accent2"/>
                </a:solidFill>
              </a:rPr>
              <a:t>3</a:t>
            </a:r>
          </a:p>
          <a:p>
            <a:pPr marL="400050" lvl="1" indent="0">
              <a:buNone/>
            </a:pPr>
            <a:r>
              <a:rPr lang="en-GB" sz="2800" dirty="0">
                <a:solidFill>
                  <a:schemeClr val="accent1"/>
                </a:solidFill>
              </a:rPr>
              <a:t>	end do  </a:t>
            </a:r>
            <a:r>
              <a:rPr lang="en-GB" sz="2800" dirty="0"/>
              <a:t>   </a:t>
            </a:r>
            <a:endParaRPr lang="en-GB" sz="2800" dirty="0">
              <a:solidFill>
                <a:schemeClr val="accent5"/>
              </a:solidFill>
            </a:endParaRPr>
          </a:p>
          <a:p>
            <a:pPr marL="0" indent="0">
              <a:buNone/>
            </a:pPr>
            <a:r>
              <a:rPr lang="en-GB" sz="2800" dirty="0">
                <a:solidFill>
                  <a:schemeClr val="accent5"/>
                </a:solidFill>
              </a:rPr>
              <a:t>end function </a:t>
            </a:r>
            <a:r>
              <a:rPr lang="en-GB" sz="2800" dirty="0" err="1">
                <a:solidFill>
                  <a:schemeClr val="accent3"/>
                </a:solidFill>
              </a:rPr>
              <a:t>sum_of_cubes</a:t>
            </a:r>
            <a:endParaRPr lang="en-GB" sz="2800" dirty="0"/>
          </a:p>
        </p:txBody>
      </p:sp>
      <p:sp>
        <p:nvSpPr>
          <p:cNvPr id="12" name="TextBox 11">
            <a:extLst>
              <a:ext uri="{FF2B5EF4-FFF2-40B4-BE49-F238E27FC236}">
                <a16:creationId xmlns:a16="http://schemas.microsoft.com/office/drawing/2014/main" id="{3801141C-3B76-69BA-A505-E0B7FB786CBC}"/>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3172791869"/>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Modules - Definition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3423444"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43</a:t>
            </a:fld>
            <a:endParaRPr lang="en-GB"/>
          </a:p>
        </p:txBody>
      </p:sp>
      <p:grpSp>
        <p:nvGrpSpPr>
          <p:cNvPr id="17" name="Group 16">
            <a:extLst>
              <a:ext uri="{FF2B5EF4-FFF2-40B4-BE49-F238E27FC236}">
                <a16:creationId xmlns:a16="http://schemas.microsoft.com/office/drawing/2014/main" id="{988CEFE5-18CE-5F35-0D49-44E95977A79A}"/>
              </a:ext>
            </a:extLst>
          </p:cNvPr>
          <p:cNvGrpSpPr/>
          <p:nvPr/>
        </p:nvGrpSpPr>
        <p:grpSpPr>
          <a:xfrm>
            <a:off x="272142" y="1466440"/>
            <a:ext cx="11210324" cy="4879931"/>
            <a:chOff x="272142" y="1466440"/>
            <a:chExt cx="8599716" cy="4879931"/>
          </a:xfrm>
        </p:grpSpPr>
        <p:sp>
          <p:nvSpPr>
            <p:cNvPr id="9" name="Content Placeholder 6">
              <a:extLst>
                <a:ext uri="{FF2B5EF4-FFF2-40B4-BE49-F238E27FC236}">
                  <a16:creationId xmlns:a16="http://schemas.microsoft.com/office/drawing/2014/main" id="{83BD55E8-7753-709B-FE7C-786135BCA366}"/>
                </a:ext>
              </a:extLst>
            </p:cNvPr>
            <p:cNvSpPr txBox="1">
              <a:spLocks/>
            </p:cNvSpPr>
            <p:nvPr/>
          </p:nvSpPr>
          <p:spPr>
            <a:xfrm>
              <a:off x="272142" y="1466440"/>
              <a:ext cx="5245080" cy="4879931"/>
            </a:xfrm>
            <a:prstGeom prst="rect">
              <a:avLst/>
            </a:prstGeom>
          </p:spPr>
          <p:txBody>
            <a:bodyPr vert="horz" lIns="0" tIns="0" rIns="0" bIns="0" rtlCol="0">
              <a:noAutofit/>
            </a:bodyPr>
            <a:lst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rgbClr val="00FF7F"/>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a:lstStyle>
            <a:p>
              <a:r>
                <a:rPr lang="en-GB" sz="2400" dirty="0">
                  <a:solidFill>
                    <a:schemeClr val="accent5"/>
                  </a:solidFill>
                </a:rPr>
                <a:t>module</a:t>
              </a:r>
              <a:r>
                <a:rPr lang="en-GB" sz="2400" dirty="0"/>
                <a:t> </a:t>
              </a:r>
              <a:r>
                <a:rPr lang="en-GB" sz="2400" dirty="0">
                  <a:solidFill>
                    <a:schemeClr val="accent2"/>
                  </a:solidFill>
                </a:rPr>
                <a:t>module2</a:t>
              </a:r>
            </a:p>
            <a:p>
              <a:endParaRPr lang="en-GB" sz="2400" dirty="0"/>
            </a:p>
            <a:p>
              <a:r>
                <a:rPr lang="en-GB" sz="2400" dirty="0"/>
                <a:t>	</a:t>
              </a:r>
              <a:r>
                <a:rPr lang="en-GB" sz="2400" dirty="0">
                  <a:solidFill>
                    <a:schemeClr val="accent5"/>
                  </a:solidFill>
                </a:rPr>
                <a:t>implicit none</a:t>
              </a:r>
            </a:p>
            <a:p>
              <a:endParaRPr lang="en-GB" sz="2400" dirty="0"/>
            </a:p>
            <a:p>
              <a:r>
                <a:rPr lang="en-GB" sz="2400" dirty="0"/>
                <a:t>	</a:t>
              </a:r>
              <a:r>
                <a:rPr lang="en-GB" sz="2400" dirty="0">
                  <a:solidFill>
                    <a:schemeClr val="accent5"/>
                  </a:solidFill>
                </a:rPr>
                <a:t>real</a:t>
              </a:r>
              <a:r>
                <a:rPr lang="en-GB" sz="2400" dirty="0"/>
                <a:t>    ::  global1, global2</a:t>
              </a:r>
            </a:p>
            <a:p>
              <a:endParaRPr lang="en-GB" sz="2400" dirty="0"/>
            </a:p>
            <a:p>
              <a:r>
                <a:rPr lang="en-GB" sz="2400" dirty="0"/>
                <a:t> </a:t>
              </a:r>
              <a:r>
                <a:rPr lang="en-GB" sz="2400" dirty="0">
                  <a:solidFill>
                    <a:schemeClr val="accent1"/>
                  </a:solidFill>
                </a:rPr>
                <a:t>	contains</a:t>
              </a:r>
            </a:p>
            <a:p>
              <a:endParaRPr lang="en-GB" sz="2400" dirty="0"/>
            </a:p>
            <a:p>
              <a:r>
                <a:rPr lang="en-GB" sz="2400" dirty="0"/>
                <a:t>		</a:t>
              </a:r>
              <a:r>
                <a:rPr lang="en-GB" sz="2400" dirty="0">
                  <a:solidFill>
                    <a:schemeClr val="accent5"/>
                  </a:solidFill>
                </a:rPr>
                <a:t>subroutine</a:t>
              </a:r>
              <a:r>
                <a:rPr lang="en-GB" sz="2400" dirty="0"/>
                <a:t> </a:t>
              </a:r>
              <a:r>
                <a:rPr lang="en-GB" sz="2400" dirty="0">
                  <a:solidFill>
                    <a:schemeClr val="accent4"/>
                  </a:solidFill>
                </a:rPr>
                <a:t>hello</a:t>
              </a:r>
              <a:r>
                <a:rPr lang="en-GB" sz="2400" dirty="0"/>
                <a:t>()</a:t>
              </a:r>
            </a:p>
            <a:p>
              <a:r>
                <a:rPr lang="en-GB" sz="2400" dirty="0"/>
                <a:t>			</a:t>
              </a:r>
              <a:r>
                <a:rPr lang="en-GB" sz="2400" dirty="0">
                  <a:solidFill>
                    <a:schemeClr val="accent1"/>
                  </a:solidFill>
                </a:rPr>
                <a:t>print</a:t>
              </a:r>
              <a:r>
                <a:rPr lang="en-GB" sz="2400" dirty="0"/>
                <a:t>*, </a:t>
              </a:r>
              <a:r>
                <a:rPr lang="en-GB" sz="2400" dirty="0">
                  <a:solidFill>
                    <a:schemeClr val="accent1">
                      <a:lumMod val="60000"/>
                      <a:lumOff val="40000"/>
                    </a:schemeClr>
                  </a:solidFill>
                </a:rPr>
                <a:t>"Hello: "</a:t>
              </a:r>
              <a:r>
                <a:rPr lang="en-GB" sz="2400" dirty="0"/>
                <a:t>,</a:t>
              </a:r>
              <a:r>
                <a:rPr lang="en-GB" sz="2400" dirty="0">
                  <a:solidFill>
                    <a:schemeClr val="accent1">
                      <a:lumMod val="60000"/>
                      <a:lumOff val="40000"/>
                    </a:schemeClr>
                  </a:solidFill>
                </a:rPr>
                <a:t> </a:t>
              </a:r>
              <a:r>
                <a:rPr lang="en-GB" sz="2400" dirty="0"/>
                <a:t>global1, global2</a:t>
              </a:r>
            </a:p>
            <a:p>
              <a:r>
                <a:rPr lang="en-GB" sz="2400" dirty="0"/>
                <a:t>		</a:t>
              </a:r>
              <a:r>
                <a:rPr lang="en-GB" sz="2400" dirty="0">
                  <a:solidFill>
                    <a:schemeClr val="accent5"/>
                  </a:solidFill>
                </a:rPr>
                <a:t>end subroutine </a:t>
              </a:r>
              <a:r>
                <a:rPr lang="en-GB" sz="2400" dirty="0">
                  <a:solidFill>
                    <a:schemeClr val="accent4"/>
                  </a:solidFill>
                </a:rPr>
                <a:t>hello</a:t>
              </a:r>
            </a:p>
            <a:p>
              <a:br>
                <a:rPr lang="en-GB" sz="2400" dirty="0"/>
              </a:br>
              <a:r>
                <a:rPr lang="en-GB" sz="2400" dirty="0">
                  <a:solidFill>
                    <a:schemeClr val="accent5"/>
                  </a:solidFill>
                </a:rPr>
                <a:t>end module </a:t>
              </a:r>
              <a:r>
                <a:rPr lang="en-GB" sz="2400" dirty="0">
                  <a:solidFill>
                    <a:schemeClr val="accent2"/>
                  </a:solidFill>
                </a:rPr>
                <a:t>module2</a:t>
              </a:r>
            </a:p>
            <a:p>
              <a:r>
                <a:rPr lang="en-GB" sz="2400" dirty="0"/>
                <a:t>	</a:t>
              </a:r>
            </a:p>
          </p:txBody>
        </p:sp>
        <p:sp>
          <p:nvSpPr>
            <p:cNvPr id="10" name="TextBox 9">
              <a:extLst>
                <a:ext uri="{FF2B5EF4-FFF2-40B4-BE49-F238E27FC236}">
                  <a16:creationId xmlns:a16="http://schemas.microsoft.com/office/drawing/2014/main" id="{8E4F6570-4A9D-2ABD-55DC-24D6456BECCB}"/>
                </a:ext>
              </a:extLst>
            </p:cNvPr>
            <p:cNvSpPr txBox="1"/>
            <p:nvPr/>
          </p:nvSpPr>
          <p:spPr>
            <a:xfrm>
              <a:off x="6441897" y="1531387"/>
              <a:ext cx="2075379" cy="369332"/>
            </a:xfrm>
            <a:prstGeom prst="rect">
              <a:avLst/>
            </a:prstGeom>
            <a:noFill/>
          </p:spPr>
          <p:txBody>
            <a:bodyPr wrap="square" rtlCol="0">
              <a:spAutoFit/>
            </a:bodyPr>
            <a:lstStyle/>
            <a:p>
              <a:r>
                <a:rPr lang="en-GB" dirty="0"/>
                <a:t>Module name</a:t>
              </a:r>
            </a:p>
          </p:txBody>
        </p:sp>
        <p:cxnSp>
          <p:nvCxnSpPr>
            <p:cNvPr id="11" name="Straight Arrow Connector 10">
              <a:extLst>
                <a:ext uri="{FF2B5EF4-FFF2-40B4-BE49-F238E27FC236}">
                  <a16:creationId xmlns:a16="http://schemas.microsoft.com/office/drawing/2014/main" id="{54091565-6B89-C969-1076-DDDE66A795D0}"/>
                </a:ext>
              </a:extLst>
            </p:cNvPr>
            <p:cNvCxnSpPr>
              <a:stCxn id="10" idx="1"/>
            </p:cNvCxnSpPr>
            <p:nvPr/>
          </p:nvCxnSpPr>
          <p:spPr>
            <a:xfrm flipH="1" flipV="1">
              <a:off x="2301411" y="1633591"/>
              <a:ext cx="4140486" cy="824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50C533-43A2-2FA3-1400-38A3C10D4802}"/>
                </a:ext>
              </a:extLst>
            </p:cNvPr>
            <p:cNvSpPr txBox="1"/>
            <p:nvPr/>
          </p:nvSpPr>
          <p:spPr>
            <a:xfrm>
              <a:off x="6441897" y="2332234"/>
              <a:ext cx="2075379" cy="646331"/>
            </a:xfrm>
            <a:prstGeom prst="rect">
              <a:avLst/>
            </a:prstGeom>
            <a:noFill/>
          </p:spPr>
          <p:txBody>
            <a:bodyPr wrap="square" rtlCol="0">
              <a:spAutoFit/>
            </a:bodyPr>
            <a:lstStyle/>
            <a:p>
              <a:r>
                <a:rPr lang="en-GB" dirty="0"/>
                <a:t>Global variable declarations</a:t>
              </a:r>
            </a:p>
          </p:txBody>
        </p:sp>
        <p:cxnSp>
          <p:nvCxnSpPr>
            <p:cNvPr id="14" name="Straight Arrow Connector 13">
              <a:extLst>
                <a:ext uri="{FF2B5EF4-FFF2-40B4-BE49-F238E27FC236}">
                  <a16:creationId xmlns:a16="http://schemas.microsoft.com/office/drawing/2014/main" id="{EFACCBA1-D413-EB29-5B7E-79EC0DB4AFAE}"/>
                </a:ext>
              </a:extLst>
            </p:cNvPr>
            <p:cNvCxnSpPr>
              <a:cxnSpLocks/>
              <a:stCxn id="13" idx="1"/>
            </p:cNvCxnSpPr>
            <p:nvPr/>
          </p:nvCxnSpPr>
          <p:spPr>
            <a:xfrm flipH="1">
              <a:off x="3415428" y="2655400"/>
              <a:ext cx="3026469" cy="545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FADFC36-3870-683A-BDE2-FC10693AFAD0}"/>
                </a:ext>
              </a:extLst>
            </p:cNvPr>
            <p:cNvSpPr txBox="1"/>
            <p:nvPr/>
          </p:nvSpPr>
          <p:spPr>
            <a:xfrm>
              <a:off x="6657654" y="4232953"/>
              <a:ext cx="2214204" cy="646331"/>
            </a:xfrm>
            <a:prstGeom prst="rect">
              <a:avLst/>
            </a:prstGeom>
            <a:noFill/>
          </p:spPr>
          <p:txBody>
            <a:bodyPr wrap="square" rtlCol="0">
              <a:spAutoFit/>
            </a:bodyPr>
            <a:lstStyle/>
            <a:p>
              <a:r>
                <a:rPr lang="en-GB" dirty="0"/>
                <a:t>Subroutines and/or functions</a:t>
              </a:r>
            </a:p>
          </p:txBody>
        </p:sp>
        <p:cxnSp>
          <p:nvCxnSpPr>
            <p:cNvPr id="16" name="Straight Arrow Connector 15">
              <a:extLst>
                <a:ext uri="{FF2B5EF4-FFF2-40B4-BE49-F238E27FC236}">
                  <a16:creationId xmlns:a16="http://schemas.microsoft.com/office/drawing/2014/main" id="{47A8EED3-381B-FD8D-7AA4-9A19E7843232}"/>
                </a:ext>
              </a:extLst>
            </p:cNvPr>
            <p:cNvCxnSpPr>
              <a:cxnSpLocks/>
              <a:stCxn id="15" idx="1"/>
            </p:cNvCxnSpPr>
            <p:nvPr/>
          </p:nvCxnSpPr>
          <p:spPr>
            <a:xfrm flipH="1">
              <a:off x="5456558" y="4556119"/>
              <a:ext cx="1201096" cy="1432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3572916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Modules - Usage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44</a:t>
            </a:fld>
            <a:endParaRPr lang="en-GB"/>
          </a:p>
        </p:txBody>
      </p:sp>
      <p:sp>
        <p:nvSpPr>
          <p:cNvPr id="3" name="Content Placeholder 6">
            <a:extLst>
              <a:ext uri="{FF2B5EF4-FFF2-40B4-BE49-F238E27FC236}">
                <a16:creationId xmlns:a16="http://schemas.microsoft.com/office/drawing/2014/main" id="{006D851E-D3E5-53CD-134D-92E7AE538C74}"/>
              </a:ext>
            </a:extLst>
          </p:cNvPr>
          <p:cNvSpPr>
            <a:spLocks noGrp="1"/>
          </p:cNvSpPr>
          <p:nvPr>
            <p:ph idx="1"/>
          </p:nvPr>
        </p:nvSpPr>
        <p:spPr>
          <a:xfrm>
            <a:off x="1142755" y="1448854"/>
            <a:ext cx="4793702" cy="4879931"/>
          </a:xfrm>
        </p:spPr>
        <p:txBody>
          <a:bodyPr/>
          <a:lstStyle/>
          <a:p>
            <a:pPr marL="0" indent="0">
              <a:buNone/>
            </a:pPr>
            <a:r>
              <a:rPr lang="en-GB" sz="3200" dirty="0">
                <a:solidFill>
                  <a:schemeClr val="accent5"/>
                </a:solidFill>
              </a:rPr>
              <a:t>module</a:t>
            </a:r>
            <a:r>
              <a:rPr lang="en-GB" sz="3200" dirty="0"/>
              <a:t> </a:t>
            </a:r>
            <a:r>
              <a:rPr lang="en-GB" sz="3200" dirty="0">
                <a:solidFill>
                  <a:schemeClr val="accent2"/>
                </a:solidFill>
              </a:rPr>
              <a:t>module1</a:t>
            </a:r>
          </a:p>
          <a:p>
            <a:pPr marL="0" indent="0">
              <a:buNone/>
            </a:pPr>
            <a:br>
              <a:rPr lang="en-GB" sz="3200" dirty="0"/>
            </a:br>
            <a:r>
              <a:rPr lang="en-GB" sz="3200" dirty="0"/>
              <a:t>    </a:t>
            </a:r>
            <a:r>
              <a:rPr lang="en-GB" sz="3200" dirty="0">
                <a:solidFill>
                  <a:schemeClr val="accent1"/>
                </a:solidFill>
              </a:rPr>
              <a:t>use</a:t>
            </a:r>
            <a:r>
              <a:rPr lang="en-GB" sz="3200" dirty="0"/>
              <a:t> </a:t>
            </a:r>
            <a:r>
              <a:rPr lang="en-GB" sz="3200" dirty="0">
                <a:solidFill>
                  <a:schemeClr val="accent2"/>
                </a:solidFill>
              </a:rPr>
              <a:t>module2</a:t>
            </a:r>
          </a:p>
          <a:p>
            <a:pPr marL="0" indent="0">
              <a:buNone/>
            </a:pPr>
            <a:br>
              <a:rPr lang="en-GB" sz="3200" dirty="0"/>
            </a:br>
            <a:r>
              <a:rPr lang="en-GB" sz="3200" dirty="0"/>
              <a:t>    </a:t>
            </a:r>
            <a:r>
              <a:rPr lang="en-GB" sz="3200" dirty="0">
                <a:solidFill>
                  <a:schemeClr val="accent5"/>
                </a:solidFill>
              </a:rPr>
              <a:t>implicit none</a:t>
            </a:r>
          </a:p>
          <a:p>
            <a:pPr marL="0" indent="0">
              <a:buNone/>
            </a:pPr>
            <a:br>
              <a:rPr lang="en-GB" sz="3200" dirty="0"/>
            </a:br>
            <a:r>
              <a:rPr lang="en-GB" sz="3200" dirty="0"/>
              <a:t>    </a:t>
            </a:r>
            <a:r>
              <a:rPr lang="en-GB" sz="3200" dirty="0">
                <a:solidFill>
                  <a:schemeClr val="accent1"/>
                </a:solidFill>
              </a:rPr>
              <a:t>contains</a:t>
            </a:r>
          </a:p>
          <a:p>
            <a:pPr marL="0" indent="0">
              <a:buNone/>
            </a:pPr>
            <a:r>
              <a:rPr lang="en-GB" sz="2400" dirty="0"/>
              <a:t>	</a:t>
            </a:r>
          </a:p>
        </p:txBody>
      </p:sp>
      <p:sp>
        <p:nvSpPr>
          <p:cNvPr id="4" name="TextBox 3">
            <a:extLst>
              <a:ext uri="{FF2B5EF4-FFF2-40B4-BE49-F238E27FC236}">
                <a16:creationId xmlns:a16="http://schemas.microsoft.com/office/drawing/2014/main" id="{A11FF939-E6B4-5D2A-4458-08C0734384CC}"/>
              </a:ext>
            </a:extLst>
          </p:cNvPr>
          <p:cNvSpPr txBox="1"/>
          <p:nvPr/>
        </p:nvSpPr>
        <p:spPr>
          <a:xfrm>
            <a:off x="6626524" y="1280567"/>
            <a:ext cx="4855941" cy="4462760"/>
          </a:xfrm>
          <a:prstGeom prst="rect">
            <a:avLst/>
          </a:prstGeom>
          <a:noFill/>
        </p:spPr>
        <p:txBody>
          <a:bodyPr wrap="square" rtlCol="0">
            <a:spAutoFit/>
          </a:bodyPr>
          <a:lstStyle/>
          <a:p>
            <a:r>
              <a:rPr lang="en-GB" sz="3200" dirty="0">
                <a:solidFill>
                  <a:schemeClr val="accent1"/>
                </a:solidFill>
              </a:rPr>
              <a:t>program</a:t>
            </a:r>
            <a:r>
              <a:rPr lang="en-GB" sz="3200" dirty="0"/>
              <a:t> </a:t>
            </a:r>
            <a:r>
              <a:rPr lang="en-GB" sz="3200" dirty="0" err="1"/>
              <a:t>main_program</a:t>
            </a:r>
            <a:endParaRPr lang="en-GB" sz="3200" dirty="0"/>
          </a:p>
          <a:p>
            <a:br>
              <a:rPr lang="en-GB" sz="3200" dirty="0"/>
            </a:br>
            <a:r>
              <a:rPr lang="en-GB" sz="3200" dirty="0"/>
              <a:t>    </a:t>
            </a:r>
            <a:r>
              <a:rPr lang="en-GB" sz="3200" dirty="0">
                <a:solidFill>
                  <a:schemeClr val="accent1"/>
                </a:solidFill>
              </a:rPr>
              <a:t>use</a:t>
            </a:r>
            <a:r>
              <a:rPr lang="en-GB" sz="3200" dirty="0"/>
              <a:t> </a:t>
            </a:r>
            <a:r>
              <a:rPr lang="en-GB" sz="3200" dirty="0">
                <a:solidFill>
                  <a:schemeClr val="accent2"/>
                </a:solidFill>
              </a:rPr>
              <a:t>module1</a:t>
            </a:r>
          </a:p>
          <a:p>
            <a:br>
              <a:rPr lang="en-GB" sz="3200" dirty="0"/>
            </a:br>
            <a:r>
              <a:rPr lang="en-GB" sz="3200" dirty="0"/>
              <a:t>    </a:t>
            </a:r>
            <a:r>
              <a:rPr lang="en-GB" sz="3200" dirty="0">
                <a:solidFill>
                  <a:schemeClr val="accent5"/>
                </a:solidFill>
              </a:rPr>
              <a:t>implicit none</a:t>
            </a:r>
          </a:p>
          <a:p>
            <a:endParaRPr lang="en-GB" sz="3200" dirty="0"/>
          </a:p>
          <a:p>
            <a:r>
              <a:rPr lang="en-GB" sz="3200" dirty="0"/>
              <a:t>    global1=1.2</a:t>
            </a:r>
          </a:p>
          <a:p>
            <a:r>
              <a:rPr lang="en-GB" sz="3200" dirty="0"/>
              <a:t>    global2=2.0</a:t>
            </a:r>
          </a:p>
          <a:p>
            <a:endParaRPr lang="en-GB" sz="2800" dirty="0"/>
          </a:p>
        </p:txBody>
      </p:sp>
      <p:cxnSp>
        <p:nvCxnSpPr>
          <p:cNvPr id="8" name="Straight Connector 7">
            <a:extLst>
              <a:ext uri="{FF2B5EF4-FFF2-40B4-BE49-F238E27FC236}">
                <a16:creationId xmlns:a16="http://schemas.microsoft.com/office/drawing/2014/main" id="{CA9D94C1-0B06-90DB-ED77-BFEC6B949F95}"/>
              </a:ext>
            </a:extLst>
          </p:cNvPr>
          <p:cNvCxnSpPr>
            <a:cxnSpLocks/>
          </p:cNvCxnSpPr>
          <p:nvPr/>
        </p:nvCxnSpPr>
        <p:spPr>
          <a:xfrm flipV="1">
            <a:off x="6240288" y="881009"/>
            <a:ext cx="0" cy="5095982"/>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61C2A8E-7546-071C-C021-37F00DE40F93}"/>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73755310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Modules - Dependency</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45</a:t>
            </a:fld>
            <a:endParaRPr lang="en-GB"/>
          </a:p>
        </p:txBody>
      </p:sp>
      <p:sp>
        <p:nvSpPr>
          <p:cNvPr id="11" name="TextBox 10">
            <a:extLst>
              <a:ext uri="{FF2B5EF4-FFF2-40B4-BE49-F238E27FC236}">
                <a16:creationId xmlns:a16="http://schemas.microsoft.com/office/drawing/2014/main" id="{DED924D2-A46A-EEFF-A247-40079DE75C41}"/>
              </a:ext>
            </a:extLst>
          </p:cNvPr>
          <p:cNvSpPr txBox="1"/>
          <p:nvPr/>
        </p:nvSpPr>
        <p:spPr>
          <a:xfrm>
            <a:off x="5430759" y="1454630"/>
            <a:ext cx="1619076" cy="369332"/>
          </a:xfrm>
          <a:prstGeom prst="rect">
            <a:avLst/>
          </a:prstGeom>
          <a:noFill/>
          <a:ln w="25400">
            <a:solidFill>
              <a:schemeClr val="accent1"/>
            </a:solidFill>
          </a:ln>
        </p:spPr>
        <p:txBody>
          <a:bodyPr wrap="square" rtlCol="0">
            <a:spAutoFit/>
          </a:bodyPr>
          <a:lstStyle/>
          <a:p>
            <a:pPr algn="ctr"/>
            <a:r>
              <a:rPr lang="en-GB" dirty="0"/>
              <a:t>Main Program</a:t>
            </a:r>
          </a:p>
        </p:txBody>
      </p:sp>
      <p:sp>
        <p:nvSpPr>
          <p:cNvPr id="12" name="TextBox 11">
            <a:extLst>
              <a:ext uri="{FF2B5EF4-FFF2-40B4-BE49-F238E27FC236}">
                <a16:creationId xmlns:a16="http://schemas.microsoft.com/office/drawing/2014/main" id="{2E28E5EB-7A4D-F595-3085-D1823C8D1E25}"/>
              </a:ext>
            </a:extLst>
          </p:cNvPr>
          <p:cNvSpPr txBox="1"/>
          <p:nvPr/>
        </p:nvSpPr>
        <p:spPr>
          <a:xfrm>
            <a:off x="6308808" y="5667301"/>
            <a:ext cx="1619076" cy="369332"/>
          </a:xfrm>
          <a:prstGeom prst="rect">
            <a:avLst/>
          </a:prstGeom>
          <a:noFill/>
          <a:ln w="25400">
            <a:solidFill>
              <a:schemeClr val="accent1"/>
            </a:solidFill>
          </a:ln>
        </p:spPr>
        <p:txBody>
          <a:bodyPr wrap="square" rtlCol="0">
            <a:spAutoFit/>
          </a:bodyPr>
          <a:lstStyle/>
          <a:p>
            <a:pPr algn="ctr"/>
            <a:r>
              <a:rPr lang="en-GB" dirty="0"/>
              <a:t>Module 1</a:t>
            </a:r>
          </a:p>
        </p:txBody>
      </p:sp>
      <p:sp>
        <p:nvSpPr>
          <p:cNvPr id="13" name="TextBox 12">
            <a:extLst>
              <a:ext uri="{FF2B5EF4-FFF2-40B4-BE49-F238E27FC236}">
                <a16:creationId xmlns:a16="http://schemas.microsoft.com/office/drawing/2014/main" id="{E89311DC-830B-CCE0-9CDE-7A04965B57B2}"/>
              </a:ext>
            </a:extLst>
          </p:cNvPr>
          <p:cNvSpPr txBox="1"/>
          <p:nvPr/>
        </p:nvSpPr>
        <p:spPr>
          <a:xfrm>
            <a:off x="2167442" y="3780802"/>
            <a:ext cx="1619076" cy="369332"/>
          </a:xfrm>
          <a:prstGeom prst="rect">
            <a:avLst/>
          </a:prstGeom>
          <a:noFill/>
          <a:ln w="25400">
            <a:solidFill>
              <a:schemeClr val="accent1"/>
            </a:solidFill>
          </a:ln>
        </p:spPr>
        <p:txBody>
          <a:bodyPr wrap="square" rtlCol="0">
            <a:spAutoFit/>
          </a:bodyPr>
          <a:lstStyle/>
          <a:p>
            <a:pPr algn="ctr"/>
            <a:r>
              <a:rPr lang="en-GB" dirty="0"/>
              <a:t>Module 3</a:t>
            </a:r>
          </a:p>
        </p:txBody>
      </p:sp>
      <p:sp>
        <p:nvSpPr>
          <p:cNvPr id="14" name="TextBox 13">
            <a:extLst>
              <a:ext uri="{FF2B5EF4-FFF2-40B4-BE49-F238E27FC236}">
                <a16:creationId xmlns:a16="http://schemas.microsoft.com/office/drawing/2014/main" id="{58A22133-7F04-4206-F0D3-C20769878CDD}"/>
              </a:ext>
            </a:extLst>
          </p:cNvPr>
          <p:cNvSpPr txBox="1"/>
          <p:nvPr/>
        </p:nvSpPr>
        <p:spPr>
          <a:xfrm>
            <a:off x="4446451" y="3780802"/>
            <a:ext cx="1619076" cy="369332"/>
          </a:xfrm>
          <a:prstGeom prst="rect">
            <a:avLst/>
          </a:prstGeom>
          <a:noFill/>
          <a:ln w="25400">
            <a:solidFill>
              <a:schemeClr val="accent1"/>
            </a:solidFill>
          </a:ln>
        </p:spPr>
        <p:txBody>
          <a:bodyPr wrap="square" rtlCol="0">
            <a:spAutoFit/>
          </a:bodyPr>
          <a:lstStyle/>
          <a:p>
            <a:pPr algn="ctr"/>
            <a:r>
              <a:rPr lang="en-GB" dirty="0"/>
              <a:t>Module 2</a:t>
            </a:r>
          </a:p>
        </p:txBody>
      </p:sp>
      <p:sp>
        <p:nvSpPr>
          <p:cNvPr id="15" name="TextBox 14">
            <a:extLst>
              <a:ext uri="{FF2B5EF4-FFF2-40B4-BE49-F238E27FC236}">
                <a16:creationId xmlns:a16="http://schemas.microsoft.com/office/drawing/2014/main" id="{9F686950-CF77-7EEF-59FF-79F00016C8D5}"/>
              </a:ext>
            </a:extLst>
          </p:cNvPr>
          <p:cNvSpPr txBox="1"/>
          <p:nvPr/>
        </p:nvSpPr>
        <p:spPr>
          <a:xfrm>
            <a:off x="3330715" y="2737846"/>
            <a:ext cx="1619076" cy="369332"/>
          </a:xfrm>
          <a:prstGeom prst="rect">
            <a:avLst/>
          </a:prstGeom>
          <a:noFill/>
          <a:ln w="25400">
            <a:solidFill>
              <a:schemeClr val="accent1"/>
            </a:solidFill>
          </a:ln>
        </p:spPr>
        <p:txBody>
          <a:bodyPr wrap="square" rtlCol="0">
            <a:spAutoFit/>
          </a:bodyPr>
          <a:lstStyle/>
          <a:p>
            <a:pPr algn="ctr"/>
            <a:r>
              <a:rPr lang="en-GB" dirty="0"/>
              <a:t>Module 4</a:t>
            </a:r>
          </a:p>
        </p:txBody>
      </p:sp>
      <p:sp>
        <p:nvSpPr>
          <p:cNvPr id="16" name="TextBox 15">
            <a:extLst>
              <a:ext uri="{FF2B5EF4-FFF2-40B4-BE49-F238E27FC236}">
                <a16:creationId xmlns:a16="http://schemas.microsoft.com/office/drawing/2014/main" id="{9A3619A3-9CB6-1217-9B79-2A5F2B13EE7F}"/>
              </a:ext>
            </a:extLst>
          </p:cNvPr>
          <p:cNvSpPr txBox="1"/>
          <p:nvPr/>
        </p:nvSpPr>
        <p:spPr>
          <a:xfrm>
            <a:off x="7507035" y="2737846"/>
            <a:ext cx="1619076" cy="369332"/>
          </a:xfrm>
          <a:prstGeom prst="rect">
            <a:avLst/>
          </a:prstGeom>
          <a:noFill/>
          <a:ln w="25400">
            <a:solidFill>
              <a:schemeClr val="accent1"/>
            </a:solidFill>
          </a:ln>
        </p:spPr>
        <p:txBody>
          <a:bodyPr wrap="square" rtlCol="0">
            <a:spAutoFit/>
          </a:bodyPr>
          <a:lstStyle/>
          <a:p>
            <a:pPr algn="ctr"/>
            <a:r>
              <a:rPr lang="en-GB" dirty="0"/>
              <a:t>Module 5</a:t>
            </a:r>
          </a:p>
        </p:txBody>
      </p:sp>
      <p:cxnSp>
        <p:nvCxnSpPr>
          <p:cNvPr id="17" name="Straight Arrow Connector 16">
            <a:extLst>
              <a:ext uri="{FF2B5EF4-FFF2-40B4-BE49-F238E27FC236}">
                <a16:creationId xmlns:a16="http://schemas.microsoft.com/office/drawing/2014/main" id="{93AF5A9C-D16A-2542-4AC8-3CF46877B803}"/>
              </a:ext>
            </a:extLst>
          </p:cNvPr>
          <p:cNvCxnSpPr>
            <a:stCxn id="16" idx="0"/>
            <a:endCxn id="11" idx="2"/>
          </p:cNvCxnSpPr>
          <p:nvPr/>
        </p:nvCxnSpPr>
        <p:spPr>
          <a:xfrm flipH="1" flipV="1">
            <a:off x="6240297" y="1823962"/>
            <a:ext cx="2076276" cy="9138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AABFC3D-B174-EFE9-247E-4ABDEB52D3C7}"/>
              </a:ext>
            </a:extLst>
          </p:cNvPr>
          <p:cNvCxnSpPr>
            <a:stCxn id="12" idx="0"/>
            <a:endCxn id="16" idx="2"/>
          </p:cNvCxnSpPr>
          <p:nvPr/>
        </p:nvCxnSpPr>
        <p:spPr>
          <a:xfrm flipV="1">
            <a:off x="7118346" y="3107178"/>
            <a:ext cx="1198227" cy="25601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4ECA40A-A1DC-5123-9F24-F2BB6455B421}"/>
              </a:ext>
            </a:extLst>
          </p:cNvPr>
          <p:cNvCxnSpPr>
            <a:stCxn id="12" idx="0"/>
            <a:endCxn id="14" idx="2"/>
          </p:cNvCxnSpPr>
          <p:nvPr/>
        </p:nvCxnSpPr>
        <p:spPr>
          <a:xfrm flipH="1" flipV="1">
            <a:off x="5255989" y="4150134"/>
            <a:ext cx="1862357" cy="1517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5271259-5641-2409-5E9D-E778BB4ECC07}"/>
              </a:ext>
            </a:extLst>
          </p:cNvPr>
          <p:cNvCxnSpPr>
            <a:stCxn id="13" idx="0"/>
            <a:endCxn id="15" idx="2"/>
          </p:cNvCxnSpPr>
          <p:nvPr/>
        </p:nvCxnSpPr>
        <p:spPr>
          <a:xfrm flipV="1">
            <a:off x="2976980" y="3107178"/>
            <a:ext cx="1163273" cy="673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B86E85F-2252-6919-F178-336052DB0638}"/>
              </a:ext>
            </a:extLst>
          </p:cNvPr>
          <p:cNvCxnSpPr>
            <a:stCxn id="14" idx="0"/>
            <a:endCxn id="15" idx="2"/>
          </p:cNvCxnSpPr>
          <p:nvPr/>
        </p:nvCxnSpPr>
        <p:spPr>
          <a:xfrm flipH="1" flipV="1">
            <a:off x="4140253" y="3107178"/>
            <a:ext cx="1115736" cy="673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3E453A8-2AB8-F731-143B-ED1CD4F09202}"/>
              </a:ext>
            </a:extLst>
          </p:cNvPr>
          <p:cNvCxnSpPr>
            <a:stCxn id="15" idx="0"/>
            <a:endCxn id="11" idx="2"/>
          </p:cNvCxnSpPr>
          <p:nvPr/>
        </p:nvCxnSpPr>
        <p:spPr>
          <a:xfrm flipV="1">
            <a:off x="4140253" y="1823962"/>
            <a:ext cx="2100044" cy="9138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08B8E45-CAF8-36C3-03E7-6D5720152267}"/>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402106823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Errors in Fortran</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46</a:t>
            </a:fld>
            <a:endParaRPr lang="en-GB"/>
          </a:p>
        </p:txBody>
      </p:sp>
      <p:sp>
        <p:nvSpPr>
          <p:cNvPr id="3" name="Content Placeholder 6">
            <a:extLst>
              <a:ext uri="{FF2B5EF4-FFF2-40B4-BE49-F238E27FC236}">
                <a16:creationId xmlns:a16="http://schemas.microsoft.com/office/drawing/2014/main" id="{AE72B19A-BAEF-7DAE-DDC1-54394DA86691}"/>
              </a:ext>
            </a:extLst>
          </p:cNvPr>
          <p:cNvSpPr>
            <a:spLocks noGrp="1"/>
          </p:cNvSpPr>
          <p:nvPr>
            <p:ph idx="1"/>
          </p:nvPr>
        </p:nvSpPr>
        <p:spPr>
          <a:xfrm>
            <a:off x="457199" y="1600200"/>
            <a:ext cx="11409363" cy="4525963"/>
          </a:xfrm>
        </p:spPr>
        <p:txBody>
          <a:bodyPr/>
          <a:lstStyle/>
          <a:p>
            <a:pPr marL="342900" indent="-342900">
              <a:buFont typeface="Arial" panose="020B0604020202020204" pitchFamily="34" charset="0"/>
              <a:buChar char="•"/>
            </a:pPr>
            <a:r>
              <a:rPr lang="en-GB" sz="2800" dirty="0"/>
              <a:t>Compilation Errors</a:t>
            </a:r>
          </a:p>
          <a:p>
            <a:pPr marL="504891" lvl="2" indent="-342900"/>
            <a:r>
              <a:rPr lang="en-GB" sz="2800" dirty="0"/>
              <a:t>Picked up by the compiler</a:t>
            </a:r>
          </a:p>
          <a:p>
            <a:pPr marL="504891" lvl="2" indent="-342900"/>
            <a:r>
              <a:rPr lang="en-GB" sz="2800" dirty="0"/>
              <a:t>Will be phrased differently between different compilers</a:t>
            </a:r>
          </a:p>
          <a:p>
            <a:pPr marL="504891" lvl="2" indent="-342900"/>
            <a:r>
              <a:rPr lang="en-GB" sz="2800" dirty="0"/>
              <a:t>Compilers will sometimes pick up different errors</a:t>
            </a:r>
          </a:p>
          <a:p>
            <a:pPr marL="342900" indent="-342900">
              <a:buFont typeface="Arial" panose="020B0604020202020204" pitchFamily="34" charset="0"/>
              <a:buChar char="•"/>
            </a:pPr>
            <a:r>
              <a:rPr lang="en-GB" sz="2800" dirty="0"/>
              <a:t>Run-time errors</a:t>
            </a:r>
          </a:p>
          <a:p>
            <a:pPr marL="504891" lvl="2" indent="-342900"/>
            <a:r>
              <a:rPr lang="en-GB" sz="2800" dirty="0"/>
              <a:t>Code compiles correctly</a:t>
            </a:r>
          </a:p>
          <a:p>
            <a:pPr marL="504891" lvl="2" indent="-342900"/>
            <a:r>
              <a:rPr lang="en-GB" sz="2800" dirty="0"/>
              <a:t>When running the code an invalid operation is requested due to the state of one or more variables</a:t>
            </a:r>
          </a:p>
        </p:txBody>
      </p:sp>
      <p:sp>
        <p:nvSpPr>
          <p:cNvPr id="4" name="TextBox 3">
            <a:extLst>
              <a:ext uri="{FF2B5EF4-FFF2-40B4-BE49-F238E27FC236}">
                <a16:creationId xmlns:a16="http://schemas.microsoft.com/office/drawing/2014/main" id="{46AE0382-2A39-87A6-3BE4-A24528E78D4A}"/>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
        <p:nvSpPr>
          <p:cNvPr id="8" name="TextBox 7">
            <a:extLst>
              <a:ext uri="{FF2B5EF4-FFF2-40B4-BE49-F238E27FC236}">
                <a16:creationId xmlns:a16="http://schemas.microsoft.com/office/drawing/2014/main" id="{BD8BE78B-284C-55D4-E656-DFE1612DC748}"/>
              </a:ext>
            </a:extLst>
          </p:cNvPr>
          <p:cNvSpPr txBox="1"/>
          <p:nvPr/>
        </p:nvSpPr>
        <p:spPr>
          <a:xfrm>
            <a:off x="10494578" y="0"/>
            <a:ext cx="1697422" cy="369332"/>
          </a:xfrm>
          <a:prstGeom prst="rect">
            <a:avLst/>
          </a:prstGeom>
          <a:noFill/>
        </p:spPr>
        <p:txBody>
          <a:bodyPr wrap="square" rtlCol="0">
            <a:spAutoFit/>
          </a:bodyPr>
          <a:lstStyle/>
          <a:p>
            <a:r>
              <a:rPr lang="en-GB" dirty="0">
                <a:solidFill>
                  <a:schemeClr val="accent2"/>
                </a:solidFill>
              </a:rPr>
              <a:t>Problem Sheet</a:t>
            </a:r>
          </a:p>
        </p:txBody>
      </p:sp>
    </p:spTree>
    <p:extLst>
      <p:ext uri="{BB962C8B-B14F-4D97-AF65-F5344CB8AC3E}">
        <p14:creationId xmlns:p14="http://schemas.microsoft.com/office/powerpoint/2010/main" val="250030124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a:t>Gotchas</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47</a:t>
            </a:fld>
            <a:endParaRPr lang="en-GB"/>
          </a:p>
        </p:txBody>
      </p:sp>
      <p:sp>
        <p:nvSpPr>
          <p:cNvPr id="3" name="Content Placeholder 6">
            <a:extLst>
              <a:ext uri="{FF2B5EF4-FFF2-40B4-BE49-F238E27FC236}">
                <a16:creationId xmlns:a16="http://schemas.microsoft.com/office/drawing/2014/main" id="{AE72B19A-BAEF-7DAE-DDC1-54394DA86691}"/>
              </a:ext>
            </a:extLst>
          </p:cNvPr>
          <p:cNvSpPr>
            <a:spLocks noGrp="1"/>
          </p:cNvSpPr>
          <p:nvPr>
            <p:ph idx="1"/>
          </p:nvPr>
        </p:nvSpPr>
        <p:spPr>
          <a:xfrm>
            <a:off x="457199" y="1600200"/>
            <a:ext cx="11409363" cy="4525963"/>
          </a:xfrm>
        </p:spPr>
        <p:txBody>
          <a:bodyPr/>
          <a:lstStyle/>
          <a:p>
            <a:pPr marL="342900" indent="-342900">
              <a:buFont typeface="Arial" panose="020B0604020202020204" pitchFamily="34" charset="0"/>
              <a:buChar char="•"/>
            </a:pPr>
            <a:r>
              <a:rPr lang="en-GB" sz="2800" dirty="0"/>
              <a:t>There are lots of behaviours in Fortran that are not what you would expect</a:t>
            </a:r>
          </a:p>
          <a:p>
            <a:pPr marL="342900" indent="-342900">
              <a:buFont typeface="Arial" panose="020B0604020202020204" pitchFamily="34" charset="0"/>
              <a:buChar char="•"/>
            </a:pPr>
            <a:r>
              <a:rPr lang="en-GB" sz="2800" dirty="0"/>
              <a:t>In other languages, they may cause errors</a:t>
            </a:r>
          </a:p>
          <a:p>
            <a:pPr marL="342900" indent="-342900">
              <a:buFont typeface="Arial" panose="020B0604020202020204" pitchFamily="34" charset="0"/>
              <a:buChar char="•"/>
            </a:pPr>
            <a:r>
              <a:rPr lang="en-GB" sz="2800" dirty="0"/>
              <a:t>There’s usually some logic</a:t>
            </a:r>
          </a:p>
          <a:p>
            <a:pPr marL="504891" lvl="2" indent="-342900"/>
            <a:r>
              <a:rPr lang="en-GB" sz="2400" dirty="0"/>
              <a:t>Often that checking slows the program down</a:t>
            </a:r>
          </a:p>
          <a:p>
            <a:pPr marL="504891" lvl="2" indent="-342900"/>
            <a:r>
              <a:rPr lang="en-GB" sz="2400" dirty="0"/>
              <a:t>Sometimes that behaviour is sometimes desired</a:t>
            </a:r>
          </a:p>
          <a:p>
            <a:pPr marL="666884" lvl="3" indent="-342900"/>
            <a:r>
              <a:rPr lang="en-GB" dirty="0"/>
              <a:t>It’s your responsibility if you think it’s not desired</a:t>
            </a:r>
          </a:p>
        </p:txBody>
      </p:sp>
      <p:sp>
        <p:nvSpPr>
          <p:cNvPr id="4" name="TextBox 3">
            <a:extLst>
              <a:ext uri="{FF2B5EF4-FFF2-40B4-BE49-F238E27FC236}">
                <a16:creationId xmlns:a16="http://schemas.microsoft.com/office/drawing/2014/main" id="{46AE0382-2A39-87A6-3BE4-A24528E78D4A}"/>
              </a:ext>
            </a:extLst>
          </p:cNvPr>
          <p:cNvSpPr txBox="1"/>
          <p:nvPr/>
        </p:nvSpPr>
        <p:spPr>
          <a:xfrm>
            <a:off x="8865475" y="0"/>
            <a:ext cx="1765738" cy="369332"/>
          </a:xfrm>
          <a:prstGeom prst="rect">
            <a:avLst/>
          </a:prstGeom>
          <a:noFill/>
        </p:spPr>
        <p:txBody>
          <a:bodyPr wrap="square" rtlCol="0">
            <a:spAutoFit/>
          </a:bodyPr>
          <a:lstStyle/>
          <a:p>
            <a:r>
              <a:rPr lang="en-GB" dirty="0">
                <a:solidFill>
                  <a:schemeClr val="accent1"/>
                </a:solidFill>
              </a:rPr>
              <a:t>Demonstration</a:t>
            </a:r>
          </a:p>
        </p:txBody>
      </p:sp>
    </p:spTree>
    <p:extLst>
      <p:ext uri="{BB962C8B-B14F-4D97-AF65-F5344CB8AC3E}">
        <p14:creationId xmlns:p14="http://schemas.microsoft.com/office/powerpoint/2010/main" val="140787768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226D-AEEE-9CAD-EC6D-58B1E3EBB257}"/>
              </a:ext>
            </a:extLst>
          </p:cNvPr>
          <p:cNvSpPr>
            <a:spLocks noGrp="1"/>
          </p:cNvSpPr>
          <p:nvPr>
            <p:ph type="title"/>
          </p:nvPr>
        </p:nvSpPr>
        <p:spPr>
          <a:xfrm>
            <a:off x="325438" y="251619"/>
            <a:ext cx="11541125" cy="378619"/>
          </a:xfrm>
        </p:spPr>
        <p:txBody>
          <a:bodyPr/>
          <a:lstStyle/>
          <a:p>
            <a:r>
              <a:rPr lang="en-GB" sz="2800" dirty="0" err="1"/>
              <a:t>ReCoDE</a:t>
            </a:r>
            <a:endParaRPr lang="en-US" dirty="0"/>
          </a:p>
        </p:txBody>
      </p:sp>
      <p:sp>
        <p:nvSpPr>
          <p:cNvPr id="5" name="Date Placeholder 4">
            <a:extLst>
              <a:ext uri="{FF2B5EF4-FFF2-40B4-BE49-F238E27FC236}">
                <a16:creationId xmlns:a16="http://schemas.microsoft.com/office/drawing/2014/main" id="{06F2808B-580A-CD49-CD2A-D7F17413484C}"/>
              </a:ext>
            </a:extLst>
          </p:cNvPr>
          <p:cNvSpPr>
            <a:spLocks noGrp="1"/>
          </p:cNvSpPr>
          <p:nvPr>
            <p:ph type="dt" sz="half" idx="10"/>
          </p:nvPr>
        </p:nvSpPr>
        <p:spPr>
          <a:xfrm>
            <a:off x="10641013" y="6393657"/>
            <a:ext cx="1234282" cy="137319"/>
          </a:xfrm>
        </p:spPr>
        <p:txBody>
          <a:bodyPr/>
          <a:lstStyle/>
          <a:p>
            <a:fld id="{4B4BC937-2805-4BE1-9C10-C67D8B6C9243}" type="datetime1">
              <a:rPr lang="en-GB" smtClean="0"/>
              <a:t>09/10/2026</a:t>
            </a:fld>
            <a:endParaRPr lang="en-GB"/>
          </a:p>
        </p:txBody>
      </p:sp>
      <p:sp>
        <p:nvSpPr>
          <p:cNvPr id="6" name="Footer Placeholder 5">
            <a:extLst>
              <a:ext uri="{FF2B5EF4-FFF2-40B4-BE49-F238E27FC236}">
                <a16:creationId xmlns:a16="http://schemas.microsoft.com/office/drawing/2014/main" id="{A14F2B04-CF1B-39C4-E124-D0EE6DA13CD5}"/>
              </a:ext>
            </a:extLst>
          </p:cNvPr>
          <p:cNvSpPr>
            <a:spLocks noGrp="1"/>
          </p:cNvSpPr>
          <p:nvPr>
            <p:ph type="ftr" sz="quarter" idx="11"/>
          </p:nvPr>
        </p:nvSpPr>
        <p:spPr>
          <a:xfrm>
            <a:off x="1965325" y="6393657"/>
            <a:ext cx="5313110" cy="137319"/>
          </a:xfrm>
        </p:spPr>
        <p:txBody>
          <a:bodyPr/>
          <a:lstStyle/>
          <a:p>
            <a:r>
              <a:rPr lang="en-GB" dirty="0"/>
              <a:t>Introduction to Fortran</a:t>
            </a:r>
          </a:p>
        </p:txBody>
      </p:sp>
      <p:sp>
        <p:nvSpPr>
          <p:cNvPr id="7" name="Slide Number Placeholder 6">
            <a:extLst>
              <a:ext uri="{FF2B5EF4-FFF2-40B4-BE49-F238E27FC236}">
                <a16:creationId xmlns:a16="http://schemas.microsoft.com/office/drawing/2014/main" id="{2A0CE7C2-9D41-F6F6-A942-18570AA935CD}"/>
              </a:ext>
            </a:extLst>
          </p:cNvPr>
          <p:cNvSpPr>
            <a:spLocks noGrp="1"/>
          </p:cNvSpPr>
          <p:nvPr>
            <p:ph type="sldNum" sz="quarter" idx="12"/>
          </p:nvPr>
        </p:nvSpPr>
        <p:spPr>
          <a:xfrm>
            <a:off x="5936457" y="6393657"/>
            <a:ext cx="495218" cy="137319"/>
          </a:xfrm>
        </p:spPr>
        <p:txBody>
          <a:bodyPr/>
          <a:lstStyle/>
          <a:p>
            <a:fld id="{CBA53E11-492D-48B3-9F9B-09541CA2A39A}" type="slidenum">
              <a:rPr lang="en-GB" smtClean="0"/>
              <a:pPr/>
              <a:t>48</a:t>
            </a:fld>
            <a:endParaRPr lang="en-GB"/>
          </a:p>
        </p:txBody>
      </p:sp>
      <p:sp>
        <p:nvSpPr>
          <p:cNvPr id="3" name="Content Placeholder 6">
            <a:extLst>
              <a:ext uri="{FF2B5EF4-FFF2-40B4-BE49-F238E27FC236}">
                <a16:creationId xmlns:a16="http://schemas.microsoft.com/office/drawing/2014/main" id="{AE72B19A-BAEF-7DAE-DDC1-54394DA86691}"/>
              </a:ext>
            </a:extLst>
          </p:cNvPr>
          <p:cNvSpPr>
            <a:spLocks noGrp="1"/>
          </p:cNvSpPr>
          <p:nvPr>
            <p:ph idx="1"/>
          </p:nvPr>
        </p:nvSpPr>
        <p:spPr>
          <a:xfrm>
            <a:off x="457199" y="1600200"/>
            <a:ext cx="11409363" cy="4525963"/>
          </a:xfrm>
        </p:spPr>
        <p:txBody>
          <a:bodyPr/>
          <a:lstStyle/>
          <a:p>
            <a:pPr marL="342900" indent="-342900">
              <a:buFont typeface="Arial" panose="020B0604020202020204" pitchFamily="34" charset="0"/>
              <a:buChar char="•"/>
            </a:pPr>
            <a:r>
              <a:rPr lang="en-GB" dirty="0"/>
              <a:t>The RCDS team has curated a collection of annotated </a:t>
            </a:r>
            <a:r>
              <a:rPr lang="en-GB" dirty="0">
                <a:hlinkClick r:id="rId3"/>
              </a:rPr>
              <a:t>exemplar projects</a:t>
            </a:r>
            <a:r>
              <a:rPr lang="en-GB" dirty="0"/>
              <a:t> known as </a:t>
            </a:r>
            <a:r>
              <a:rPr lang="en-GB" dirty="0" err="1">
                <a:hlinkClick r:id="rId4"/>
              </a:rPr>
              <a:t>ReCoDE</a:t>
            </a:r>
            <a:endParaRPr lang="en-GB" dirty="0"/>
          </a:p>
          <a:p>
            <a:pPr marL="342900" indent="-342900">
              <a:buFont typeface="Arial" panose="020B0604020202020204" pitchFamily="34" charset="0"/>
              <a:buChar char="•"/>
            </a:pPr>
            <a:r>
              <a:rPr lang="en-GB" dirty="0"/>
              <a:t>These demonstrate core research computing and data science principles applied to real problems</a:t>
            </a:r>
          </a:p>
          <a:p>
            <a:pPr marL="342900" indent="-342900">
              <a:buFont typeface="Arial" panose="020B0604020202020204" pitchFamily="34" charset="0"/>
              <a:buChar char="•"/>
            </a:pPr>
            <a:r>
              <a:rPr lang="en-GB" dirty="0"/>
              <a:t>Accompanied by detailed descriptions of how they work, and the design decisions taken.</a:t>
            </a:r>
          </a:p>
          <a:p>
            <a:pPr marL="342900" lvl="1" indent="-342900">
              <a:buFont typeface="Arial" panose="020B0604020202020204" pitchFamily="34" charset="0"/>
              <a:buChar char="•"/>
            </a:pPr>
            <a:r>
              <a:rPr lang="en-GB" dirty="0"/>
              <a:t>Fortran exemplars:</a:t>
            </a:r>
          </a:p>
          <a:p>
            <a:pPr marL="504891" lvl="2" indent="-342900"/>
            <a:r>
              <a:rPr lang="en-US" dirty="0">
                <a:hlinkClick r:id="rId5"/>
              </a:rPr>
              <a:t>Turing Patterns and Partial Differential Equations</a:t>
            </a:r>
            <a:endParaRPr lang="en-US" dirty="0"/>
          </a:p>
          <a:p>
            <a:pPr marL="666884" lvl="3" indent="-342900"/>
            <a:r>
              <a:rPr lang="en-US" dirty="0"/>
              <a:t>Solving PDEs and ODEs</a:t>
            </a:r>
          </a:p>
          <a:p>
            <a:pPr marL="666884" lvl="3" indent="-342900"/>
            <a:r>
              <a:rPr lang="en-US" dirty="0"/>
              <a:t>Fortran Package Manager</a:t>
            </a:r>
          </a:p>
          <a:p>
            <a:pPr marL="666884" lvl="3" indent="-342900"/>
            <a:r>
              <a:rPr lang="en-US" dirty="0"/>
              <a:t>LAPACK and BLAS</a:t>
            </a:r>
          </a:p>
          <a:p>
            <a:pPr marL="666884" lvl="3" indent="-342900"/>
            <a:r>
              <a:rPr lang="en-US" dirty="0"/>
              <a:t>Unit-testing</a:t>
            </a:r>
          </a:p>
          <a:p>
            <a:pPr marL="504891" lvl="2" indent="-342900"/>
            <a:r>
              <a:rPr lang="en-GB" dirty="0">
                <a:hlinkClick r:id="rId6"/>
              </a:rPr>
              <a:t>Neutron Diffusion</a:t>
            </a:r>
            <a:endParaRPr lang="en-GB" dirty="0"/>
          </a:p>
          <a:p>
            <a:pPr marL="666884" lvl="3" indent="-342900"/>
            <a:r>
              <a:rPr lang="en-GB" dirty="0"/>
              <a:t>Solving matrix equations</a:t>
            </a:r>
          </a:p>
          <a:p>
            <a:pPr marL="666884" lvl="3" indent="-342900"/>
            <a:r>
              <a:rPr lang="en-GB" dirty="0"/>
              <a:t>Object-Oriented Programming</a:t>
            </a:r>
          </a:p>
          <a:p>
            <a:pPr marL="666884" lvl="3" indent="-342900"/>
            <a:r>
              <a:rPr lang="en-GB" dirty="0" err="1"/>
              <a:t>PETSc</a:t>
            </a:r>
            <a:endParaRPr lang="en-GB" dirty="0"/>
          </a:p>
          <a:p>
            <a:pPr marL="666884" lvl="3" indent="-342900"/>
            <a:r>
              <a:rPr lang="en-GB" dirty="0" err="1"/>
              <a:t>CMake</a:t>
            </a:r>
            <a:endParaRPr lang="en-GB" dirty="0"/>
          </a:p>
        </p:txBody>
      </p:sp>
    </p:spTree>
    <p:extLst>
      <p:ext uri="{BB962C8B-B14F-4D97-AF65-F5344CB8AC3E}">
        <p14:creationId xmlns:p14="http://schemas.microsoft.com/office/powerpoint/2010/main" val="428859421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9A737-0B87-8D06-30BC-159A01E55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AE690-3DB5-C8AC-A9B4-2E152B27C705}"/>
              </a:ext>
            </a:extLst>
          </p:cNvPr>
          <p:cNvSpPr>
            <a:spLocks noGrp="1"/>
          </p:cNvSpPr>
          <p:nvPr>
            <p:ph type="title"/>
          </p:nvPr>
        </p:nvSpPr>
        <p:spPr/>
        <p:txBody>
          <a:bodyPr/>
          <a:lstStyle/>
          <a:p>
            <a:r>
              <a:rPr lang="en-GB" dirty="0"/>
              <a:t>Please take 3 minutes to complete the evaluation</a:t>
            </a:r>
            <a:endParaRPr lang="en-US" dirty="0"/>
          </a:p>
        </p:txBody>
      </p:sp>
      <p:sp>
        <p:nvSpPr>
          <p:cNvPr id="7" name="Date Placeholder 6">
            <a:extLst>
              <a:ext uri="{FF2B5EF4-FFF2-40B4-BE49-F238E27FC236}">
                <a16:creationId xmlns:a16="http://schemas.microsoft.com/office/drawing/2014/main" id="{8864DF49-9A4D-5154-542F-8028013658AA}"/>
              </a:ext>
            </a:extLst>
          </p:cNvPr>
          <p:cNvSpPr>
            <a:spLocks noGrp="1"/>
          </p:cNvSpPr>
          <p:nvPr>
            <p:ph type="dt" sz="half" idx="10"/>
          </p:nvPr>
        </p:nvSpPr>
        <p:spPr/>
        <p:txBody>
          <a:bodyPr/>
          <a:lstStyle/>
          <a:p>
            <a:fld id="{63896447-BAB6-4DC5-9580-7E3F4D046868}" type="datetime1">
              <a:rPr lang="en-GB" smtClean="0"/>
              <a:t>09/10/2026</a:t>
            </a:fld>
            <a:endParaRPr lang="en-GB"/>
          </a:p>
        </p:txBody>
      </p:sp>
      <p:sp>
        <p:nvSpPr>
          <p:cNvPr id="8" name="Footer Placeholder 7">
            <a:extLst>
              <a:ext uri="{FF2B5EF4-FFF2-40B4-BE49-F238E27FC236}">
                <a16:creationId xmlns:a16="http://schemas.microsoft.com/office/drawing/2014/main" id="{34B811AD-8D42-0DE4-1E96-E0C6A5A1118B}"/>
              </a:ext>
            </a:extLst>
          </p:cNvPr>
          <p:cNvSpPr>
            <a:spLocks noGrp="1"/>
          </p:cNvSpPr>
          <p:nvPr>
            <p:ph type="ftr" sz="quarter" idx="11"/>
          </p:nvPr>
        </p:nvSpPr>
        <p:spPr/>
        <p:txBody>
          <a:bodyPr/>
          <a:lstStyle/>
          <a:p>
            <a:r>
              <a:rPr lang="en-GB"/>
              <a:t>Introduction to Fortran</a:t>
            </a:r>
            <a:endParaRPr lang="en-GB" dirty="0"/>
          </a:p>
        </p:txBody>
      </p:sp>
      <p:sp>
        <p:nvSpPr>
          <p:cNvPr id="9" name="Slide Number Placeholder 8">
            <a:extLst>
              <a:ext uri="{FF2B5EF4-FFF2-40B4-BE49-F238E27FC236}">
                <a16:creationId xmlns:a16="http://schemas.microsoft.com/office/drawing/2014/main" id="{291DDFA7-DE3D-8D77-CFD3-B19A6CF5B92F}"/>
              </a:ext>
            </a:extLst>
          </p:cNvPr>
          <p:cNvSpPr>
            <a:spLocks noGrp="1"/>
          </p:cNvSpPr>
          <p:nvPr>
            <p:ph type="sldNum" sz="quarter" idx="12"/>
          </p:nvPr>
        </p:nvSpPr>
        <p:spPr/>
        <p:txBody>
          <a:bodyPr/>
          <a:lstStyle/>
          <a:p>
            <a:fld id="{CBA53E11-492D-48B3-9F9B-09541CA2A39A}" type="slidenum">
              <a:rPr lang="en-GB" smtClean="0"/>
              <a:pPr/>
              <a:t>49</a:t>
            </a:fld>
            <a:endParaRPr lang="en-GB"/>
          </a:p>
        </p:txBody>
      </p:sp>
      <p:sp>
        <p:nvSpPr>
          <p:cNvPr id="3" name="Content Placeholder 2">
            <a:extLst>
              <a:ext uri="{FF2B5EF4-FFF2-40B4-BE49-F238E27FC236}">
                <a16:creationId xmlns:a16="http://schemas.microsoft.com/office/drawing/2014/main" id="{20C7DBC8-6B4B-6860-9339-77D08AD9EA11}"/>
              </a:ext>
            </a:extLst>
          </p:cNvPr>
          <p:cNvSpPr>
            <a:spLocks noGrp="1"/>
          </p:cNvSpPr>
          <p:nvPr>
            <p:ph idx="1"/>
          </p:nvPr>
        </p:nvSpPr>
        <p:spPr/>
        <p:txBody>
          <a:bodyPr/>
          <a:lstStyle/>
          <a:p>
            <a:r>
              <a:rPr lang="en-GB" dirty="0"/>
              <a:t>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6" name="Content Placeholder 5">
            <a:extLst>
              <a:ext uri="{FF2B5EF4-FFF2-40B4-BE49-F238E27FC236}">
                <a16:creationId xmlns:a16="http://schemas.microsoft.com/office/drawing/2014/main" id="{F67B57BE-29B8-B7BA-15CB-930F83F6EB26}"/>
              </a:ext>
            </a:extLst>
          </p:cNvPr>
          <p:cNvSpPr>
            <a:spLocks noGrp="1"/>
          </p:cNvSpPr>
          <p:nvPr>
            <p:ph idx="15"/>
          </p:nvPr>
        </p:nvSpPr>
        <p:spPr>
          <a:xfrm>
            <a:off x="5768248" y="1509025"/>
            <a:ext cx="5489924" cy="4142267"/>
          </a:xfrm>
        </p:spPr>
        <p:txBody>
          <a:bodyPr/>
          <a:lstStyle/>
          <a:p>
            <a:pPr marL="457200" indent="-457200">
              <a:buFont typeface="Arial" panose="020B0604020202020204" pitchFamily="34" charset="0"/>
              <a:buChar char="•"/>
            </a:pPr>
            <a:r>
              <a:rPr lang="en-GB" sz="2800" dirty="0"/>
              <a:t>Once you’ve completed this course, please provide feedback</a:t>
            </a:r>
          </a:p>
          <a:p>
            <a:pPr marL="457200" lvl="1" indent="-457200">
              <a:buFont typeface="Arial" panose="020B0604020202020204" pitchFamily="34" charset="0"/>
              <a:buChar char="•"/>
            </a:pPr>
            <a:r>
              <a:rPr lang="en-GB" sz="2800" dirty="0"/>
              <a:t>The link is </a:t>
            </a:r>
            <a:r>
              <a:rPr lang="en-GB" sz="2800" dirty="0">
                <a:hlinkClick r:id="rId3"/>
              </a:rPr>
              <a:t>https://ecri.short.gy/</a:t>
            </a:r>
            <a:r>
              <a:rPr lang="en-GB" sz="2800">
                <a:hlinkClick r:id="rId3"/>
              </a:rPr>
              <a:t>feedback-fortran-intro</a:t>
            </a:r>
            <a:r>
              <a:rPr lang="en-GB" sz="2800"/>
              <a:t> </a:t>
            </a:r>
          </a:p>
          <a:p>
            <a:pPr marL="457200" lvl="1" indent="-457200">
              <a:buFont typeface="Arial" panose="020B0604020202020204" pitchFamily="34" charset="0"/>
              <a:buChar char="•"/>
            </a:pPr>
            <a:r>
              <a:rPr lang="en-GB" sz="2800"/>
              <a:t>You </a:t>
            </a:r>
            <a:r>
              <a:rPr lang="en-GB" sz="2800" dirty="0"/>
              <a:t>should also have received an email with this link</a:t>
            </a:r>
          </a:p>
          <a:p>
            <a:pPr marL="457200" lvl="1" indent="-457200">
              <a:buFont typeface="Arial" panose="020B0604020202020204" pitchFamily="34" charset="0"/>
              <a:buChar char="•"/>
            </a:pPr>
            <a:r>
              <a:rPr lang="en-GB" sz="2800" dirty="0"/>
              <a:t>This helps us improve the class for future students</a:t>
            </a:r>
          </a:p>
          <a:p>
            <a:endParaRPr lang="en-US" dirty="0"/>
          </a:p>
        </p:txBody>
      </p:sp>
      <p:pic>
        <p:nvPicPr>
          <p:cNvPr id="5" name="Picture 4">
            <a:extLst>
              <a:ext uri="{FF2B5EF4-FFF2-40B4-BE49-F238E27FC236}">
                <a16:creationId xmlns:a16="http://schemas.microsoft.com/office/drawing/2014/main" id="{2C2BBD9F-54B5-D899-83F0-132D22E62B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233" y="1218109"/>
            <a:ext cx="4866480" cy="4866480"/>
          </a:xfrm>
          <a:prstGeom prst="rect">
            <a:avLst/>
          </a:prstGeom>
        </p:spPr>
      </p:pic>
    </p:spTree>
    <p:extLst>
      <p:ext uri="{BB962C8B-B14F-4D97-AF65-F5344CB8AC3E}">
        <p14:creationId xmlns:p14="http://schemas.microsoft.com/office/powerpoint/2010/main" val="150719007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92A0-DAFD-2CE4-F5BD-315A0135CDD6}"/>
              </a:ext>
            </a:extLst>
          </p:cNvPr>
          <p:cNvSpPr>
            <a:spLocks noGrp="1"/>
          </p:cNvSpPr>
          <p:nvPr>
            <p:ph type="ctrTitle"/>
          </p:nvPr>
        </p:nvSpPr>
        <p:spPr>
          <a:xfrm>
            <a:off x="317500" y="3338513"/>
            <a:ext cx="9144000" cy="1828800"/>
          </a:xfrm>
        </p:spPr>
        <p:txBody>
          <a:bodyPr/>
          <a:lstStyle/>
          <a:p>
            <a:r>
              <a:rPr lang="en-US" dirty="0">
                <a:solidFill>
                  <a:srgbClr val="98FB98"/>
                </a:solidFill>
              </a:rPr>
              <a:t>Thank you</a:t>
            </a:r>
          </a:p>
        </p:txBody>
      </p:sp>
      <p:sp>
        <p:nvSpPr>
          <p:cNvPr id="3" name="Text Placeholder 2">
            <a:extLst>
              <a:ext uri="{FF2B5EF4-FFF2-40B4-BE49-F238E27FC236}">
                <a16:creationId xmlns:a16="http://schemas.microsoft.com/office/drawing/2014/main" id="{0B6972F5-B010-8428-D0AA-F619C83E71DE}"/>
              </a:ext>
            </a:extLst>
          </p:cNvPr>
          <p:cNvSpPr>
            <a:spLocks noGrp="1"/>
          </p:cNvSpPr>
          <p:nvPr>
            <p:ph type="body" sz="quarter" idx="4294967295"/>
          </p:nvPr>
        </p:nvSpPr>
        <p:spPr>
          <a:xfrm>
            <a:off x="330200" y="5878513"/>
            <a:ext cx="5606257" cy="652463"/>
          </a:xfrm>
        </p:spPr>
        <p:txBody>
          <a:bodyPr/>
          <a:lstStyle/>
          <a:p>
            <a:r>
              <a:rPr lang="en-US" dirty="0"/>
              <a:t>Presentation Title</a:t>
            </a:r>
          </a:p>
          <a:p>
            <a:r>
              <a:rPr lang="en-US" dirty="0"/>
              <a:t>DD/MM/YYYY</a:t>
            </a:r>
          </a:p>
        </p:txBody>
      </p:sp>
    </p:spTree>
    <p:extLst>
      <p:ext uri="{BB962C8B-B14F-4D97-AF65-F5344CB8AC3E}">
        <p14:creationId xmlns:p14="http://schemas.microsoft.com/office/powerpoint/2010/main" val="2287451629"/>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College Standard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Arial_ICL_PowerPoint 16_9 template.potx" id="{0A6366DA-4143-4819-954D-649CAC6891CC}" vid="{00E466E9-FA83-448D-94BE-48FEA435C0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ICL PPT Theme</Template>
  <TotalTime>3592</TotalTime>
  <Words>11906</Words>
  <Application>Microsoft Office PowerPoint</Application>
  <PresentationFormat>Widescreen</PresentationFormat>
  <Paragraphs>1023</Paragraphs>
  <Slides>50</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Calibri</vt:lpstr>
      <vt:lpstr>Times New Roman</vt:lpstr>
      <vt:lpstr>Arial</vt:lpstr>
      <vt:lpstr>ICL PPT Theme</vt:lpstr>
      <vt:lpstr>Introduction to Fortran</vt:lpstr>
      <vt:lpstr>Important Information on Marking your Attendance on Inkpath</vt:lpstr>
      <vt:lpstr>Learning Outcomes</vt:lpstr>
      <vt:lpstr>What is Coding?</vt:lpstr>
      <vt:lpstr>How Do We Code?</vt:lpstr>
      <vt:lpstr>What is Fortran?</vt:lpstr>
      <vt:lpstr>The Compiler</vt:lpstr>
      <vt:lpstr>The Compiler</vt:lpstr>
      <vt:lpstr>Compilers</vt:lpstr>
      <vt:lpstr>Compilation Example</vt:lpstr>
      <vt:lpstr>Compiler Flags</vt:lpstr>
      <vt:lpstr>My First Program</vt:lpstr>
      <vt:lpstr>Variables</vt:lpstr>
      <vt:lpstr>Variables</vt:lpstr>
      <vt:lpstr>Variable Naming Rules</vt:lpstr>
      <vt:lpstr>Assignment</vt:lpstr>
      <vt:lpstr>Mathematical Operators</vt:lpstr>
      <vt:lpstr>Order of Operations</vt:lpstr>
      <vt:lpstr>Mathematical Operators II</vt:lpstr>
      <vt:lpstr>Arrays</vt:lpstr>
      <vt:lpstr>Arrays</vt:lpstr>
      <vt:lpstr>Multi-Dimensional Arrays</vt:lpstr>
      <vt:lpstr>Array Operators</vt:lpstr>
      <vt:lpstr>Allocatable Arrays</vt:lpstr>
      <vt:lpstr>Logicals</vt:lpstr>
      <vt:lpstr>Boolean Operators</vt:lpstr>
      <vt:lpstr>Comparison Operators</vt:lpstr>
      <vt:lpstr>Precision and Comparison</vt:lpstr>
      <vt:lpstr>Conditionals</vt:lpstr>
      <vt:lpstr>If, else if, else</vt:lpstr>
      <vt:lpstr>Loops</vt:lpstr>
      <vt:lpstr>Do Loops</vt:lpstr>
      <vt:lpstr>Do While</vt:lpstr>
      <vt:lpstr>Functions and Subroutines</vt:lpstr>
      <vt:lpstr>Subroutines</vt:lpstr>
      <vt:lpstr>Subroutines - Definition</vt:lpstr>
      <vt:lpstr>Subroutines - Calling</vt:lpstr>
      <vt:lpstr>Functions</vt:lpstr>
      <vt:lpstr>Functions - Definition</vt:lpstr>
      <vt:lpstr>Functions - Calling</vt:lpstr>
      <vt:lpstr>Extension: Functions – Recursion</vt:lpstr>
      <vt:lpstr>Deferred Size Arguments</vt:lpstr>
      <vt:lpstr>Modules - Definition</vt:lpstr>
      <vt:lpstr>Modules - Usage</vt:lpstr>
      <vt:lpstr>Modules - Dependency</vt:lpstr>
      <vt:lpstr>Errors in Fortran</vt:lpstr>
      <vt:lpstr>Gotchas</vt:lpstr>
      <vt:lpstr>ReCoDE</vt:lpstr>
      <vt:lpstr>Please take 3 minutes to complete the evaluation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 xxxxx</dc:title>
  <dc:creator>Carly Murphy-Merrydew</dc:creator>
  <cp:lastModifiedBy>Cooling, Chris</cp:lastModifiedBy>
  <cp:revision>15</cp:revision>
  <dcterms:created xsi:type="dcterms:W3CDTF">2024-09-12T08:44:53Z</dcterms:created>
  <dcterms:modified xsi:type="dcterms:W3CDTF">2026-10-09T09:19:04Z</dcterms:modified>
</cp:coreProperties>
</file>